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 id="2147483663" r:id="rId2"/>
  </p:sldMasterIdLst>
  <p:notesMasterIdLst>
    <p:notesMasterId r:id="rId5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5" r:id="rId51"/>
    <p:sldId id="321" r:id="rId52"/>
    <p:sldId id="322" r:id="rId53"/>
    <p:sldId id="323" r:id="rId54"/>
    <p:sldId id="324" r:id="rId5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116" d="100"/>
          <a:sy n="116" d="100"/>
        </p:scale>
        <p:origin x="67"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developer.android.com/studio"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eveloper.android.com/guide/topics/manifest/uses-sdk-element#ApiLevels"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eveloper.android.com/guide/topics/manifest/uses-sdk-element#ApiLevels"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medium.com/androiddevelopers/picking-your-compilesdkversion-minsdkversion-targetsdkversion-a098a0341ebd"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eveloper.android.com/studio/intro"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developer.android.com/studio/projects#ProjectFiles"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developer.android.com/reference/android/widget/TextView" TargetMode="External"/><Relationship Id="rId2" Type="http://schemas.openxmlformats.org/officeDocument/2006/relationships/slide" Target="../slides/slide18.xml"/><Relationship Id="rId1" Type="http://schemas.openxmlformats.org/officeDocument/2006/relationships/notesMaster" Target="../notesMasters/notesMaster1.xml"/><Relationship Id="rId5" Type="http://schemas.openxmlformats.org/officeDocument/2006/relationships/hyperlink" Target="https://developer.android.com/reference/android/widget/Button" TargetMode="External"/><Relationship Id="rId4" Type="http://schemas.openxmlformats.org/officeDocument/2006/relationships/hyperlink" Target="https://developer.android.com/reference/android/widget/ImageView" TargetMode="Externa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developer.android.com/studio/write/layout-editor"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developer.android.com/guide/components/activities/intro-activities"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developer.android.com/guide/components/activities/intro-activities#oncreate"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developer.android.com/reference/android/app/Activity#setContentView(int)"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developer.android.com/reference/android/view/View.OnClickListener"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developer.android.com/reference/android/view/View.OnClickListener"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kotlinlang.org/docs/reference/java-interop.html#sam-conversions"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kotlinlang.org/docs/reference/properties.html#late-initialized-properties-and-variables"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b87ea636ca_0_5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b87ea636ca_0_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b87ea636ca_0_5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b87ea636ca_0_5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b87ea636ca_0_5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b87ea636ca_0_5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This is Android Studio - the official integrated development environment (IDE) for Android development. It’s built on IntelliJ IDEA and it has lots of features to make it faster and easier to develop Android apps.</a:t>
            </a:r>
            <a:endParaRPr/>
          </a:p>
          <a:p>
            <a:pPr marL="0" lvl="0" indent="0" algn="l" rtl="0">
              <a:spcBef>
                <a:spcPts val="0"/>
              </a:spcBef>
              <a:spcAft>
                <a:spcPts val="0"/>
              </a:spcAft>
              <a:buNone/>
            </a:pPr>
            <a:r>
              <a:rPr lang="en"/>
              <a:t>I</a:t>
            </a:r>
            <a:r>
              <a:rPr lang="en">
                <a:solidFill>
                  <a:schemeClr val="dk1"/>
                </a:solidFill>
              </a:rPr>
              <a:t>nstallation instructions </a:t>
            </a:r>
            <a:r>
              <a:rPr lang="en"/>
              <a:t>and a </a:t>
            </a:r>
            <a:r>
              <a:rPr lang="en">
                <a:solidFill>
                  <a:schemeClr val="dk1"/>
                </a:solidFill>
              </a:rPr>
              <a:t>formal walkthrough </a:t>
            </a:r>
            <a:r>
              <a:rPr lang="en"/>
              <a:t>will be in the labs. This lecture will focus more on high-level concepts.</a:t>
            </a:r>
            <a:endParaRPr/>
          </a:p>
          <a:p>
            <a:pPr marL="0" lvl="0" indent="0" algn="l" rtl="0">
              <a:spcBef>
                <a:spcPts val="0"/>
              </a:spcBef>
              <a:spcAft>
                <a:spcPts val="0"/>
              </a:spcAft>
              <a:buNone/>
            </a:pPr>
            <a:endParaRPr/>
          </a:p>
          <a:p>
            <a:pPr marL="0" lvl="0" indent="0" algn="l" rtl="0">
              <a:spcBef>
                <a:spcPts val="0"/>
              </a:spcBef>
              <a:spcAft>
                <a:spcPts val="0"/>
              </a:spcAft>
              <a:buNone/>
            </a:pPr>
            <a:r>
              <a:rPr lang="en" b="1"/>
              <a:t>Resource:</a:t>
            </a:r>
            <a:endParaRPr b="1"/>
          </a:p>
          <a:p>
            <a:pPr marL="457200" lvl="0" indent="-298450" algn="l" rtl="0">
              <a:spcBef>
                <a:spcPts val="0"/>
              </a:spcBef>
              <a:spcAft>
                <a:spcPts val="0"/>
              </a:spcAft>
              <a:buSzPts val="1100"/>
              <a:buChar char="●"/>
            </a:pPr>
            <a:r>
              <a:rPr lang="en" u="sng">
                <a:solidFill>
                  <a:schemeClr val="hlink"/>
                </a:solidFill>
                <a:hlinkClick r:id="rId3"/>
              </a:rPr>
              <a:t>Download Android Studio and SDK tools</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b87ea636ca_0_5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b87ea636ca_0_5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b87ea636ca_0_5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b87ea636ca_0_5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When you open Android Studio, the </a:t>
            </a:r>
            <a:r>
              <a:rPr lang="en" b="1"/>
              <a:t>Welcome to Android Studio</a:t>
            </a:r>
            <a:r>
              <a:rPr lang="en"/>
              <a:t> dialog displays.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b87ea636ca_0_5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b87ea636ca_0_5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There are lots of templates here that contain starter projects to help you build different kinds of apps. We'll select the </a:t>
            </a:r>
            <a:r>
              <a:rPr lang="en" b="1"/>
              <a:t>Empty Activity</a:t>
            </a:r>
            <a:r>
              <a:rPr lang="en"/>
              <a:t> template to give us a simple working app.</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b87ea636ca_0_5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b87ea636ca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b="1"/>
              <a:t>Name</a:t>
            </a:r>
            <a:r>
              <a:rPr lang="en"/>
              <a:t> - Enter a name for your application.</a:t>
            </a:r>
            <a:endParaRPr/>
          </a:p>
          <a:p>
            <a:pPr marL="457200" lvl="0" indent="-298450" algn="l" rtl="0">
              <a:spcBef>
                <a:spcPts val="0"/>
              </a:spcBef>
              <a:spcAft>
                <a:spcPts val="0"/>
              </a:spcAft>
              <a:buSzPts val="1100"/>
              <a:buChar char="●"/>
            </a:pPr>
            <a:r>
              <a:rPr lang="en" b="1"/>
              <a:t>Package name</a:t>
            </a:r>
            <a:r>
              <a:rPr lang="en"/>
              <a:t> - A globally unique name that represents your app, similar to a web address. This often is the company web domain (defaults to </a:t>
            </a:r>
            <a:r>
              <a:rPr lang="en">
                <a:solidFill>
                  <a:schemeClr val="dk1"/>
                </a:solidFill>
                <a:latin typeface="Courier New"/>
                <a:ea typeface="Courier New"/>
                <a:cs typeface="Courier New"/>
                <a:sym typeface="Courier New"/>
              </a:rPr>
              <a:t>android.example.com</a:t>
            </a:r>
            <a:r>
              <a:rPr lang="en">
                <a:solidFill>
                  <a:schemeClr val="dk1"/>
                </a:solidFill>
                <a:latin typeface="Roboto"/>
                <a:ea typeface="Roboto"/>
                <a:cs typeface="Roboto"/>
                <a:sym typeface="Roboto"/>
              </a:rPr>
              <a:t>) </a:t>
            </a:r>
            <a:r>
              <a:rPr lang="en"/>
              <a:t>plus the name of the app. If you are not planning to publish your app, you can use the default. You can change this later, but it's extra work.  This will also be the default Java and Kotlin package for your source code.</a:t>
            </a:r>
            <a:endParaRPr/>
          </a:p>
          <a:p>
            <a:pPr marL="457200" lvl="0" indent="-298450" algn="l" rtl="0">
              <a:spcBef>
                <a:spcPts val="0"/>
              </a:spcBef>
              <a:spcAft>
                <a:spcPts val="0"/>
              </a:spcAft>
              <a:buSzPts val="1100"/>
              <a:buChar char="●"/>
            </a:pPr>
            <a:r>
              <a:rPr lang="en" b="1"/>
              <a:t>Save location</a:t>
            </a:r>
            <a:r>
              <a:rPr lang="en"/>
              <a:t> - This is where your app is stored on your computer. </a:t>
            </a:r>
            <a:endParaRPr/>
          </a:p>
          <a:p>
            <a:pPr marL="457200" lvl="0" indent="-298450" algn="l" rtl="0">
              <a:spcBef>
                <a:spcPts val="0"/>
              </a:spcBef>
              <a:spcAft>
                <a:spcPts val="0"/>
              </a:spcAft>
              <a:buSzPts val="1100"/>
              <a:buChar char="●"/>
            </a:pPr>
            <a:r>
              <a:rPr lang="en" b="1"/>
              <a:t>Language</a:t>
            </a:r>
            <a:r>
              <a:rPr lang="en"/>
              <a:t> - Kotlin and the Java programming language are both supported.  For this lesson, select Kotlin.  You can mix Kotlin and Java in different source files in the same project as needed.</a:t>
            </a:r>
            <a:endParaRPr/>
          </a:p>
          <a:p>
            <a:pPr marL="457200" lvl="0" indent="-298450" algn="l" rtl="0">
              <a:spcBef>
                <a:spcPts val="0"/>
              </a:spcBef>
              <a:spcAft>
                <a:spcPts val="0"/>
              </a:spcAft>
              <a:buSzPts val="1100"/>
              <a:buChar char="●"/>
            </a:pPr>
            <a:r>
              <a:rPr lang="en" b="1"/>
              <a:t>Minimum SDK</a:t>
            </a:r>
            <a:r>
              <a:rPr lang="en"/>
              <a:t> - For this project, make sure the Minimum SDK is API 19: Android 4.4 (KitKat). (Click </a:t>
            </a:r>
            <a:r>
              <a:rPr lang="en" b="1"/>
              <a:t>Help me</a:t>
            </a:r>
            <a:r>
              <a:rPr lang="en"/>
              <a:t> choose, to see information about API levels.)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b87ea636ca_0_5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b87ea636ca_0_5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highlight>
                  <a:srgbClr val="FFFFFF"/>
                </a:highlight>
              </a:rPr>
              <a:t>Android devices may be running different versions of Android</a:t>
            </a:r>
            <a:r>
              <a:rPr lang="en"/>
              <a:t>. </a:t>
            </a:r>
            <a:r>
              <a:rPr lang="en">
                <a:solidFill>
                  <a:schemeClr val="dk1"/>
                </a:solidFill>
              </a:rPr>
              <a:t>Each Android release has a:</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Platform Version</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API level (for developers)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Version Code —- letters with sweet treats - still occasionally used when talking about Android</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As new versions of Android are released, developers need to stay up-to-date with the latest best practices to ensure their apps deliver the best experience on as many devices as possible. To find out about the latest versions, their API levels, and the devices they support, check </a:t>
            </a:r>
            <a:r>
              <a:rPr lang="en" u="sng">
                <a:solidFill>
                  <a:srgbClr val="1155CC"/>
                </a:solidFill>
                <a:hlinkClick r:id="rId3">
                  <a:extLst>
                    <a:ext uri="{A12FA001-AC4F-418D-AE19-62706E023703}">
                      <ahyp:hlinkClr xmlns:ahyp="http://schemas.microsoft.com/office/drawing/2018/hyperlinkcolor" val="tx"/>
                    </a:ext>
                  </a:extLst>
                </a:hlinkClick>
              </a:rPr>
              <a:t>What is API Level?</a:t>
            </a:r>
            <a:endParaRPr>
              <a:solidFill>
                <a:srgbClr val="1155CC"/>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b87ea636ca_0_5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b87ea636ca_0_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When you create an Android project, you'll need to define three API levels: </a:t>
            </a:r>
            <a:endParaRPr/>
          </a:p>
          <a:p>
            <a:pPr marL="457200" lvl="0" indent="-298450" algn="l" rtl="0">
              <a:spcBef>
                <a:spcPts val="0"/>
              </a:spcBef>
              <a:spcAft>
                <a:spcPts val="0"/>
              </a:spcAft>
              <a:buSzPts val="1100"/>
              <a:buChar char="●"/>
            </a:pPr>
            <a:r>
              <a:rPr lang="en"/>
              <a:t>The minimum required for a user to install your app </a:t>
            </a:r>
            <a:endParaRPr/>
          </a:p>
          <a:p>
            <a:pPr marL="457200" lvl="0" indent="-298450" algn="l" rtl="0">
              <a:spcBef>
                <a:spcPts val="0"/>
              </a:spcBef>
              <a:spcAft>
                <a:spcPts val="0"/>
              </a:spcAft>
              <a:buSzPts val="1100"/>
              <a:buChar char="●"/>
            </a:pPr>
            <a:r>
              <a:rPr lang="en"/>
              <a:t>The user version you are targeting</a:t>
            </a:r>
            <a:endParaRPr/>
          </a:p>
          <a:p>
            <a:pPr marL="457200" lvl="0" indent="-298450" algn="l" rtl="0">
              <a:spcBef>
                <a:spcPts val="0"/>
              </a:spcBef>
              <a:spcAft>
                <a:spcPts val="0"/>
              </a:spcAft>
              <a:buSzPts val="1100"/>
              <a:buChar char="●"/>
            </a:pPr>
            <a:r>
              <a:rPr lang="en"/>
              <a:t>The version to use to compile your app </a:t>
            </a:r>
            <a:endParaRPr/>
          </a:p>
          <a:p>
            <a:pPr marL="0" lvl="0" indent="0" algn="l" rtl="0">
              <a:spcBef>
                <a:spcPts val="0"/>
              </a:spcBef>
              <a:spcAft>
                <a:spcPts val="0"/>
              </a:spcAft>
              <a:buNone/>
            </a:pPr>
            <a:endParaRPr/>
          </a:p>
          <a:p>
            <a:pPr marL="0" lvl="0" indent="0" algn="l" rtl="0">
              <a:spcBef>
                <a:spcPts val="0"/>
              </a:spcBef>
              <a:spcAft>
                <a:spcPts val="0"/>
              </a:spcAft>
              <a:buNone/>
            </a:pPr>
            <a:r>
              <a:rPr lang="en"/>
              <a:t>Note that the minimum SDK version has to be less than or equal to the target SDK version, which has to be less than or equal to the compile SDK version. </a:t>
            </a:r>
            <a:endParaRPr/>
          </a:p>
          <a:p>
            <a:pPr marL="0" lvl="0" indent="0" algn="l" rtl="0">
              <a:spcBef>
                <a:spcPts val="0"/>
              </a:spcBef>
              <a:spcAft>
                <a:spcPts val="0"/>
              </a:spcAft>
              <a:buNone/>
            </a:pPr>
            <a:endParaRPr/>
          </a:p>
          <a:p>
            <a:pPr marL="0" lvl="0" indent="0" algn="l" rtl="0">
              <a:spcBef>
                <a:spcPts val="0"/>
              </a:spcBef>
              <a:spcAft>
                <a:spcPts val="0"/>
              </a:spcAft>
              <a:buNone/>
            </a:pPr>
            <a:r>
              <a:rPr lang="en"/>
              <a:t>As new releases of Android come out, it is good practice to compile and test your app against the latest version of the platform, and increment the </a:t>
            </a:r>
            <a:r>
              <a:rPr lang="en">
                <a:latin typeface="Courier New"/>
                <a:ea typeface="Courier New"/>
                <a:cs typeface="Courier New"/>
                <a:sym typeface="Courier New"/>
              </a:rPr>
              <a:t>compileSdk</a:t>
            </a:r>
            <a:r>
              <a:rPr lang="en"/>
              <a:t> and </a:t>
            </a:r>
            <a:r>
              <a:rPr lang="en">
                <a:latin typeface="Courier New"/>
                <a:ea typeface="Courier New"/>
                <a:cs typeface="Courier New"/>
                <a:sym typeface="Courier New"/>
              </a:rPr>
              <a:t>targetSdk</a:t>
            </a:r>
            <a:r>
              <a:rPr lang="en"/>
              <a:t> levels.</a:t>
            </a:r>
            <a:endParaRPr/>
          </a:p>
          <a:p>
            <a:pPr marL="0" lvl="0" indent="0" algn="l" rtl="0">
              <a:spcBef>
                <a:spcPts val="0"/>
              </a:spcBef>
              <a:spcAft>
                <a:spcPts val="0"/>
              </a:spcAft>
              <a:buNone/>
            </a:pPr>
            <a:endParaRPr/>
          </a:p>
          <a:p>
            <a:pPr marL="0" lvl="0" indent="0" algn="l" rtl="0">
              <a:spcBef>
                <a:spcPts val="0"/>
              </a:spcBef>
              <a:spcAft>
                <a:spcPts val="0"/>
              </a:spcAft>
              <a:buNone/>
            </a:pPr>
            <a:r>
              <a:rPr lang="en" b="1"/>
              <a:t>Resources:</a:t>
            </a:r>
            <a:endParaRPr b="1"/>
          </a:p>
          <a:p>
            <a:pPr marL="457200" marR="360045" lvl="0" indent="-298450" algn="l" rtl="0">
              <a:spcBef>
                <a:spcPts val="0"/>
              </a:spcBef>
              <a:spcAft>
                <a:spcPts val="0"/>
              </a:spcAft>
              <a:buSzPts val="1100"/>
              <a:buChar char="●"/>
            </a:pPr>
            <a:r>
              <a:rPr lang="en" u="sng">
                <a:solidFill>
                  <a:schemeClr val="hlink"/>
                </a:solidFill>
                <a:hlinkClick r:id="rId3"/>
              </a:rPr>
              <a:t>What is API Level?</a:t>
            </a:r>
            <a:endParaRPr>
              <a:solidFill>
                <a:schemeClr val="dk1"/>
              </a:solidFill>
            </a:endParaRPr>
          </a:p>
          <a:p>
            <a:pPr marL="457200" marR="360045" lvl="0" indent="-304800" algn="l" rtl="0">
              <a:spcBef>
                <a:spcPts val="0"/>
              </a:spcBef>
              <a:spcAft>
                <a:spcPts val="0"/>
              </a:spcAft>
              <a:buClr>
                <a:schemeClr val="dk1"/>
              </a:buClr>
              <a:buSzPts val="1200"/>
              <a:buFont typeface="Times New Roman"/>
              <a:buChar char="●"/>
            </a:pPr>
            <a:r>
              <a:rPr lang="en" u="sng">
                <a:solidFill>
                  <a:srgbClr val="1155CC"/>
                </a:solidFill>
                <a:hlinkClick r:id="rId4">
                  <a:extLst>
                    <a:ext uri="{A12FA001-AC4F-418D-AE19-62706E023703}">
                      <ahyp:hlinkClr xmlns:ahyp="http://schemas.microsoft.com/office/drawing/2018/hyperlinkcolor" val="tx"/>
                    </a:ext>
                  </a:extLst>
                </a:hlinkClick>
              </a:rPr>
              <a:t>Picking your compileSdkVersion, minSdkVersion, and targetSdkVersion</a:t>
            </a:r>
            <a:r>
              <a:rPr lang="en"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marL="0" lvl="0" indent="0" algn="l" rtl="0">
              <a:spcBef>
                <a:spcPts val="1415"/>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b87ea636ca_0_5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b87ea636ca_0_5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this view of Android Studio, you can see the Project window and the Layout Editor. The </a:t>
            </a:r>
            <a:r>
              <a:rPr lang="en">
                <a:solidFill>
                  <a:schemeClr val="dk1"/>
                </a:solidFill>
              </a:rPr>
              <a:t>Layout Editor</a:t>
            </a:r>
            <a:r>
              <a:rPr lang="en"/>
              <a:t> includes a Palette, a Component Tree, a Design Editor, and an Attributes window.</a:t>
            </a:r>
            <a:endParaRPr/>
          </a:p>
          <a:p>
            <a:pPr marL="457200" lvl="0" indent="-298450" algn="l" rtl="0">
              <a:spcBef>
                <a:spcPts val="0"/>
              </a:spcBef>
              <a:spcAft>
                <a:spcPts val="0"/>
              </a:spcAft>
              <a:buSzPts val="1100"/>
              <a:buAutoNum type="arabicParenBoth"/>
            </a:pPr>
            <a:r>
              <a:rPr lang="en" b="1"/>
              <a:t>Project </a:t>
            </a:r>
            <a:r>
              <a:rPr lang="en">
                <a:solidFill>
                  <a:schemeClr val="dk1"/>
                </a:solidFill>
              </a:rPr>
              <a:t>window shows the files and folders for your project.</a:t>
            </a:r>
            <a:endParaRPr/>
          </a:p>
          <a:p>
            <a:pPr marL="457200" lvl="0" indent="-298450" algn="l" rtl="0">
              <a:spcBef>
                <a:spcPts val="0"/>
              </a:spcBef>
              <a:spcAft>
                <a:spcPts val="0"/>
              </a:spcAft>
              <a:buSzPts val="1100"/>
              <a:buAutoNum type="arabicParenBoth"/>
            </a:pPr>
            <a:r>
              <a:rPr lang="en" b="1"/>
              <a:t>Palette</a:t>
            </a:r>
            <a:r>
              <a:rPr lang="en"/>
              <a:t> shows the components and layouts that you can drag into your project, such as TextViews, ImageViews, and Buttons.</a:t>
            </a:r>
            <a:endParaRPr/>
          </a:p>
          <a:p>
            <a:pPr marL="457200" lvl="0" indent="-298450" algn="l" rtl="0">
              <a:spcBef>
                <a:spcPts val="0"/>
              </a:spcBef>
              <a:spcAft>
                <a:spcPts val="0"/>
              </a:spcAft>
              <a:buSzPts val="1100"/>
              <a:buAutoNum type="arabicParenBoth"/>
            </a:pPr>
            <a:r>
              <a:rPr lang="en" b="1"/>
              <a:t>Component Tree</a:t>
            </a:r>
            <a:r>
              <a:rPr lang="en"/>
              <a:t> shows the view hierarchy for your layout. Click a component or layout to show it in the Design Editor.</a:t>
            </a:r>
            <a:endParaRPr/>
          </a:p>
          <a:p>
            <a:pPr marL="457200" lvl="0" indent="-298450" algn="l" rtl="0">
              <a:spcBef>
                <a:spcPts val="0"/>
              </a:spcBef>
              <a:spcAft>
                <a:spcPts val="0"/>
              </a:spcAft>
              <a:buSzPts val="1100"/>
              <a:buAutoNum type="arabicParenBoth"/>
            </a:pPr>
            <a:r>
              <a:rPr lang="en" b="1"/>
              <a:t>Design Editor</a:t>
            </a:r>
            <a:r>
              <a:rPr lang="en"/>
              <a:t> displays a Design view and a Blueprint view to give you a visual representation of your layout. </a:t>
            </a:r>
            <a:endParaRPr/>
          </a:p>
          <a:p>
            <a:pPr marL="457200" lvl="0" indent="-298450" algn="l" rtl="0">
              <a:spcBef>
                <a:spcPts val="0"/>
              </a:spcBef>
              <a:spcAft>
                <a:spcPts val="0"/>
              </a:spcAft>
              <a:buSzPts val="1100"/>
              <a:buAutoNum type="arabicParenBoth"/>
            </a:pPr>
            <a:r>
              <a:rPr lang="en" b="1"/>
              <a:t>Attributes</a:t>
            </a:r>
            <a:r>
              <a:rPr lang="en"/>
              <a:t> window contains a list of properties you can set for your component. </a:t>
            </a:r>
            <a:endParaRPr/>
          </a:p>
          <a:p>
            <a:pPr marL="0" lvl="0" indent="0" algn="l" rtl="0">
              <a:spcBef>
                <a:spcPts val="0"/>
              </a:spcBef>
              <a:spcAft>
                <a:spcPts val="0"/>
              </a:spcAft>
              <a:buNone/>
            </a:pPr>
            <a:endParaRPr/>
          </a:p>
          <a:p>
            <a:pPr marL="0" lvl="0" indent="0" algn="l" rtl="0">
              <a:spcBef>
                <a:spcPts val="0"/>
              </a:spcBef>
              <a:spcAft>
                <a:spcPts val="0"/>
              </a:spcAft>
              <a:buNone/>
            </a:pPr>
            <a:r>
              <a:rPr lang="en" b="1"/>
              <a:t>Resource:</a:t>
            </a:r>
            <a:endParaRPr b="1"/>
          </a:p>
          <a:p>
            <a:pPr marL="457200" lvl="0" indent="-298450" algn="l" rtl="0">
              <a:spcBef>
                <a:spcPts val="0"/>
              </a:spcBef>
              <a:spcAft>
                <a:spcPts val="0"/>
              </a:spcAft>
              <a:buSzPts val="1100"/>
              <a:buChar char="●"/>
            </a:pPr>
            <a:r>
              <a:rPr lang="en" u="sng">
                <a:solidFill>
                  <a:schemeClr val="hlink"/>
                </a:solidFill>
                <a:hlinkClick r:id="rId3"/>
              </a:rPr>
              <a:t>Meet Android Studio</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b87ea636ca_0_6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b87ea636ca_0_6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b87ea636ca_0_6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b87ea636ca_0_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addition to running your app on a physical device, you can use the emulator to emulate many different </a:t>
            </a:r>
            <a:r>
              <a:rPr lang="en">
                <a:solidFill>
                  <a:schemeClr val="dk1"/>
                </a:solidFill>
              </a:rPr>
              <a:t>Android </a:t>
            </a:r>
            <a:r>
              <a:rPr lang="en"/>
              <a:t>form factors with the help of the Android Virtual Device (AVD) Manager.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Note that you’ll need to download each system image that you want to emulate, since there are many possible options.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b87ea636ca_0_6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b87ea636ca_0_6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b87ea636ca_0_6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b87ea636ca_0_6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a basic app project, the main parts to know about are the Activity, the app’s resources, and the gradle files. We’ll cover each topic in more depth in this lesson, but briefly: </a:t>
            </a:r>
            <a:endParaRPr/>
          </a:p>
          <a:p>
            <a:pPr marL="457200" lvl="0" indent="-298450" algn="l" rtl="0">
              <a:spcBef>
                <a:spcPts val="0"/>
              </a:spcBef>
              <a:spcAft>
                <a:spcPts val="0"/>
              </a:spcAft>
              <a:buSzPts val="1100"/>
              <a:buChar char="●"/>
            </a:pPr>
            <a:r>
              <a:rPr lang="en"/>
              <a:t>An </a:t>
            </a:r>
            <a:r>
              <a:rPr lang="en" b="1"/>
              <a:t>Activity</a:t>
            </a:r>
            <a:r>
              <a:rPr lang="en"/>
              <a:t> handles user input and creates a window on the screen to display your user interface. </a:t>
            </a:r>
            <a:endParaRPr/>
          </a:p>
          <a:p>
            <a:pPr marL="457200" lvl="0" indent="-298450" algn="l" rtl="0">
              <a:spcBef>
                <a:spcPts val="0"/>
              </a:spcBef>
              <a:spcAft>
                <a:spcPts val="0"/>
              </a:spcAft>
              <a:buSzPts val="1100"/>
              <a:buChar char="●"/>
            </a:pPr>
            <a:r>
              <a:rPr lang="en" b="1"/>
              <a:t>Resources</a:t>
            </a:r>
            <a:r>
              <a:rPr lang="en"/>
              <a:t> are additional files that your code uses, such as layout files, images, audio files, themes, colors, and more. </a:t>
            </a:r>
            <a:endParaRPr/>
          </a:p>
          <a:p>
            <a:pPr marL="457200" lvl="0" indent="-298450" algn="l" rtl="0">
              <a:spcBef>
                <a:spcPts val="0"/>
              </a:spcBef>
              <a:spcAft>
                <a:spcPts val="0"/>
              </a:spcAft>
              <a:buSzPts val="1100"/>
              <a:buChar char="●"/>
            </a:pPr>
            <a:r>
              <a:rPr lang="en" b="1"/>
              <a:t>Gradle files</a:t>
            </a:r>
            <a:r>
              <a:rPr lang="en"/>
              <a:t> are scripts that control how your app is built, so that it can be installed on a device.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b87ea636ca_0_6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b87ea636ca_0_6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When you create your first app from a project template, Android Studio generates a project structure similar to this. </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t>Here’s what each file or directory does: </a:t>
            </a:r>
            <a:endParaRPr/>
          </a:p>
          <a:p>
            <a:pPr marL="457200" lvl="0" indent="-298450" algn="l" rtl="0">
              <a:spcBef>
                <a:spcPts val="0"/>
              </a:spcBef>
              <a:spcAft>
                <a:spcPts val="0"/>
              </a:spcAft>
              <a:buSzPts val="1100"/>
              <a:buChar char="●"/>
            </a:pPr>
            <a:r>
              <a:rPr lang="en">
                <a:latin typeface="Consolas"/>
                <a:ea typeface="Consolas"/>
                <a:cs typeface="Consolas"/>
                <a:sym typeface="Consolas"/>
              </a:rPr>
              <a:t>app</a:t>
            </a:r>
            <a:r>
              <a:rPr lang="en"/>
              <a:t> - stores source code, tests, and resources for your app </a:t>
            </a:r>
            <a:endParaRPr/>
          </a:p>
          <a:p>
            <a:pPr marL="457200" lvl="0" indent="-298450" algn="l" rtl="0">
              <a:spcBef>
                <a:spcPts val="0"/>
              </a:spcBef>
              <a:spcAft>
                <a:spcPts val="0"/>
              </a:spcAft>
              <a:buSzPts val="1100"/>
              <a:buChar char="●"/>
            </a:pPr>
            <a:r>
              <a:rPr lang="en">
                <a:latin typeface="Consolas"/>
                <a:ea typeface="Consolas"/>
                <a:cs typeface="Consolas"/>
                <a:sym typeface="Consolas"/>
              </a:rPr>
              <a:t>libs</a:t>
            </a:r>
            <a:r>
              <a:rPr lang="en"/>
              <a:t> - stores local libraries your app depends on </a:t>
            </a:r>
            <a:endParaRPr/>
          </a:p>
          <a:p>
            <a:pPr marL="457200" lvl="0" indent="-298450" algn="l" rtl="0">
              <a:spcBef>
                <a:spcPts val="0"/>
              </a:spcBef>
              <a:spcAft>
                <a:spcPts val="0"/>
              </a:spcAft>
              <a:buSzPts val="1100"/>
              <a:buChar char="●"/>
            </a:pPr>
            <a:r>
              <a:rPr lang="en">
                <a:latin typeface="Consolas"/>
                <a:ea typeface="Consolas"/>
                <a:cs typeface="Consolas"/>
                <a:sym typeface="Consolas"/>
              </a:rPr>
              <a:t>androidTest</a:t>
            </a:r>
            <a:r>
              <a:rPr lang="en"/>
              <a:t> - test code that’s specific to Android </a:t>
            </a:r>
            <a:endParaRPr/>
          </a:p>
          <a:p>
            <a:pPr marL="457200" lvl="0" indent="-298450" algn="l" rtl="0">
              <a:spcBef>
                <a:spcPts val="0"/>
              </a:spcBef>
              <a:spcAft>
                <a:spcPts val="0"/>
              </a:spcAft>
              <a:buSzPts val="1100"/>
              <a:buChar char="●"/>
            </a:pPr>
            <a:r>
              <a:rPr lang="en">
                <a:latin typeface="Consolas"/>
                <a:ea typeface="Consolas"/>
                <a:cs typeface="Consolas"/>
                <a:sym typeface="Consolas"/>
              </a:rPr>
              <a:t>main</a:t>
            </a:r>
            <a:r>
              <a:rPr lang="en"/>
              <a:t> - Java and Kotlin app files </a:t>
            </a:r>
            <a:endParaRPr/>
          </a:p>
          <a:p>
            <a:pPr marL="457200" lvl="0" indent="-298450" algn="l" rtl="0">
              <a:spcBef>
                <a:spcPts val="0"/>
              </a:spcBef>
              <a:spcAft>
                <a:spcPts val="0"/>
              </a:spcAft>
              <a:buSzPts val="1100"/>
              <a:buChar char="●"/>
            </a:pPr>
            <a:r>
              <a:rPr lang="en"/>
              <a:t>test - local unit tests that will execute on your computer</a:t>
            </a:r>
            <a:endParaRPr/>
          </a:p>
          <a:p>
            <a:pPr marL="457200" lvl="0" indent="-298450" algn="l" rtl="0">
              <a:spcBef>
                <a:spcPts val="0"/>
              </a:spcBef>
              <a:spcAft>
                <a:spcPts val="0"/>
              </a:spcAft>
              <a:buSzPts val="1100"/>
              <a:buChar char="●"/>
            </a:pPr>
            <a:r>
              <a:rPr lang="en">
                <a:latin typeface="Consolas"/>
                <a:ea typeface="Consolas"/>
                <a:cs typeface="Consolas"/>
                <a:sym typeface="Consolas"/>
              </a:rPr>
              <a:t>AndroidManifest.xml</a:t>
            </a:r>
            <a:r>
              <a:rPr lang="en"/>
              <a:t> - declares essential information for your app </a:t>
            </a:r>
            <a:endParaRPr/>
          </a:p>
          <a:p>
            <a:pPr marL="457200" lvl="0" indent="-298450" algn="l" rtl="0">
              <a:spcBef>
                <a:spcPts val="0"/>
              </a:spcBef>
              <a:spcAft>
                <a:spcPts val="0"/>
              </a:spcAft>
              <a:buSzPts val="1100"/>
              <a:buChar char="●"/>
            </a:pPr>
            <a:r>
              <a:rPr lang="en">
                <a:latin typeface="Consolas"/>
                <a:ea typeface="Consolas"/>
                <a:cs typeface="Consolas"/>
                <a:sym typeface="Consolas"/>
              </a:rPr>
              <a:t>build.gradle</a:t>
            </a:r>
            <a:r>
              <a:rPr lang="en"/>
              <a:t> - controls how your application builds, tests, and deploys itself </a:t>
            </a:r>
            <a:endParaRPr/>
          </a:p>
          <a:p>
            <a:pPr marL="457200" lvl="0" indent="-298450" algn="l" rtl="0">
              <a:spcBef>
                <a:spcPts val="0"/>
              </a:spcBef>
              <a:spcAft>
                <a:spcPts val="0"/>
              </a:spcAft>
              <a:buSzPts val="1100"/>
              <a:buChar char="●"/>
            </a:pPr>
            <a:r>
              <a:rPr lang="en">
                <a:latin typeface="Consolas"/>
                <a:ea typeface="Consolas"/>
                <a:cs typeface="Consolas"/>
                <a:sym typeface="Consolas"/>
              </a:rPr>
              <a:t>gradlew</a:t>
            </a:r>
            <a:r>
              <a:rPr lang="en"/>
              <a:t> - an executable to run gradle, even if it is not already installed</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b87ea636ca_0_6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b87ea636ca_0_6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Using Android Studio’s Project window, you can browse project files for your app. The Android view, which shows by default (image on the left), is structured for easy access to the files you need for app development. However, the </a:t>
            </a:r>
            <a:r>
              <a:rPr lang="en">
                <a:solidFill>
                  <a:schemeClr val="dk1"/>
                </a:solidFill>
              </a:rPr>
              <a:t>Android view</a:t>
            </a:r>
            <a:r>
              <a:rPr lang="en"/>
              <a:t> doesn’t reflect the actual file structure of your app (what you would see using the file explorer on your computer). To see how the folders and files actually look on your computer, switch to the Project view in the drop down menu (shown on the right). Feel free to use whichever view you prefer. </a:t>
            </a:r>
            <a:endParaRPr/>
          </a:p>
          <a:p>
            <a:pPr marL="0" lvl="0" indent="0" algn="l" rtl="0">
              <a:spcBef>
                <a:spcPts val="0"/>
              </a:spcBef>
              <a:spcAft>
                <a:spcPts val="0"/>
              </a:spcAft>
              <a:buNone/>
            </a:pPr>
            <a:endParaRPr/>
          </a:p>
          <a:p>
            <a:pPr marL="0" lvl="0" indent="0" algn="l" rtl="0">
              <a:spcBef>
                <a:spcPts val="0"/>
              </a:spcBef>
              <a:spcAft>
                <a:spcPts val="0"/>
              </a:spcAft>
              <a:buNone/>
            </a:pPr>
            <a:r>
              <a:rPr lang="en" b="1"/>
              <a:t>Resource</a:t>
            </a:r>
            <a:r>
              <a:rPr lang="en"/>
              <a:t>:</a:t>
            </a:r>
            <a:endParaRPr/>
          </a:p>
          <a:p>
            <a:pPr marL="0" lvl="0" indent="0" algn="l" rtl="0">
              <a:spcBef>
                <a:spcPts val="0"/>
              </a:spcBef>
              <a:spcAft>
                <a:spcPts val="0"/>
              </a:spcAft>
              <a:buNone/>
            </a:pPr>
            <a:r>
              <a:rPr lang="en" u="sng">
                <a:solidFill>
                  <a:schemeClr val="hlink"/>
                </a:solidFill>
                <a:hlinkClick r:id="rId3"/>
              </a:rPr>
              <a:t>Project Files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b87ea636ca_0_6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b87ea636ca_0_6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b87ea636ca_0_6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b87ea636ca_0_6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Android comes with a large set of built-in classes for views (sometimes called widgets). For example, TextView, ImageView, and Button are commonly used views. Each View has different attributes depending on the type of View it is. Example attributes include width, height, whether it is visible, and more. For a TextView, example attributes include font size, font family, and the text to display.  </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b="1"/>
              <a:t>Resources:</a:t>
            </a:r>
            <a:endParaRPr b="1"/>
          </a:p>
          <a:p>
            <a:pPr marL="457200" lvl="0" indent="-298450" algn="l" rtl="0">
              <a:spcBef>
                <a:spcPts val="0"/>
              </a:spcBef>
              <a:spcAft>
                <a:spcPts val="0"/>
              </a:spcAft>
              <a:buSzPts val="1100"/>
              <a:buChar char="●"/>
            </a:pPr>
            <a:r>
              <a:rPr lang="en" u="sng">
                <a:solidFill>
                  <a:schemeClr val="hlink"/>
                </a:solidFill>
                <a:hlinkClick r:id="rId3"/>
              </a:rPr>
              <a:t>TextView</a:t>
            </a:r>
            <a:endParaRPr/>
          </a:p>
          <a:p>
            <a:pPr marL="457200" lvl="0" indent="-298450" algn="l" rtl="0">
              <a:spcBef>
                <a:spcPts val="0"/>
              </a:spcBef>
              <a:spcAft>
                <a:spcPts val="0"/>
              </a:spcAft>
              <a:buSzPts val="1100"/>
              <a:buChar char="●"/>
            </a:pPr>
            <a:r>
              <a:rPr lang="en" u="sng">
                <a:solidFill>
                  <a:schemeClr val="hlink"/>
                </a:solidFill>
                <a:hlinkClick r:id="rId4"/>
              </a:rPr>
              <a:t>ImageView</a:t>
            </a:r>
            <a:endParaRPr/>
          </a:p>
          <a:p>
            <a:pPr marL="457200" lvl="0" indent="-298450" algn="l" rtl="0">
              <a:spcBef>
                <a:spcPts val="0"/>
              </a:spcBef>
              <a:spcAft>
                <a:spcPts val="0"/>
              </a:spcAft>
              <a:buSzPts val="1100"/>
              <a:buChar char="●"/>
            </a:pPr>
            <a:r>
              <a:rPr lang="en" u="sng">
                <a:solidFill>
                  <a:schemeClr val="hlink"/>
                </a:solidFill>
                <a:hlinkClick r:id="rId5"/>
              </a:rPr>
              <a:t>Button</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b87ea636ca_0_6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b87ea636ca_0_6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 Android Studio, build your layout with the Layout Editor. </a:t>
            </a:r>
            <a:endParaRPr/>
          </a:p>
          <a:p>
            <a:pPr marL="457200" lvl="0" indent="-298450" algn="l" rtl="0">
              <a:spcBef>
                <a:spcPts val="0"/>
              </a:spcBef>
              <a:spcAft>
                <a:spcPts val="0"/>
              </a:spcAft>
              <a:buSzPts val="1100"/>
              <a:buChar char="●"/>
            </a:pPr>
            <a:r>
              <a:rPr lang="en"/>
              <a:t>Drag and drop components from the Palette (1) into the Design view (2). </a:t>
            </a:r>
            <a:endParaRPr/>
          </a:p>
          <a:p>
            <a:pPr marL="457200" lvl="0" indent="-298450" algn="l" rtl="0">
              <a:spcBef>
                <a:spcPts val="0"/>
              </a:spcBef>
              <a:spcAft>
                <a:spcPts val="0"/>
              </a:spcAft>
              <a:buSzPts val="1100"/>
              <a:buChar char="●"/>
            </a:pPr>
            <a:r>
              <a:rPr lang="en"/>
              <a:t>See a preview of your layout in the Design view (2).</a:t>
            </a:r>
            <a:endParaRPr/>
          </a:p>
          <a:p>
            <a:pPr marL="457200" lvl="0" indent="-298450" algn="l" rtl="0">
              <a:spcBef>
                <a:spcPts val="0"/>
              </a:spcBef>
              <a:spcAft>
                <a:spcPts val="0"/>
              </a:spcAft>
              <a:buSzPts val="1100"/>
              <a:buChar char="●"/>
            </a:pPr>
            <a:r>
              <a:rPr lang="en"/>
              <a:t>Modify the attributes of the views on the right hand side in the Attributes window (3).</a:t>
            </a:r>
            <a:endParaRPr/>
          </a:p>
          <a:p>
            <a:pPr marL="0" lvl="0" indent="0" algn="l" rtl="0">
              <a:spcBef>
                <a:spcPts val="0"/>
              </a:spcBef>
              <a:spcAft>
                <a:spcPts val="0"/>
              </a:spcAft>
              <a:buNone/>
            </a:pPr>
            <a:endParaRPr/>
          </a:p>
          <a:p>
            <a:pPr marL="0" lvl="0" indent="0" algn="l" rtl="0">
              <a:spcBef>
                <a:spcPts val="0"/>
              </a:spcBef>
              <a:spcAft>
                <a:spcPts val="0"/>
              </a:spcAft>
              <a:buNone/>
            </a:pPr>
            <a:r>
              <a:rPr lang="en" b="1"/>
              <a:t>Resource:</a:t>
            </a:r>
            <a:endParaRPr b="1"/>
          </a:p>
          <a:p>
            <a:pPr marL="457200" lvl="0" indent="-298450" algn="l" rtl="0">
              <a:spcBef>
                <a:spcPts val="0"/>
              </a:spcBef>
              <a:spcAft>
                <a:spcPts val="0"/>
              </a:spcAft>
              <a:buSzPts val="1100"/>
              <a:buFont typeface="Roboto"/>
              <a:buChar char="●"/>
            </a:pPr>
            <a:r>
              <a:rPr lang="en" u="sng">
                <a:solidFill>
                  <a:srgbClr val="1155CC"/>
                </a:solidFill>
                <a:latin typeface="Roboto"/>
                <a:ea typeface="Roboto"/>
                <a:cs typeface="Roboto"/>
                <a:sym typeface="Roboto"/>
                <a:hlinkClick r:id="rId3">
                  <a:extLst>
                    <a:ext uri="{A12FA001-AC4F-418D-AE19-62706E023703}">
                      <ahyp:hlinkClr xmlns:ahyp="http://schemas.microsoft.com/office/drawing/2018/hyperlinkcolor" val="tx"/>
                    </a:ext>
                  </a:extLst>
                </a:hlinkClick>
              </a:rPr>
              <a:t>Build a UI with Layout Editor</a:t>
            </a:r>
            <a:endParaRPr>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b87ea636ca_0_6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b87ea636ca_0_6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b87ea636ca_0_6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b87ea636ca_0_6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Here’s the XML for displaying a </a:t>
            </a:r>
            <a:r>
              <a:rPr lang="en">
                <a:latin typeface="Courier New"/>
                <a:ea typeface="Courier New"/>
                <a:cs typeface="Courier New"/>
                <a:sym typeface="Courier New"/>
              </a:rPr>
              <a:t>TextView</a:t>
            </a:r>
            <a:r>
              <a:rPr lang="en"/>
              <a:t> in the layout. We see three attributes on the </a:t>
            </a:r>
            <a:r>
              <a:rPr lang="en">
                <a:latin typeface="Courier New"/>
                <a:ea typeface="Courier New"/>
                <a:cs typeface="Courier New"/>
                <a:sym typeface="Courier New"/>
              </a:rPr>
              <a:t>TextView</a:t>
            </a:r>
            <a:r>
              <a:rPr lang="en"/>
              <a:t>: width, height, and text. These attributes are provided by either the base </a:t>
            </a:r>
            <a:r>
              <a:rPr lang="en">
                <a:latin typeface="Courier New"/>
                <a:ea typeface="Courier New"/>
                <a:cs typeface="Courier New"/>
                <a:sym typeface="Courier New"/>
              </a:rPr>
              <a:t>View</a:t>
            </a:r>
            <a:r>
              <a:rPr lang="en"/>
              <a:t> class (width and height) or by the specific </a:t>
            </a:r>
            <a:r>
              <a:rPr lang="en">
                <a:latin typeface="Courier New"/>
                <a:ea typeface="Courier New"/>
                <a:cs typeface="Courier New"/>
                <a:sym typeface="Courier New"/>
              </a:rPr>
              <a:t>TextView</a:t>
            </a:r>
            <a:r>
              <a:rPr lang="en"/>
              <a:t> class.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b87ea636ca_0_6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b87ea636ca_0_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Android has several ways to specify the width and height of a </a:t>
            </a:r>
            <a:r>
              <a:rPr lang="en">
                <a:latin typeface="Courier New"/>
                <a:ea typeface="Courier New"/>
                <a:cs typeface="Courier New"/>
                <a:sym typeface="Courier New"/>
              </a:rPr>
              <a:t>View</a:t>
            </a:r>
            <a:r>
              <a:rPr lang="en"/>
              <a:t>. These examples are for the layout_width of a View, but the same applies for the </a:t>
            </a:r>
            <a:r>
              <a:rPr lang="en">
                <a:latin typeface="Courier New"/>
                <a:ea typeface="Courier New"/>
                <a:cs typeface="Courier New"/>
                <a:sym typeface="Courier New"/>
              </a:rPr>
              <a:t>layout_height </a:t>
            </a:r>
            <a:r>
              <a:rPr lang="en"/>
              <a:t>attribute of a View.</a:t>
            </a:r>
            <a:endParaRPr/>
          </a:p>
          <a:p>
            <a:pPr marL="457200" lvl="0" indent="-298450" algn="l" rtl="0">
              <a:lnSpc>
                <a:spcPct val="115000"/>
              </a:lnSpc>
              <a:spcBef>
                <a:spcPts val="0"/>
              </a:spcBef>
              <a:spcAft>
                <a:spcPts val="0"/>
              </a:spcAft>
              <a:buSzPts val="1100"/>
              <a:buChar char="●"/>
            </a:pPr>
            <a:r>
              <a:rPr lang="en"/>
              <a:t>Use </a:t>
            </a:r>
            <a:r>
              <a:rPr lang="en">
                <a:latin typeface="Courier New"/>
                <a:ea typeface="Courier New"/>
                <a:cs typeface="Courier New"/>
                <a:sym typeface="Courier New"/>
              </a:rPr>
              <a:t>wrap_content</a:t>
            </a:r>
            <a:r>
              <a:rPr lang="en"/>
              <a:t> to use </a:t>
            </a:r>
            <a:r>
              <a:rPr lang="en">
                <a:solidFill>
                  <a:schemeClr val="dk1"/>
                </a:solidFill>
              </a:rPr>
              <a:t>only </a:t>
            </a:r>
            <a:r>
              <a:rPr lang="en"/>
              <a:t>as much space as needed to display the content within the </a:t>
            </a:r>
            <a:r>
              <a:rPr lang="en">
                <a:latin typeface="Courier New"/>
                <a:ea typeface="Courier New"/>
                <a:cs typeface="Courier New"/>
                <a:sym typeface="Courier New"/>
              </a:rPr>
              <a:t>View</a:t>
            </a:r>
            <a:r>
              <a:rPr lang="en"/>
              <a:t>. For example, if you want the </a:t>
            </a:r>
            <a:r>
              <a:rPr lang="en">
                <a:latin typeface="Courier New"/>
                <a:ea typeface="Courier New"/>
                <a:cs typeface="Courier New"/>
                <a:sym typeface="Courier New"/>
              </a:rPr>
              <a:t>View</a:t>
            </a:r>
            <a:r>
              <a:rPr lang="en"/>
              <a:t> to be as wide as the text within the </a:t>
            </a:r>
            <a:r>
              <a:rPr lang="en">
                <a:latin typeface="Courier New"/>
                <a:ea typeface="Courier New"/>
                <a:cs typeface="Courier New"/>
                <a:sym typeface="Courier New"/>
              </a:rPr>
              <a:t>TextView</a:t>
            </a:r>
            <a:r>
              <a:rPr lang="en"/>
              <a:t>, use </a:t>
            </a:r>
            <a:r>
              <a:rPr lang="en">
                <a:latin typeface="Courier New"/>
                <a:ea typeface="Courier New"/>
                <a:cs typeface="Courier New"/>
                <a:sym typeface="Courier New"/>
              </a:rPr>
              <a:t>wrap_content</a:t>
            </a:r>
            <a:r>
              <a:rPr lang="en"/>
              <a:t>.</a:t>
            </a:r>
            <a:endParaRPr/>
          </a:p>
          <a:p>
            <a:pPr marL="457200" lvl="0" indent="-298450" algn="l" rtl="0">
              <a:lnSpc>
                <a:spcPct val="115000"/>
              </a:lnSpc>
              <a:spcBef>
                <a:spcPts val="0"/>
              </a:spcBef>
              <a:spcAft>
                <a:spcPts val="0"/>
              </a:spcAft>
              <a:buSzPts val="1100"/>
              <a:buChar char="●"/>
            </a:pPr>
            <a:r>
              <a:rPr lang="en"/>
              <a:t>Use </a:t>
            </a:r>
            <a:r>
              <a:rPr lang="en">
                <a:latin typeface="Courier New"/>
                <a:ea typeface="Courier New"/>
                <a:cs typeface="Courier New"/>
                <a:sym typeface="Courier New"/>
              </a:rPr>
              <a:t>match_parent</a:t>
            </a:r>
            <a:r>
              <a:rPr lang="en"/>
              <a:t> to use the dimension of the parent (such as matching the width of the parent </a:t>
            </a:r>
            <a:r>
              <a:rPr lang="en">
                <a:latin typeface="Courier New"/>
                <a:ea typeface="Courier New"/>
                <a:cs typeface="Courier New"/>
                <a:sym typeface="Courier New"/>
              </a:rPr>
              <a:t>View</a:t>
            </a:r>
            <a:r>
              <a:rPr lang="en"/>
              <a:t>). For example, if you want the </a:t>
            </a:r>
            <a:r>
              <a:rPr lang="en">
                <a:latin typeface="Courier New"/>
                <a:ea typeface="Courier New"/>
                <a:cs typeface="Courier New"/>
                <a:sym typeface="Courier New"/>
              </a:rPr>
              <a:t>ImageView</a:t>
            </a:r>
            <a:r>
              <a:rPr lang="en"/>
              <a:t> to take up the full size of the parent, set </a:t>
            </a:r>
            <a:r>
              <a:rPr lang="en">
                <a:latin typeface="Courier New"/>
                <a:ea typeface="Courier New"/>
                <a:cs typeface="Courier New"/>
                <a:sym typeface="Courier New"/>
              </a:rPr>
              <a:t>match_parent</a:t>
            </a:r>
            <a:r>
              <a:rPr lang="en"/>
              <a:t> for its width and height. </a:t>
            </a:r>
            <a:endParaRPr/>
          </a:p>
          <a:p>
            <a:pPr marL="457200" lvl="0" indent="-298450" algn="l" rtl="0">
              <a:lnSpc>
                <a:spcPct val="115000"/>
              </a:lnSpc>
              <a:spcBef>
                <a:spcPts val="0"/>
              </a:spcBef>
              <a:spcAft>
                <a:spcPts val="0"/>
              </a:spcAft>
              <a:buSzPts val="1100"/>
              <a:buChar char="●"/>
            </a:pPr>
            <a:r>
              <a:rPr lang="en"/>
              <a:t>Lastly, if you want a fixed size for the </a:t>
            </a:r>
            <a:r>
              <a:rPr lang="en">
                <a:latin typeface="Courier New"/>
                <a:ea typeface="Courier New"/>
                <a:cs typeface="Courier New"/>
                <a:sym typeface="Courier New"/>
              </a:rPr>
              <a:t>View</a:t>
            </a:r>
            <a:r>
              <a:rPr lang="en"/>
              <a:t>, then set a specific dp (density-independent pixels) </a:t>
            </a:r>
            <a:r>
              <a:rPr lang="en">
                <a:solidFill>
                  <a:schemeClr val="dk1"/>
                </a:solidFill>
              </a:rPr>
              <a:t>value</a:t>
            </a:r>
            <a:r>
              <a:rPr lang="en"/>
              <a:t>. We will be revisiting the concept of dps in the next lesson when we learn more about layouts.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b87ea636ca_0_6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b87ea636ca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To show more than one view on screen, use a </a:t>
            </a:r>
            <a:r>
              <a:rPr lang="en">
                <a:latin typeface="Courier New"/>
                <a:ea typeface="Courier New"/>
                <a:cs typeface="Courier New"/>
                <a:sym typeface="Courier New"/>
              </a:rPr>
              <a:t>ViewGroup</a:t>
            </a:r>
            <a:r>
              <a:rPr lang="en"/>
              <a:t>. A </a:t>
            </a:r>
            <a:r>
              <a:rPr lang="en">
                <a:latin typeface="Courier New"/>
                <a:ea typeface="Courier New"/>
                <a:cs typeface="Courier New"/>
                <a:sym typeface="Courier New"/>
              </a:rPr>
              <a:t>ViewGroup</a:t>
            </a:r>
            <a:r>
              <a:rPr lang="en"/>
              <a:t> is a container for views, and controls how views are organized and laid out on screen. This slide shows examples of three different ViewGroups. </a:t>
            </a:r>
            <a:endParaRPr/>
          </a:p>
          <a:p>
            <a:pPr marL="457200" lvl="0" indent="-298450" algn="l" rtl="0">
              <a:spcBef>
                <a:spcPts val="0"/>
              </a:spcBef>
              <a:spcAft>
                <a:spcPts val="0"/>
              </a:spcAft>
              <a:buSzPts val="1100"/>
              <a:buChar char="●"/>
            </a:pPr>
            <a:r>
              <a:rPr lang="en"/>
              <a:t>Use a </a:t>
            </a:r>
            <a:r>
              <a:rPr lang="en">
                <a:latin typeface="Courier New"/>
                <a:ea typeface="Courier New"/>
                <a:cs typeface="Courier New"/>
                <a:sym typeface="Courier New"/>
              </a:rPr>
              <a:t>FrameLayout</a:t>
            </a:r>
            <a:r>
              <a:rPr lang="en"/>
              <a:t> if you have only one child </a:t>
            </a:r>
            <a:r>
              <a:rPr lang="en">
                <a:latin typeface="Courier New"/>
                <a:ea typeface="Courier New"/>
                <a:cs typeface="Courier New"/>
                <a:sym typeface="Courier New"/>
              </a:rPr>
              <a:t>View</a:t>
            </a:r>
            <a:r>
              <a:rPr lang="en"/>
              <a:t>. </a:t>
            </a:r>
            <a:endParaRPr/>
          </a:p>
          <a:p>
            <a:pPr marL="457200" lvl="0" indent="-298450" algn="l" rtl="0">
              <a:spcBef>
                <a:spcPts val="0"/>
              </a:spcBef>
              <a:spcAft>
                <a:spcPts val="0"/>
              </a:spcAft>
              <a:buSzPts val="1100"/>
              <a:buChar char="●"/>
            </a:pPr>
            <a:r>
              <a:rPr lang="en"/>
              <a:t>Use a </a:t>
            </a:r>
            <a:r>
              <a:rPr lang="en">
                <a:latin typeface="Courier New"/>
                <a:ea typeface="Courier New"/>
                <a:cs typeface="Courier New"/>
                <a:sym typeface="Courier New"/>
              </a:rPr>
              <a:t>LinearLayout</a:t>
            </a:r>
            <a:r>
              <a:rPr lang="en"/>
              <a:t> to display views in a row or column. </a:t>
            </a:r>
            <a:endParaRPr/>
          </a:p>
          <a:p>
            <a:pPr marL="457200" lvl="0" indent="-298450" algn="l" rtl="0">
              <a:spcBef>
                <a:spcPts val="0"/>
              </a:spcBef>
              <a:spcAft>
                <a:spcPts val="0"/>
              </a:spcAft>
              <a:buSzPts val="1100"/>
              <a:buChar char="●"/>
            </a:pPr>
            <a:r>
              <a:rPr lang="en"/>
              <a:t>Use a </a:t>
            </a:r>
            <a:r>
              <a:rPr lang="en">
                <a:latin typeface="Courier New"/>
                <a:ea typeface="Courier New"/>
                <a:cs typeface="Courier New"/>
                <a:sym typeface="Courier New"/>
              </a:rPr>
              <a:t>ConstraintLayout</a:t>
            </a:r>
            <a:r>
              <a:rPr lang="en"/>
              <a:t> for more complex layouts. </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t>In general, choose the </a:t>
            </a:r>
            <a:r>
              <a:rPr lang="en">
                <a:latin typeface="Courier New"/>
                <a:ea typeface="Courier New"/>
                <a:cs typeface="Courier New"/>
                <a:sym typeface="Courier New"/>
              </a:rPr>
              <a:t>ViewGroup</a:t>
            </a:r>
            <a:r>
              <a:rPr lang="en"/>
              <a:t> that meets your needs without being overly complex. For example, if you can get the job done with a </a:t>
            </a:r>
            <a:r>
              <a:rPr lang="en">
                <a:latin typeface="Courier New"/>
                <a:ea typeface="Courier New"/>
                <a:cs typeface="Courier New"/>
                <a:sym typeface="Courier New"/>
              </a:rPr>
              <a:t>LinearLayout</a:t>
            </a:r>
            <a:r>
              <a:rPr lang="en"/>
              <a:t>, then there is no need to use a </a:t>
            </a:r>
            <a:r>
              <a:rPr lang="en">
                <a:latin typeface="Courier New"/>
                <a:ea typeface="Courier New"/>
                <a:cs typeface="Courier New"/>
                <a:sym typeface="Courier New"/>
              </a:rPr>
              <a:t>ConstraintLayout</a:t>
            </a:r>
            <a:r>
              <a:rPr lang="en"/>
              <a:t>.</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Let’s look at the XML for some of these </a:t>
            </a:r>
            <a:r>
              <a:rPr lang="en">
                <a:latin typeface="Courier New"/>
                <a:ea typeface="Courier New"/>
                <a:cs typeface="Courier New"/>
                <a:sym typeface="Courier New"/>
              </a:rPr>
              <a:t>ViewGroups</a:t>
            </a:r>
            <a:r>
              <a:rPr lang="en"/>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b87ea636ca_0_6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b87ea636ca_0_6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this example, the </a:t>
            </a:r>
            <a:r>
              <a:rPr lang="en">
                <a:latin typeface="Courier New"/>
                <a:ea typeface="Courier New"/>
                <a:cs typeface="Courier New"/>
                <a:sym typeface="Courier New"/>
              </a:rPr>
              <a:t>FrameLayout</a:t>
            </a:r>
            <a:r>
              <a:rPr lang="en"/>
              <a:t> holds a single </a:t>
            </a:r>
            <a:r>
              <a:rPr lang="en">
                <a:latin typeface="Courier New"/>
                <a:ea typeface="Courier New"/>
                <a:cs typeface="Courier New"/>
                <a:sym typeface="Courier New"/>
              </a:rPr>
              <a:t>TextView</a:t>
            </a:r>
            <a:r>
              <a:rPr lang="en"/>
              <a:t>. </a:t>
            </a:r>
            <a:r>
              <a:rPr lang="en">
                <a:solidFill>
                  <a:schemeClr val="dk1"/>
                </a:solidFill>
              </a:rPr>
              <a:t>Note that the closing tag of the </a:t>
            </a:r>
            <a:r>
              <a:rPr lang="en">
                <a:solidFill>
                  <a:schemeClr val="dk1"/>
                </a:solidFill>
                <a:latin typeface="Courier New"/>
                <a:ea typeface="Courier New"/>
                <a:cs typeface="Courier New"/>
                <a:sym typeface="Courier New"/>
              </a:rPr>
              <a:t>FrameLayout</a:t>
            </a:r>
            <a:r>
              <a:rPr lang="en">
                <a:solidFill>
                  <a:schemeClr val="dk1"/>
                </a:solidFill>
              </a:rPr>
              <a:t> comes after the child </a:t>
            </a:r>
            <a:r>
              <a:rPr lang="en">
                <a:solidFill>
                  <a:schemeClr val="dk1"/>
                </a:solidFill>
                <a:latin typeface="Courier New"/>
                <a:ea typeface="Courier New"/>
                <a:cs typeface="Courier New"/>
                <a:sym typeface="Courier New"/>
              </a:rPr>
              <a:t>TextView</a:t>
            </a:r>
            <a:r>
              <a:rPr lang="en">
                <a:solidFill>
                  <a:schemeClr val="dk1"/>
                </a:solidFill>
              </a:rPr>
              <a:t>.</a:t>
            </a:r>
            <a:endParaRPr/>
          </a:p>
          <a:p>
            <a:pPr marL="0" lvl="0" indent="0" algn="l" rtl="0">
              <a:spcBef>
                <a:spcPts val="0"/>
              </a:spcBef>
              <a:spcAft>
                <a:spcPts val="0"/>
              </a:spcAft>
              <a:buNone/>
            </a:pPr>
            <a:endParaRPr/>
          </a:p>
          <a:p>
            <a:pPr marL="0" lvl="0" indent="0" algn="l" rtl="0">
              <a:spcBef>
                <a:spcPts val="0"/>
              </a:spcBef>
              <a:spcAft>
                <a:spcPts val="0"/>
              </a:spcAft>
              <a:buNone/>
            </a:pPr>
            <a:r>
              <a:rPr lang="en"/>
              <a:t>You can think of </a:t>
            </a:r>
            <a:r>
              <a:rPr lang="en">
                <a:latin typeface="Courier New"/>
                <a:ea typeface="Courier New"/>
                <a:cs typeface="Courier New"/>
                <a:sym typeface="Courier New"/>
              </a:rPr>
              <a:t>FrameLayout</a:t>
            </a:r>
            <a:r>
              <a:rPr lang="en"/>
              <a:t> as a picture frame. It’s only meant to show one thing, so use it to hold a single child </a:t>
            </a:r>
            <a:r>
              <a:rPr lang="en">
                <a:latin typeface="Courier New"/>
                <a:ea typeface="Courier New"/>
                <a:cs typeface="Courier New"/>
                <a:sym typeface="Courier New"/>
              </a:rPr>
              <a:t>View</a:t>
            </a:r>
            <a:r>
              <a:rPr lang="en"/>
              <a:t>. If you add more than one child within it, the views would overlap, which may be the desired behavior in some cases. </a:t>
            </a:r>
            <a:endParaRPr/>
          </a:p>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b87ea636ca_0_7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b87ea636ca_0_7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Here’s an XML example for the </a:t>
            </a:r>
            <a:r>
              <a:rPr lang="en">
                <a:latin typeface="Courier New"/>
                <a:ea typeface="Courier New"/>
                <a:cs typeface="Courier New"/>
                <a:sym typeface="Courier New"/>
              </a:rPr>
              <a:t>LinearLayout</a:t>
            </a:r>
            <a:r>
              <a:rPr lang="en"/>
              <a:t> </a:t>
            </a:r>
            <a:r>
              <a:rPr lang="en">
                <a:latin typeface="Courier New"/>
                <a:ea typeface="Courier New"/>
                <a:cs typeface="Courier New"/>
                <a:sym typeface="Courier New"/>
              </a:rPr>
              <a:t>ViewGroup</a:t>
            </a:r>
            <a:r>
              <a:rPr lang="en"/>
              <a:t>. </a:t>
            </a:r>
            <a:r>
              <a:rPr lang="en">
                <a:latin typeface="Courier New"/>
                <a:ea typeface="Courier New"/>
                <a:cs typeface="Courier New"/>
                <a:sym typeface="Courier New"/>
              </a:rPr>
              <a:t>LinearLayout</a:t>
            </a:r>
            <a:r>
              <a:rPr lang="en"/>
              <a:t> is the parent for the three child views (two </a:t>
            </a:r>
            <a:r>
              <a:rPr lang="en">
                <a:latin typeface="Courier New"/>
                <a:ea typeface="Courier New"/>
                <a:cs typeface="Courier New"/>
                <a:sym typeface="Courier New"/>
              </a:rPr>
              <a:t>TextViews</a:t>
            </a:r>
            <a:r>
              <a:rPr lang="en"/>
              <a:t> and a </a:t>
            </a:r>
            <a:r>
              <a:rPr lang="en">
                <a:latin typeface="Courier New"/>
                <a:ea typeface="Courier New"/>
                <a:cs typeface="Courier New"/>
                <a:sym typeface="Courier New"/>
              </a:rPr>
              <a:t>Button</a:t>
            </a:r>
            <a:r>
              <a:rPr lang="en"/>
              <a:t>).</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A </a:t>
            </a:r>
            <a:r>
              <a:rPr lang="en">
                <a:latin typeface="Courier New"/>
                <a:ea typeface="Courier New"/>
                <a:cs typeface="Courier New"/>
                <a:sym typeface="Courier New"/>
              </a:rPr>
              <a:t>LinearLayout</a:t>
            </a:r>
            <a:r>
              <a:rPr lang="en"/>
              <a:t> lays out child views in a row or column. The layout direction is determined by the orientation attribute on the </a:t>
            </a:r>
            <a:r>
              <a:rPr lang="en">
                <a:latin typeface="Courier New"/>
                <a:ea typeface="Courier New"/>
                <a:cs typeface="Courier New"/>
                <a:sym typeface="Courier New"/>
              </a:rPr>
              <a:t>LinearLayout</a:t>
            </a:r>
            <a:r>
              <a:rPr lang="en"/>
              <a:t>. In this case, the </a:t>
            </a:r>
            <a:r>
              <a:rPr lang="en">
                <a:latin typeface="Courier New"/>
                <a:ea typeface="Courier New"/>
                <a:cs typeface="Courier New"/>
                <a:sym typeface="Courier New"/>
              </a:rPr>
              <a:t>LinearLayout</a:t>
            </a:r>
            <a:r>
              <a:rPr lang="en"/>
              <a:t> has a “vertical”  orientation, so the layout will look like this diagram. Change the orientation to “horizontal” to have the views grouped in a horizontal row.</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b87ea636ca_0_7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b87ea636ca_0_7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We’ve talked about how views can have parent - child relationships if they’re placed within a </a:t>
            </a:r>
            <a:r>
              <a:rPr lang="en">
                <a:latin typeface="Courier New"/>
                <a:ea typeface="Courier New"/>
                <a:cs typeface="Courier New"/>
                <a:sym typeface="Courier New"/>
              </a:rPr>
              <a:t>ViewGroup</a:t>
            </a:r>
            <a:r>
              <a:rPr lang="en"/>
              <a:t>. </a:t>
            </a:r>
            <a:r>
              <a:rPr lang="en">
                <a:latin typeface="Courier New"/>
                <a:ea typeface="Courier New"/>
                <a:cs typeface="Courier New"/>
                <a:sym typeface="Courier New"/>
              </a:rPr>
              <a:t>ViewGroups</a:t>
            </a:r>
            <a:r>
              <a:rPr lang="en"/>
              <a:t> can also contain other </a:t>
            </a:r>
            <a:r>
              <a:rPr lang="en">
                <a:latin typeface="Courier New"/>
                <a:ea typeface="Courier New"/>
                <a:cs typeface="Courier New"/>
                <a:sym typeface="Courier New"/>
              </a:rPr>
              <a:t>ViewGroups</a:t>
            </a:r>
            <a:r>
              <a:rPr lang="en"/>
              <a:t>. This creates a hierarchy of views that represent the layout of what’s displayed on the screen (on the right).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b87ea636ca_0_7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b87ea636ca_0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addition to defining your own layouts, you can also add your own images, audio files, strings, app icon, and other resources to the app. Android provides a robust system to access them from anywhere in your app.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b87ea636ca_0_7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b87ea636ca_0_7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The </a:t>
            </a:r>
            <a:r>
              <a:rPr lang="en">
                <a:latin typeface="Courier New"/>
                <a:ea typeface="Courier New"/>
                <a:cs typeface="Courier New"/>
                <a:sym typeface="Courier New"/>
              </a:rPr>
              <a:t>drawable</a:t>
            </a:r>
            <a:r>
              <a:rPr lang="en"/>
              <a:t> directory stores all files related to drawing images and related assets.</a:t>
            </a:r>
            <a:endParaRPr/>
          </a:p>
          <a:p>
            <a:pPr marL="457200" lvl="0" indent="-298450" algn="l" rtl="0">
              <a:spcBef>
                <a:spcPts val="0"/>
              </a:spcBef>
              <a:spcAft>
                <a:spcPts val="0"/>
              </a:spcAft>
              <a:buSzPts val="1100"/>
              <a:buChar char="●"/>
            </a:pPr>
            <a:r>
              <a:rPr lang="en"/>
              <a:t>The </a:t>
            </a:r>
            <a:r>
              <a:rPr lang="en">
                <a:latin typeface="Courier New"/>
                <a:ea typeface="Courier New"/>
                <a:cs typeface="Courier New"/>
                <a:sym typeface="Courier New"/>
              </a:rPr>
              <a:t>layout</a:t>
            </a:r>
            <a:r>
              <a:rPr lang="en"/>
              <a:t> directory contains all the layout XML files for your application. There may be more than one if your app needs to handle different orientations or densities.</a:t>
            </a:r>
            <a:endParaRPr/>
          </a:p>
          <a:p>
            <a:pPr marL="457200" lvl="0" indent="-298450" algn="l" rtl="0">
              <a:spcBef>
                <a:spcPts val="0"/>
              </a:spcBef>
              <a:spcAft>
                <a:spcPts val="0"/>
              </a:spcAft>
              <a:buSzPts val="1100"/>
              <a:buChar char="●"/>
            </a:pPr>
            <a:r>
              <a:rPr lang="en"/>
              <a:t>The</a:t>
            </a:r>
            <a:r>
              <a:rPr lang="en" b="1"/>
              <a:t> </a:t>
            </a:r>
            <a:r>
              <a:rPr lang="en">
                <a:latin typeface="Courier New"/>
                <a:ea typeface="Courier New"/>
                <a:cs typeface="Courier New"/>
                <a:sym typeface="Courier New"/>
              </a:rPr>
              <a:t>mipmap</a:t>
            </a:r>
            <a:r>
              <a:rPr lang="en"/>
              <a:t> </a:t>
            </a:r>
            <a:r>
              <a:rPr lang="en">
                <a:solidFill>
                  <a:schemeClr val="dk1"/>
                </a:solidFill>
              </a:rPr>
              <a:t>directory </a:t>
            </a:r>
            <a:r>
              <a:rPr lang="en"/>
              <a:t>contains files for your app icon (known as your launcher icon) at different screen densities.</a:t>
            </a:r>
            <a:endParaRPr/>
          </a:p>
          <a:p>
            <a:pPr marL="457200" lvl="0" indent="-298450" algn="l" rtl="0">
              <a:spcBef>
                <a:spcPts val="0"/>
              </a:spcBef>
              <a:spcAft>
                <a:spcPts val="0"/>
              </a:spcAft>
              <a:buSzPts val="1100"/>
              <a:buChar char="●"/>
            </a:pPr>
            <a:r>
              <a:rPr lang="en"/>
              <a:t>The </a:t>
            </a:r>
            <a:r>
              <a:rPr lang="en">
                <a:latin typeface="Courier New"/>
                <a:ea typeface="Courier New"/>
                <a:cs typeface="Courier New"/>
                <a:sym typeface="Courier New"/>
              </a:rPr>
              <a:t>values</a:t>
            </a:r>
            <a:r>
              <a:rPr lang="en"/>
              <a:t> directory contains files related to simple collections of strings, colors, integers, and styles. If you are localizing your app, you might have more than one values directory.</a:t>
            </a:r>
            <a:endParaRPr/>
          </a:p>
          <a:p>
            <a:pPr marL="0" lvl="0" indent="0" algn="l" rtl="0">
              <a:spcBef>
                <a:spcPts val="0"/>
              </a:spcBef>
              <a:spcAft>
                <a:spcPts val="0"/>
              </a:spcAft>
              <a:buNone/>
            </a:pPr>
            <a:endParaRPr/>
          </a:p>
          <a:p>
            <a:pPr marL="0" lvl="0" indent="0" algn="l" rtl="0">
              <a:spcBef>
                <a:spcPts val="0"/>
              </a:spcBef>
              <a:spcAft>
                <a:spcPts val="0"/>
              </a:spcAft>
              <a:buNone/>
            </a:pPr>
            <a:r>
              <a:rPr lang="en"/>
              <a:t>There are more subdirectories that may appear in the resources directory, but these are the ones that will be present in almost every Android project.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b87ea636ca_0_7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b87ea636ca_0_7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b87ea636ca_0_7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b87ea636ca_0_7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you assign IDs to the views in your layout, you can access them using </a:t>
            </a:r>
            <a:r>
              <a:rPr lang="en">
                <a:latin typeface="Courier New"/>
                <a:ea typeface="Courier New"/>
                <a:cs typeface="Courier New"/>
                <a:sym typeface="Courier New"/>
              </a:rPr>
              <a:t>R.id.&lt;resource_name&gt;</a:t>
            </a:r>
            <a:r>
              <a:rPr lang="en"/>
              <a:t>. For example, this TextView has the resource ID name “</a:t>
            </a:r>
            <a:r>
              <a:rPr lang="en">
                <a:latin typeface="Consolas"/>
                <a:ea typeface="Consolas"/>
                <a:cs typeface="Consolas"/>
                <a:sym typeface="Consolas"/>
              </a:rPr>
              <a:t>helloTextView</a:t>
            </a:r>
            <a:r>
              <a:rPr lang="en"/>
              <a:t>” and you can refer to it in your app using </a:t>
            </a:r>
            <a:r>
              <a:rPr lang="en">
                <a:latin typeface="Courier New"/>
                <a:ea typeface="Courier New"/>
                <a:cs typeface="Courier New"/>
                <a:sym typeface="Courier New"/>
              </a:rPr>
              <a:t>R.id.helloTextView</a:t>
            </a:r>
            <a:r>
              <a:rPr lang="en"/>
              <a:t>. Be sure to use </a:t>
            </a:r>
            <a:r>
              <a:rPr lang="en" b="1"/>
              <a:t>unique resource names</a:t>
            </a:r>
            <a:r>
              <a:rPr lang="en"/>
              <a:t> so it is clear which element you want to refer to.</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b87ea636ca_0_7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b87ea636ca_0_7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b87ea636ca_0_7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b87ea636ca_0_7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Examples of activities: </a:t>
            </a:r>
            <a:endParaRPr/>
          </a:p>
          <a:p>
            <a:pPr marL="457200" lvl="0" indent="-298450" algn="l" rtl="0">
              <a:spcBef>
                <a:spcPts val="0"/>
              </a:spcBef>
              <a:spcAft>
                <a:spcPts val="0"/>
              </a:spcAft>
              <a:buSzPts val="1100"/>
              <a:buChar char="●"/>
            </a:pPr>
            <a:r>
              <a:rPr lang="en"/>
              <a:t>Displaying a list of emails</a:t>
            </a:r>
            <a:endParaRPr/>
          </a:p>
          <a:p>
            <a:pPr marL="457200" lvl="0" indent="-298450" algn="l" rtl="0">
              <a:spcBef>
                <a:spcPts val="0"/>
              </a:spcBef>
              <a:spcAft>
                <a:spcPts val="0"/>
              </a:spcAft>
              <a:buSzPts val="1100"/>
              <a:buChar char="●"/>
            </a:pPr>
            <a:r>
              <a:rPr lang="en"/>
              <a:t>Displaying details of one specific item</a:t>
            </a:r>
            <a:endParaRPr/>
          </a:p>
          <a:p>
            <a:pPr marL="457200" lvl="0" indent="-298450" algn="l" rtl="0">
              <a:spcBef>
                <a:spcPts val="0"/>
              </a:spcBef>
              <a:spcAft>
                <a:spcPts val="0"/>
              </a:spcAft>
              <a:buSzPts val="1100"/>
              <a:buChar char="●"/>
            </a:pPr>
            <a:r>
              <a:rPr lang="en"/>
              <a:t>Taking a photo using the camera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b87ea636ca_0_7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b87ea636ca_0_7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Let’s look at the code in </a:t>
            </a:r>
            <a:r>
              <a:rPr lang="en">
                <a:latin typeface="Courier New"/>
                <a:ea typeface="Courier New"/>
                <a:cs typeface="Courier New"/>
                <a:sym typeface="Courier New"/>
              </a:rPr>
              <a:t>MainActivity.kt</a:t>
            </a:r>
            <a:r>
              <a:rPr lang="en"/>
              <a:t>. This was automatically generated because we selected the Empty Activity template in the new project wizard. Notice that it says “class” MainActivity.</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It extends from the AppCompatActivity class, where we inherit behavior from the Android framework about how an Activity works. AppCompat for app compatibility ensures that newer features are available to legacy versions of Android.</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Within the class, we have one function that is overriding the </a:t>
            </a:r>
            <a:r>
              <a:rPr lang="en">
                <a:latin typeface="Courier New"/>
                <a:ea typeface="Courier New"/>
                <a:cs typeface="Courier New"/>
                <a:sym typeface="Courier New"/>
              </a:rPr>
              <a:t>onCreate</a:t>
            </a:r>
            <a:r>
              <a:rPr lang="en"/>
              <a:t> function that was defined in the superclass.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b87ea636ca_0_7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b87ea636ca_0_7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Instead of launching a program through the </a:t>
            </a:r>
            <a:r>
              <a:rPr lang="en">
                <a:latin typeface="Courier New"/>
                <a:ea typeface="Courier New"/>
                <a:cs typeface="Courier New"/>
                <a:sym typeface="Courier New"/>
              </a:rPr>
              <a:t>main()</a:t>
            </a:r>
            <a:r>
              <a:rPr lang="en"/>
              <a:t> function, as shown in earlier lessons, Android starts your app through an Activity instance.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Once the user taps your app icon on the device, Android opens your app by launching the main Activity of your app. Specifically, the </a:t>
            </a:r>
            <a:r>
              <a:rPr lang="en">
                <a:latin typeface="Courier New"/>
                <a:ea typeface="Courier New"/>
                <a:cs typeface="Courier New"/>
                <a:sym typeface="Courier New"/>
              </a:rPr>
              <a:t>onCreate()</a:t>
            </a:r>
            <a:r>
              <a:rPr lang="en"/>
              <a:t> method is called when your Activity is created. The </a:t>
            </a:r>
            <a:r>
              <a:rPr lang="en">
                <a:latin typeface="Courier New"/>
                <a:ea typeface="Courier New"/>
                <a:cs typeface="Courier New"/>
                <a:sym typeface="Courier New"/>
              </a:rPr>
              <a:t>onCreate()</a:t>
            </a:r>
            <a:r>
              <a:rPr lang="en"/>
              <a:t> method is just one of the Activity callback methods that is invoked from the system at certain stages of the Activity lifecycle. We’ll talk more about the lifecycle in a future lesson. For now, know that your Activity continues to run until the user or system takes action to shut it down. </a:t>
            </a:r>
            <a:endParaRPr/>
          </a:p>
          <a:p>
            <a:pPr marL="0" lvl="0" indent="0" algn="l" rtl="0">
              <a:spcBef>
                <a:spcPts val="0"/>
              </a:spcBef>
              <a:spcAft>
                <a:spcPts val="0"/>
              </a:spcAft>
              <a:buNone/>
            </a:pPr>
            <a:endParaRPr/>
          </a:p>
          <a:p>
            <a:pPr marL="0" lvl="0" indent="0" algn="l" rtl="0">
              <a:spcBef>
                <a:spcPts val="0"/>
              </a:spcBef>
              <a:spcAft>
                <a:spcPts val="0"/>
              </a:spcAft>
              <a:buNone/>
            </a:pPr>
            <a:r>
              <a:rPr lang="en" b="1"/>
              <a:t>Resource:</a:t>
            </a:r>
            <a:endParaRPr b="1"/>
          </a:p>
          <a:p>
            <a:pPr marL="457200" lvl="0" indent="-298450" algn="l" rtl="0">
              <a:spcBef>
                <a:spcPts val="0"/>
              </a:spcBef>
              <a:spcAft>
                <a:spcPts val="0"/>
              </a:spcAft>
              <a:buSzPts val="1100"/>
              <a:buChar char="●"/>
            </a:pPr>
            <a:r>
              <a:rPr lang="en" u="sng">
                <a:solidFill>
                  <a:srgbClr val="1155CC"/>
                </a:solidFill>
                <a:hlinkClick r:id="rId3">
                  <a:extLst>
                    <a:ext uri="{A12FA001-AC4F-418D-AE19-62706E023703}">
                      <ahyp:hlinkClr xmlns:ahyp="http://schemas.microsoft.com/office/drawing/2018/hyperlinkcolor" val="tx"/>
                    </a:ext>
                  </a:extLst>
                </a:hlinkClick>
              </a:rPr>
              <a:t>Introduction to Activities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b87ea636ca_0_7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b87ea636ca_0_7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Here’s what the </a:t>
            </a:r>
            <a:r>
              <a:rPr lang="en">
                <a:latin typeface="Courier New"/>
                <a:ea typeface="Courier New"/>
                <a:cs typeface="Courier New"/>
                <a:sym typeface="Courier New"/>
              </a:rPr>
              <a:t>onCreate()</a:t>
            </a:r>
            <a:r>
              <a:rPr lang="en"/>
              <a:t> method looks like in the </a:t>
            </a:r>
            <a:r>
              <a:rPr lang="en">
                <a:latin typeface="Courier New"/>
                <a:ea typeface="Courier New"/>
                <a:cs typeface="Courier New"/>
                <a:sym typeface="Courier New"/>
              </a:rPr>
              <a:t>MainActivity.kt</a:t>
            </a:r>
            <a:r>
              <a:rPr lang="en"/>
              <a:t> file of our sample app. In this callback method, we call into the superclass </a:t>
            </a:r>
            <a:r>
              <a:rPr lang="en">
                <a:latin typeface="Courier New"/>
                <a:ea typeface="Courier New"/>
                <a:cs typeface="Courier New"/>
                <a:sym typeface="Courier New"/>
              </a:rPr>
              <a:t>onCreate()</a:t>
            </a:r>
            <a:r>
              <a:rPr lang="en">
                <a:latin typeface="Roboto"/>
                <a:ea typeface="Roboto"/>
                <a:cs typeface="Roboto"/>
                <a:sym typeface="Roboto"/>
              </a:rPr>
              <a:t> </a:t>
            </a:r>
            <a:r>
              <a:rPr lang="en"/>
              <a:t>method to set up the Activity. The Android framework handles a lot of this complexity for us. Then we call </a:t>
            </a:r>
            <a:r>
              <a:rPr lang="en">
                <a:latin typeface="Courier New"/>
                <a:ea typeface="Courier New"/>
                <a:cs typeface="Courier New"/>
                <a:sym typeface="Courier New"/>
              </a:rPr>
              <a:t>setContentView()</a:t>
            </a:r>
            <a:r>
              <a:rPr lang="en"/>
              <a:t> so that the layout defined in the </a:t>
            </a:r>
            <a:r>
              <a:rPr lang="en">
                <a:latin typeface="Courier New"/>
                <a:ea typeface="Courier New"/>
                <a:cs typeface="Courier New"/>
                <a:sym typeface="Courier New"/>
              </a:rPr>
              <a:t>activity_main.xml</a:t>
            </a:r>
            <a:r>
              <a:rPr lang="en"/>
              <a:t> file is displayed in the Activity. Let’s look at what happens when we call </a:t>
            </a:r>
            <a:r>
              <a:rPr lang="en">
                <a:latin typeface="Courier New"/>
                <a:ea typeface="Courier New"/>
                <a:cs typeface="Courier New"/>
                <a:sym typeface="Courier New"/>
              </a:rPr>
              <a:t>setContentView</a:t>
            </a:r>
            <a:r>
              <a:rPr lang="en"/>
              <a:t> with a layout resource ID.</a:t>
            </a:r>
            <a:endParaRPr/>
          </a:p>
          <a:p>
            <a:pPr marL="0" lvl="0" indent="0" algn="l" rtl="0">
              <a:spcBef>
                <a:spcPts val="0"/>
              </a:spcBef>
              <a:spcAft>
                <a:spcPts val="0"/>
              </a:spcAft>
              <a:buNone/>
            </a:pPr>
            <a:endParaRPr/>
          </a:p>
          <a:p>
            <a:pPr marL="0" lvl="0" indent="0" algn="l" rtl="0">
              <a:spcBef>
                <a:spcPts val="0"/>
              </a:spcBef>
              <a:spcAft>
                <a:spcPts val="0"/>
              </a:spcAft>
              <a:buNone/>
            </a:pPr>
            <a:r>
              <a:rPr lang="en" b="1"/>
              <a:t>Resource:</a:t>
            </a:r>
            <a:endParaRPr b="1"/>
          </a:p>
          <a:p>
            <a:pPr marL="457200" lvl="0" indent="-298450" algn="l" rtl="0">
              <a:spcBef>
                <a:spcPts val="0"/>
              </a:spcBef>
              <a:spcAft>
                <a:spcPts val="0"/>
              </a:spcAft>
              <a:buSzPts val="1100"/>
              <a:buChar char="●"/>
            </a:pPr>
            <a:r>
              <a:rPr lang="en" u="sng">
                <a:solidFill>
                  <a:schemeClr val="hlink"/>
                </a:solidFill>
                <a:hlinkClick r:id="rId3"/>
              </a:rPr>
              <a:t>onCreate()</a:t>
            </a:r>
            <a:endParaRPr/>
          </a:p>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b87ea636ca_0_8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b87ea636ca_0_8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layout XML file is parsed by a </a:t>
            </a:r>
            <a:r>
              <a:rPr lang="en">
                <a:latin typeface="Courier New"/>
                <a:ea typeface="Courier New"/>
                <a:cs typeface="Courier New"/>
                <a:sym typeface="Courier New"/>
              </a:rPr>
              <a:t>LayoutInflater</a:t>
            </a:r>
            <a:r>
              <a:rPr lang="en"/>
              <a:t> and a hierarchy of </a:t>
            </a:r>
            <a:r>
              <a:rPr lang="en">
                <a:latin typeface="Courier New"/>
                <a:ea typeface="Courier New"/>
                <a:cs typeface="Courier New"/>
                <a:sym typeface="Courier New"/>
              </a:rPr>
              <a:t>View</a:t>
            </a:r>
            <a:r>
              <a:rPr lang="en"/>
              <a:t> objects is created to be displayed in the Activity. This process is called </a:t>
            </a:r>
            <a:r>
              <a:rPr lang="en" b="1"/>
              <a:t>layout inflation</a:t>
            </a:r>
            <a:r>
              <a:rPr lang="en"/>
              <a:t>.</a:t>
            </a:r>
            <a:endParaRPr/>
          </a:p>
          <a:p>
            <a:pPr marL="0" lvl="0" indent="0" algn="l" rtl="0">
              <a:spcBef>
                <a:spcPts val="0"/>
              </a:spcBef>
              <a:spcAft>
                <a:spcPts val="0"/>
              </a:spcAft>
              <a:buNone/>
            </a:pPr>
            <a:endParaRPr/>
          </a:p>
          <a:p>
            <a:pPr marL="0" lvl="0" indent="0" algn="l" rtl="0">
              <a:spcBef>
                <a:spcPts val="0"/>
              </a:spcBef>
              <a:spcAft>
                <a:spcPts val="0"/>
              </a:spcAft>
              <a:buNone/>
            </a:pPr>
            <a:r>
              <a:rPr lang="en" b="1"/>
              <a:t>Resource:</a:t>
            </a:r>
            <a:endParaRPr b="1"/>
          </a:p>
          <a:p>
            <a:pPr marL="457200" marR="360045" lvl="0" indent="-298450" algn="l" rtl="0">
              <a:spcBef>
                <a:spcPts val="0"/>
              </a:spcBef>
              <a:spcAft>
                <a:spcPts val="1415"/>
              </a:spcAft>
              <a:buSzPts val="1100"/>
              <a:buChar char="●"/>
            </a:pPr>
            <a:r>
              <a:rPr lang="en" u="sng">
                <a:solidFill>
                  <a:schemeClr val="hlink"/>
                </a:solidFill>
                <a:hlinkClick r:id="rId3"/>
              </a:rPr>
              <a:t>setContentView</a:t>
            </a:r>
            <a:r>
              <a:rPr lang="en" sz="1200">
                <a:solidFill>
                  <a:schemeClr val="dk1"/>
                </a:solidFill>
                <a:latin typeface="Times New Roman"/>
                <a:ea typeface="Times New Roman"/>
                <a:cs typeface="Times New Roman"/>
                <a:sym typeface="Times New Roman"/>
              </a:rPr>
              <a:t>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b87ea636ca_0_8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b87ea636ca_0_8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So far, we’ve talked about what goes into displaying a layout in your app. But eventually you'll want an app that can respond to user input, and provide different behavior accordingly.</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b87ea636ca_0_8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b87ea636ca_0_8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define how your app will behave in the Activity file of your app. For example, you can modify the MainActivity so that the "Hello World" is displayed when the button is tapped.</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b87ea636ca_0_8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b87ea636ca_0_8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Within the MainActivity, you can also dynamically modify the views in your layout. For example, you can get a reference to the TextView object instance in your View hierarchy using the </a:t>
            </a:r>
            <a:r>
              <a:rPr lang="en">
                <a:latin typeface="Courier New"/>
                <a:ea typeface="Courier New"/>
                <a:cs typeface="Courier New"/>
                <a:sym typeface="Courier New"/>
              </a:rPr>
              <a:t>findViewById()</a:t>
            </a:r>
            <a:r>
              <a:rPr lang="en"/>
              <a:t> method, and passing in the resource ID for that TextView. Then you can change properties or call methods on the TextView. For example, setting </a:t>
            </a:r>
            <a:r>
              <a:rPr lang="en">
                <a:latin typeface="Courier New"/>
                <a:ea typeface="Courier New"/>
                <a:cs typeface="Courier New"/>
                <a:sym typeface="Courier New"/>
              </a:rPr>
              <a:t>resultTextView.text</a:t>
            </a:r>
            <a:r>
              <a:rPr lang="en"/>
              <a:t> equal to the “</a:t>
            </a:r>
            <a:r>
              <a:rPr lang="en">
                <a:latin typeface="Courier New"/>
                <a:ea typeface="Courier New"/>
                <a:cs typeface="Courier New"/>
                <a:sym typeface="Courier New"/>
              </a:rPr>
              <a:t>Goodbye!</a:t>
            </a:r>
            <a:r>
              <a:rPr lang="en"/>
              <a:t>” string changes what gets displayed in the TextView.</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b87ea636ca_0_8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b87ea636ca_0_8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also set up listeners for certain things to happen based on user input. The base </a:t>
            </a:r>
            <a:r>
              <a:rPr lang="en">
                <a:latin typeface="Courier New"/>
                <a:ea typeface="Courier New"/>
                <a:cs typeface="Courier New"/>
                <a:sym typeface="Courier New"/>
              </a:rPr>
              <a:t>View</a:t>
            </a:r>
            <a:r>
              <a:rPr lang="en"/>
              <a:t> class has a set of events that you can register callbacks to respond to. </a:t>
            </a:r>
            <a:r>
              <a:rPr lang="en">
                <a:latin typeface="Courier New"/>
                <a:ea typeface="Courier New"/>
                <a:cs typeface="Courier New"/>
                <a:sym typeface="Courier New"/>
              </a:rPr>
              <a:t>View.OnClickListener</a:t>
            </a:r>
            <a:r>
              <a:rPr lang="en"/>
              <a:t> is the one you’ll interact with the most.</a:t>
            </a:r>
            <a:endParaRPr/>
          </a:p>
          <a:p>
            <a:pPr marL="0" lvl="0" indent="0" algn="l" rtl="0">
              <a:spcBef>
                <a:spcPts val="0"/>
              </a:spcBef>
              <a:spcAft>
                <a:spcPts val="0"/>
              </a:spcAft>
              <a:buNone/>
            </a:pPr>
            <a:endParaRPr/>
          </a:p>
          <a:p>
            <a:pPr marL="0" lvl="0" indent="0" algn="l" rtl="0">
              <a:spcBef>
                <a:spcPts val="0"/>
              </a:spcBef>
              <a:spcAft>
                <a:spcPts val="0"/>
              </a:spcAft>
              <a:buNone/>
            </a:pPr>
            <a:r>
              <a:rPr lang="en" b="1"/>
              <a:t>Resource:</a:t>
            </a:r>
            <a:endParaRPr b="1"/>
          </a:p>
          <a:p>
            <a:pPr marL="457200" marR="360045" lvl="0" indent="-298450" algn="l" rtl="0">
              <a:spcBef>
                <a:spcPts val="0"/>
              </a:spcBef>
              <a:spcAft>
                <a:spcPts val="0"/>
              </a:spcAft>
              <a:buSzPts val="1100"/>
              <a:buFont typeface="Roboto"/>
              <a:buChar char="●"/>
            </a:pPr>
            <a:r>
              <a:rPr lang="en" u="sng">
                <a:solidFill>
                  <a:srgbClr val="1155CC"/>
                </a:solidFill>
                <a:latin typeface="Roboto"/>
                <a:ea typeface="Roboto"/>
                <a:cs typeface="Roboto"/>
                <a:sym typeface="Roboto"/>
                <a:hlinkClick r:id="rId3">
                  <a:extLst>
                    <a:ext uri="{A12FA001-AC4F-418D-AE19-62706E023703}">
                      <ahyp:hlinkClr xmlns:ahyp="http://schemas.microsoft.com/office/drawing/2018/hyperlinkcolor" val="tx"/>
                    </a:ext>
                  </a:extLst>
                </a:hlinkClick>
              </a:rPr>
              <a:t>View.OnClickListener</a:t>
            </a:r>
            <a:r>
              <a:rPr lang="en">
                <a:solidFill>
                  <a:schemeClr val="dk1"/>
                </a:solidFill>
                <a:latin typeface="Roboto"/>
                <a:ea typeface="Roboto"/>
                <a:cs typeface="Roboto"/>
                <a:sym typeface="Roboto"/>
              </a:rPr>
              <a:t> </a:t>
            </a:r>
            <a:endParaRPr>
              <a:latin typeface="Roboto"/>
              <a:ea typeface="Roboto"/>
              <a:cs typeface="Roboto"/>
              <a:sym typeface="Roboto"/>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b87ea636ca_0_8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b87ea636ca_0_8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360045" lvl="0" indent="0" algn="l" rtl="0">
              <a:spcBef>
                <a:spcPts val="0"/>
              </a:spcBef>
              <a:spcAft>
                <a:spcPts val="0"/>
              </a:spcAft>
              <a:buClr>
                <a:schemeClr val="dk1"/>
              </a:buClr>
              <a:buSzPts val="1100"/>
              <a:buFont typeface="Arial"/>
              <a:buNone/>
            </a:pPr>
            <a:r>
              <a:rPr lang="en">
                <a:solidFill>
                  <a:schemeClr val="dk1"/>
                </a:solidFill>
              </a:rPr>
              <a:t>Let’s look at the code for how to set an </a:t>
            </a:r>
            <a:r>
              <a:rPr lang="en">
                <a:solidFill>
                  <a:schemeClr val="dk1"/>
                </a:solidFill>
                <a:latin typeface="Courier New"/>
                <a:ea typeface="Courier New"/>
                <a:cs typeface="Courier New"/>
                <a:sym typeface="Courier New"/>
              </a:rPr>
              <a:t>OnClickListener</a:t>
            </a:r>
            <a:r>
              <a:rPr lang="en">
                <a:solidFill>
                  <a:schemeClr val="dk1"/>
                </a:solidFill>
              </a:rPr>
              <a:t> on a View.</a:t>
            </a:r>
            <a:endParaRPr>
              <a:solidFill>
                <a:schemeClr val="dk1"/>
              </a:solidFill>
            </a:endParaRPr>
          </a:p>
          <a:p>
            <a:pPr marL="0" marR="360045" lvl="0" indent="0" algn="l" rtl="0">
              <a:spcBef>
                <a:spcPts val="1415"/>
              </a:spcBef>
              <a:spcAft>
                <a:spcPts val="0"/>
              </a:spcAft>
              <a:buClr>
                <a:schemeClr val="dk1"/>
              </a:buClr>
              <a:buSzPts val="1100"/>
              <a:buFont typeface="Arial"/>
              <a:buNone/>
            </a:pPr>
            <a:r>
              <a:rPr lang="en">
                <a:solidFill>
                  <a:schemeClr val="dk1"/>
                </a:solidFill>
              </a:rPr>
              <a:t>First we need to create the </a:t>
            </a:r>
            <a:r>
              <a:rPr lang="en">
                <a:solidFill>
                  <a:schemeClr val="dk1"/>
                </a:solidFill>
                <a:latin typeface="Courier New"/>
                <a:ea typeface="Courier New"/>
                <a:cs typeface="Courier New"/>
                <a:sym typeface="Courier New"/>
              </a:rPr>
              <a:t>OnClickListener</a:t>
            </a:r>
            <a:r>
              <a:rPr lang="en">
                <a:solidFill>
                  <a:schemeClr val="dk1"/>
                </a:solidFill>
              </a:rPr>
              <a:t>. In this case, we have the </a:t>
            </a:r>
            <a:r>
              <a:rPr lang="en">
                <a:solidFill>
                  <a:schemeClr val="dk1"/>
                </a:solidFill>
                <a:latin typeface="Courier New"/>
                <a:ea typeface="Courier New"/>
                <a:cs typeface="Courier New"/>
                <a:sym typeface="Courier New"/>
              </a:rPr>
              <a:t>MainActivity</a:t>
            </a:r>
            <a:r>
              <a:rPr lang="en">
                <a:solidFill>
                  <a:schemeClr val="dk1"/>
                </a:solidFill>
              </a:rPr>
              <a:t> implement the </a:t>
            </a:r>
            <a:r>
              <a:rPr lang="en">
                <a:solidFill>
                  <a:schemeClr val="dk1"/>
                </a:solidFill>
                <a:latin typeface="Courier New"/>
                <a:ea typeface="Courier New"/>
                <a:cs typeface="Courier New"/>
                <a:sym typeface="Courier New"/>
              </a:rPr>
              <a:t>OnClickListener</a:t>
            </a:r>
            <a:r>
              <a:rPr lang="en">
                <a:solidFill>
                  <a:schemeClr val="dk1"/>
                </a:solidFill>
              </a:rPr>
              <a:t> interface, and override the </a:t>
            </a:r>
            <a:r>
              <a:rPr lang="en">
                <a:solidFill>
                  <a:schemeClr val="dk1"/>
                </a:solidFill>
                <a:latin typeface="Courier New"/>
                <a:ea typeface="Courier New"/>
                <a:cs typeface="Courier New"/>
                <a:sym typeface="Courier New"/>
              </a:rPr>
              <a:t>onClick()</a:t>
            </a:r>
            <a:r>
              <a:rPr lang="en">
                <a:solidFill>
                  <a:schemeClr val="dk1"/>
                </a:solidFill>
              </a:rPr>
              <a:t> method. </a:t>
            </a:r>
            <a:endParaRPr>
              <a:solidFill>
                <a:schemeClr val="dk1"/>
              </a:solidFill>
            </a:endParaRPr>
          </a:p>
          <a:p>
            <a:pPr marL="0" marR="360045" lvl="0" indent="0" algn="l" rtl="0">
              <a:spcBef>
                <a:spcPts val="1415"/>
              </a:spcBef>
              <a:spcAft>
                <a:spcPts val="0"/>
              </a:spcAft>
              <a:buClr>
                <a:schemeClr val="dk1"/>
              </a:buClr>
              <a:buSzPts val="1100"/>
              <a:buFont typeface="Arial"/>
              <a:buNone/>
            </a:pPr>
            <a:r>
              <a:rPr lang="en">
                <a:solidFill>
                  <a:schemeClr val="dk1"/>
                </a:solidFill>
              </a:rPr>
              <a:t>Then we set the click listener (</a:t>
            </a:r>
            <a:r>
              <a:rPr lang="en">
                <a:solidFill>
                  <a:schemeClr val="dk1"/>
                </a:solidFill>
                <a:latin typeface="Courier New"/>
                <a:ea typeface="Courier New"/>
                <a:cs typeface="Courier New"/>
                <a:sym typeface="Courier New"/>
              </a:rPr>
              <a:t>this</a:t>
            </a:r>
            <a:r>
              <a:rPr lang="en">
                <a:solidFill>
                  <a:schemeClr val="dk1"/>
                </a:solidFill>
              </a:rPr>
              <a:t>) on the </a:t>
            </a:r>
            <a:r>
              <a:rPr lang="en">
                <a:solidFill>
                  <a:schemeClr val="dk1"/>
                </a:solidFill>
                <a:latin typeface="Courier New"/>
                <a:ea typeface="Courier New"/>
                <a:cs typeface="Courier New"/>
                <a:sym typeface="Courier New"/>
              </a:rPr>
              <a:t>Button</a:t>
            </a:r>
            <a:r>
              <a:rPr lang="en">
                <a:solidFill>
                  <a:schemeClr val="dk1"/>
                </a:solidFill>
              </a:rPr>
              <a:t> when the Activity is created.</a:t>
            </a:r>
            <a:endParaRPr>
              <a:solidFill>
                <a:schemeClr val="dk1"/>
              </a:solidFill>
            </a:endParaRPr>
          </a:p>
          <a:p>
            <a:pPr marL="0" marR="360045" lvl="0" indent="0" algn="l" rtl="0">
              <a:spcBef>
                <a:spcPts val="1415"/>
              </a:spcBef>
              <a:spcAft>
                <a:spcPts val="0"/>
              </a:spcAft>
              <a:buNone/>
            </a:pPr>
            <a:r>
              <a:rPr lang="en">
                <a:solidFill>
                  <a:schemeClr val="dk1"/>
                </a:solidFill>
              </a:rPr>
              <a:t>Note that the </a:t>
            </a:r>
            <a:r>
              <a:rPr lang="en">
                <a:solidFill>
                  <a:schemeClr val="dk1"/>
                </a:solidFill>
                <a:latin typeface="Courier New"/>
                <a:ea typeface="Courier New"/>
                <a:cs typeface="Courier New"/>
                <a:sym typeface="Courier New"/>
              </a:rPr>
              <a:t>onClick()</a:t>
            </a:r>
            <a:r>
              <a:rPr lang="en">
                <a:solidFill>
                  <a:schemeClr val="dk1"/>
                </a:solidFill>
              </a:rPr>
              <a:t> method takes the View as a parameter allowing you to use the same </a:t>
            </a:r>
            <a:r>
              <a:rPr lang="en">
                <a:solidFill>
                  <a:schemeClr val="dk1"/>
                </a:solidFill>
                <a:latin typeface="Courier New"/>
                <a:ea typeface="Courier New"/>
                <a:cs typeface="Courier New"/>
                <a:sym typeface="Courier New"/>
              </a:rPr>
              <a:t>onClick()</a:t>
            </a:r>
            <a:r>
              <a:rPr lang="en">
                <a:solidFill>
                  <a:schemeClr val="dk1"/>
                </a:solidFill>
              </a:rPr>
              <a:t> function with different views. </a:t>
            </a:r>
            <a:endParaRPr>
              <a:solidFill>
                <a:schemeClr val="dk1"/>
              </a:solidFill>
            </a:endParaRPr>
          </a:p>
          <a:p>
            <a:pPr marL="0" marR="360045" lvl="0" indent="0" algn="l" rtl="0">
              <a:spcBef>
                <a:spcPts val="1415"/>
              </a:spcBef>
              <a:spcAft>
                <a:spcPts val="0"/>
              </a:spcAft>
              <a:buClr>
                <a:schemeClr val="dk1"/>
              </a:buClr>
              <a:buSzPts val="1100"/>
              <a:buFont typeface="Arial"/>
              <a:buNone/>
            </a:pPr>
            <a:r>
              <a:rPr lang="en" b="1">
                <a:solidFill>
                  <a:schemeClr val="dk1"/>
                </a:solidFill>
              </a:rPr>
              <a:t>Resources:</a:t>
            </a:r>
            <a:endParaRPr b="1">
              <a:solidFill>
                <a:schemeClr val="dk1"/>
              </a:solidFill>
            </a:endParaRPr>
          </a:p>
          <a:p>
            <a:pPr marL="457200" marR="360045" lvl="0" indent="-298450" algn="l" rtl="0">
              <a:spcBef>
                <a:spcPts val="0"/>
              </a:spcBef>
              <a:spcAft>
                <a:spcPts val="0"/>
              </a:spcAft>
              <a:buSzPts val="1100"/>
              <a:buChar char="●"/>
            </a:pPr>
            <a:r>
              <a:rPr lang="en" u="sng">
                <a:solidFill>
                  <a:schemeClr val="hlink"/>
                </a:solidFill>
                <a:hlinkClick r:id="rId3"/>
              </a:rPr>
              <a:t>View.OnClickListener</a:t>
            </a:r>
            <a:r>
              <a:rPr lang="en">
                <a:solidFill>
                  <a:schemeClr val="dk1"/>
                </a:solidFill>
              </a:rPr>
              <a:t>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b87ea636ca_0_8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b87ea636ca_0_8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Transition: 1 click</a:t>
            </a:r>
            <a:endParaRPr b="1"/>
          </a:p>
          <a:p>
            <a:pPr marL="0" lvl="0" indent="0" algn="l" rtl="0">
              <a:spcBef>
                <a:spcPts val="0"/>
              </a:spcBef>
              <a:spcAft>
                <a:spcPts val="0"/>
              </a:spcAft>
              <a:buNone/>
            </a:pPr>
            <a:endParaRPr/>
          </a:p>
          <a:p>
            <a:pPr marL="0" lvl="0" indent="0" algn="l" rtl="0">
              <a:spcBef>
                <a:spcPts val="0"/>
              </a:spcBef>
              <a:spcAft>
                <a:spcPts val="0"/>
              </a:spcAft>
              <a:buNone/>
            </a:pPr>
            <a:r>
              <a:rPr lang="en"/>
              <a:t>Another way to define an </a:t>
            </a:r>
            <a:r>
              <a:rPr lang="en">
                <a:latin typeface="Courier New"/>
                <a:ea typeface="Courier New"/>
                <a:cs typeface="Courier New"/>
                <a:sym typeface="Courier New"/>
              </a:rPr>
              <a:t>OnClickListener</a:t>
            </a:r>
            <a:r>
              <a:rPr lang="en"/>
              <a:t> is creating a class that implements the interface.  Since the interface for </a:t>
            </a:r>
            <a:r>
              <a:rPr lang="en">
                <a:latin typeface="Courier New"/>
                <a:ea typeface="Courier New"/>
                <a:cs typeface="Courier New"/>
                <a:sym typeface="Courier New"/>
              </a:rPr>
              <a:t>View.OnClickListener</a:t>
            </a:r>
            <a:r>
              <a:rPr lang="en"/>
              <a:t> has a single </a:t>
            </a:r>
            <a:r>
              <a:rPr lang="en" b="1"/>
              <a:t>Single Abstract Method (SAM)</a:t>
            </a:r>
            <a:r>
              <a:rPr lang="en"/>
              <a:t>, Kotlin function literals can be automatically converted into an implementation of this interface.  (The parameter types of the interface method must match the parameter types of the Kotlin function.)</a:t>
            </a:r>
            <a:endParaRPr/>
          </a:p>
          <a:p>
            <a:pPr marL="0" lvl="0" indent="0" algn="l" rtl="0">
              <a:spcBef>
                <a:spcPts val="0"/>
              </a:spcBef>
              <a:spcAft>
                <a:spcPts val="0"/>
              </a:spcAft>
              <a:buNone/>
            </a:pPr>
            <a:endParaRPr/>
          </a:p>
          <a:p>
            <a:pPr marL="0" lvl="0" indent="0" algn="l" rtl="0">
              <a:spcBef>
                <a:spcPts val="0"/>
              </a:spcBef>
              <a:spcAft>
                <a:spcPts val="0"/>
              </a:spcAft>
              <a:buNone/>
            </a:pPr>
            <a:r>
              <a:rPr lang="en" b="1"/>
              <a:t>Resource:</a:t>
            </a:r>
            <a:endParaRPr b="1"/>
          </a:p>
          <a:p>
            <a:pPr marL="457200" marR="360045" lvl="0" indent="-304800" algn="l" rtl="0">
              <a:spcBef>
                <a:spcPts val="0"/>
              </a:spcBef>
              <a:spcAft>
                <a:spcPts val="0"/>
              </a:spcAft>
              <a:buSzPts val="1200"/>
              <a:buFont typeface="Times New Roman"/>
              <a:buChar char="●"/>
            </a:pPr>
            <a:r>
              <a:rPr lang="en" u="sng">
                <a:solidFill>
                  <a:schemeClr val="hlink"/>
                </a:solidFill>
                <a:hlinkClick r:id="rId3"/>
              </a:rPr>
              <a:t>SAM Conversions</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b87ea636ca_0_8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b87ea636ca_0_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b87ea636ca_0_8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b87ea636ca_0_8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360045" lvl="0" indent="0" algn="l" rtl="0">
              <a:spcBef>
                <a:spcPts val="0"/>
              </a:spcBef>
              <a:spcAft>
                <a:spcPts val="0"/>
              </a:spcAft>
              <a:buClr>
                <a:schemeClr val="dk1"/>
              </a:buClr>
              <a:buSzPts val="1100"/>
              <a:buFont typeface="Arial"/>
              <a:buNone/>
            </a:pPr>
            <a:r>
              <a:rPr lang="en">
                <a:solidFill>
                  <a:schemeClr val="dk1"/>
                </a:solidFill>
              </a:rPr>
              <a:t>Let’s talk about one more Kotlin concept that we can leverage.</a:t>
            </a:r>
            <a:endParaRPr>
              <a:solidFill>
                <a:schemeClr val="dk1"/>
              </a:solidFill>
            </a:endParaRPr>
          </a:p>
          <a:p>
            <a:pPr marL="0" marR="360045" lvl="0" indent="0" algn="l" rtl="0">
              <a:spcBef>
                <a:spcPts val="1415"/>
              </a:spcBef>
              <a:spcAft>
                <a:spcPts val="0"/>
              </a:spcAft>
              <a:buClr>
                <a:schemeClr val="dk1"/>
              </a:buClr>
              <a:buSzPts val="1100"/>
              <a:buFont typeface="Arial"/>
              <a:buNone/>
            </a:pPr>
            <a:r>
              <a:rPr lang="en">
                <a:solidFill>
                  <a:schemeClr val="dk1"/>
                </a:solidFill>
              </a:rPr>
              <a:t>In the last lesson, we learned that Kotlin has a strong preference for null safety. As you're creating apps, you’ll find yourself needing to create properties or fields that may depend on function calls such as onCreate. One option is to make the type nullable and set the initial value to null. That means each use would need to have a null check. You can avoid having to do this by using </a:t>
            </a:r>
            <a:r>
              <a:rPr lang="en">
                <a:solidFill>
                  <a:schemeClr val="dk1"/>
                </a:solidFill>
                <a:latin typeface="Courier New"/>
                <a:ea typeface="Courier New"/>
                <a:cs typeface="Courier New"/>
                <a:sym typeface="Courier New"/>
              </a:rPr>
              <a:t>lateinit</a:t>
            </a:r>
            <a:r>
              <a:rPr lang="en">
                <a:solidFill>
                  <a:schemeClr val="dk1"/>
                </a:solidFill>
              </a:rPr>
              <a:t>, which just tells the Kotlin compiler that you're responsible for the initialization. If you attempt to use your </a:t>
            </a:r>
            <a:r>
              <a:rPr lang="en">
                <a:solidFill>
                  <a:schemeClr val="dk1"/>
                </a:solidFill>
                <a:latin typeface="Courier New"/>
                <a:ea typeface="Courier New"/>
                <a:cs typeface="Courier New"/>
                <a:sym typeface="Courier New"/>
              </a:rPr>
              <a:t>lateinit</a:t>
            </a:r>
            <a:r>
              <a:rPr lang="en">
                <a:solidFill>
                  <a:schemeClr val="dk1"/>
                </a:solidFill>
              </a:rPr>
              <a:t> field or property before initializing, an exception will be thrown.</a:t>
            </a:r>
            <a:endParaRPr>
              <a:solidFill>
                <a:schemeClr val="dk1"/>
              </a:solidFill>
            </a:endParaRPr>
          </a:p>
          <a:p>
            <a:pPr marL="0" marR="360045" lvl="0" indent="0" algn="l" rtl="0">
              <a:spcBef>
                <a:spcPts val="1415"/>
              </a:spcBef>
              <a:spcAft>
                <a:spcPts val="0"/>
              </a:spcAft>
              <a:buClr>
                <a:schemeClr val="dk1"/>
              </a:buClr>
              <a:buSzPts val="1100"/>
              <a:buFont typeface="Arial"/>
              <a:buNone/>
            </a:pPr>
            <a:r>
              <a:rPr lang="en" b="1">
                <a:solidFill>
                  <a:schemeClr val="dk1"/>
                </a:solidFill>
              </a:rPr>
              <a:t>Resource:</a:t>
            </a:r>
            <a:endParaRPr b="1">
              <a:solidFill>
                <a:schemeClr val="dk1"/>
              </a:solidFill>
            </a:endParaRPr>
          </a:p>
          <a:p>
            <a:pPr marL="457200" marR="360045" lvl="0" indent="-298450" algn="l" rtl="0">
              <a:spcBef>
                <a:spcPts val="0"/>
              </a:spcBef>
              <a:spcAft>
                <a:spcPts val="0"/>
              </a:spcAft>
              <a:buClr>
                <a:schemeClr val="dk1"/>
              </a:buClr>
              <a:buSzPts val="1100"/>
              <a:buChar char="●"/>
            </a:pPr>
            <a:r>
              <a:rPr lang="en" u="sng">
                <a:solidFill>
                  <a:srgbClr val="1155CC"/>
                </a:solidFill>
                <a:hlinkClick r:id="rId3">
                  <a:extLst>
                    <a:ext uri="{A12FA001-AC4F-418D-AE19-62706E023703}">
                      <ahyp:hlinkClr xmlns:ahyp="http://schemas.microsoft.com/office/drawing/2018/hyperlinkcolor" val="tx"/>
                    </a:ext>
                  </a:extLst>
                </a:hlinkClick>
              </a:rPr>
              <a:t>lateinit</a:t>
            </a:r>
            <a:r>
              <a:rPr lang="en">
                <a:solidFill>
                  <a:schemeClr val="dk1"/>
                </a:solidFill>
              </a:rPr>
              <a:t>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b87ea636ca_0_8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b87ea636ca_0_8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360045" lvl="0" indent="0" algn="l" rtl="0">
              <a:spcBef>
                <a:spcPts val="0"/>
              </a:spcBef>
              <a:spcAft>
                <a:spcPts val="1415"/>
              </a:spcAft>
              <a:buNone/>
            </a:pPr>
            <a:r>
              <a:rPr lang="en"/>
              <a:t>In our </a:t>
            </a:r>
            <a:r>
              <a:rPr lang="en">
                <a:latin typeface="Courier New"/>
                <a:ea typeface="Courier New"/>
                <a:cs typeface="Courier New"/>
                <a:sym typeface="Courier New"/>
              </a:rPr>
              <a:t>MainActivity</a:t>
            </a:r>
            <a:r>
              <a:rPr lang="en"/>
              <a:t> class, we can’t initialize the result </a:t>
            </a:r>
            <a:r>
              <a:rPr lang="en">
                <a:latin typeface="Courier New"/>
                <a:ea typeface="Courier New"/>
                <a:cs typeface="Courier New"/>
                <a:sym typeface="Courier New"/>
              </a:rPr>
              <a:t>TextView</a:t>
            </a:r>
            <a:r>
              <a:rPr lang="en"/>
              <a:t> until the layout has been inflated. So wait until the </a:t>
            </a:r>
            <a:r>
              <a:rPr lang="en">
                <a:latin typeface="Courier New"/>
                <a:ea typeface="Courier New"/>
                <a:cs typeface="Courier New"/>
                <a:sym typeface="Courier New"/>
              </a:rPr>
              <a:t>onCreate()</a:t>
            </a:r>
            <a:r>
              <a:rPr lang="en"/>
              <a:t> method to get a reference to the </a:t>
            </a:r>
            <a:r>
              <a:rPr lang="en">
                <a:latin typeface="Courier New"/>
                <a:ea typeface="Courier New"/>
                <a:cs typeface="Courier New"/>
                <a:sym typeface="Courier New"/>
              </a:rPr>
              <a:t>TextView</a:t>
            </a:r>
            <a:r>
              <a:rPr lang="en"/>
              <a:t> in the layout to initialize the result </a:t>
            </a:r>
            <a:r>
              <a:rPr lang="en">
                <a:latin typeface="Courier New"/>
                <a:ea typeface="Courier New"/>
                <a:cs typeface="Courier New"/>
                <a:sym typeface="Courier New"/>
              </a:rPr>
              <a:t>TextView</a:t>
            </a:r>
            <a:r>
              <a:rPr lang="en"/>
              <a:t>. Then you are free to use the result property and be certain that it won’t be null. If you use the property before it’s initialized, an exception is thrown.</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b87ea636ca_0_8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b87ea636ca_0_8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Let’s move onto the last section of our lesson today. If you remember, the anatomy of a basic app includes an Activity, resources and layouts, and Gradle files. Let’s discuss Gradle.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Building an app is complex, and there are specific tasks that have a sequence they must run in. Android uses </a:t>
            </a:r>
            <a:r>
              <a:rPr lang="en">
                <a:solidFill>
                  <a:schemeClr val="dk1"/>
                </a:solidFill>
              </a:rPr>
              <a:t>Gradle to</a:t>
            </a:r>
            <a:r>
              <a:rPr lang="en"/>
              <a:t> manage these tasks and build your app.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b87ea636ca_0_8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b87ea636ca_0_8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Gradle uses a directed acyclic graph to determine which tasks are required for the intended tasks, what order to run them in, and then runs them.</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b87ea636ca_0_9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b87ea636ca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 appears like a simple text file, but it's more than that. It’s code with a bit of (Groovy) magic. Let’s look at parts of the Gradle build file.</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b87ea636ca_0_9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b87ea636ca_0_9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the Android configuration block, you set the specifics of what makes your app run on Android, such as SDK versions, test runners, build targets, and so forth.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b87ea636ca_0_10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b87ea636ca_0_10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b87ea636ca_0_10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b87ea636ca_0_10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b87ea636ca_0_10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b87ea636ca_0_10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b87ea636ca_0_10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b87ea636ca_0_10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apache.org/licenses/LICENSE-2.0"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Lesson Tittle">
  <p:cSld name="BLANK_2">
    <p:spTree>
      <p:nvGrpSpPr>
        <p:cNvPr id="1" name="Shape 57"/>
        <p:cNvGrpSpPr/>
        <p:nvPr/>
      </p:nvGrpSpPr>
      <p:grpSpPr>
        <a:xfrm>
          <a:off x="0" y="0"/>
          <a:ext cx="0" cy="0"/>
          <a:chOff x="0" y="0"/>
          <a:chExt cx="0" cy="0"/>
        </a:xfrm>
      </p:grpSpPr>
      <p:sp>
        <p:nvSpPr>
          <p:cNvPr id="58" name="Google Shape;58;p1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9" name="Google Shape;59;p14"/>
          <p:cNvSpPr txBox="1">
            <a:spLocks noGrp="1"/>
          </p:cNvSpPr>
          <p:nvPr>
            <p:ph type="sldNum" idx="2"/>
          </p:nvPr>
        </p:nvSpPr>
        <p:spPr>
          <a:xfrm>
            <a:off x="8548658" y="4739417"/>
            <a:ext cx="548700" cy="393600"/>
          </a:xfrm>
          <a:prstGeom prst="rect">
            <a:avLst/>
          </a:prstGeom>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60" name="Google Shape;60;p14"/>
          <p:cNvSpPr txBox="1">
            <a:spLocks noGrp="1"/>
          </p:cNvSpPr>
          <p:nvPr>
            <p:ph type="sldNum" idx="3"/>
          </p:nvPr>
        </p:nvSpPr>
        <p:spPr>
          <a:xfrm>
            <a:off x="8548658" y="4739417"/>
            <a:ext cx="548700" cy="393600"/>
          </a:xfrm>
          <a:prstGeom prst="rect">
            <a:avLst/>
          </a:prstGeom>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14"/>
          <p:cNvSpPr txBox="1">
            <a:spLocks noGrp="1"/>
          </p:cNvSpPr>
          <p:nvPr>
            <p:ph type="subTitle" idx="1"/>
          </p:nvPr>
        </p:nvSpPr>
        <p:spPr>
          <a:xfrm>
            <a:off x="265500" y="564125"/>
            <a:ext cx="4045200" cy="5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600">
                <a:solidFill>
                  <a:srgbClr val="FAFAFA"/>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2" name="Google Shape;62;p14"/>
          <p:cNvSpPr txBox="1"/>
          <p:nvPr/>
        </p:nvSpPr>
        <p:spPr>
          <a:xfrm>
            <a:off x="5610875" y="4703625"/>
            <a:ext cx="2686500" cy="430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 sz="900" i="1">
                <a:solidFill>
                  <a:srgbClr val="666666"/>
                </a:solidFill>
                <a:latin typeface="Open Sans"/>
                <a:ea typeface="Open Sans"/>
                <a:cs typeface="Open Sans"/>
                <a:sym typeface="Open Sans"/>
              </a:rPr>
              <a:t>This work is licensed under the </a:t>
            </a:r>
            <a:r>
              <a:rPr lang="en" sz="900" i="1" u="sng">
                <a:solidFill>
                  <a:srgbClr val="666666"/>
                </a:solidFill>
                <a:latin typeface="Open Sans"/>
                <a:ea typeface="Open Sans"/>
                <a:cs typeface="Open Sans"/>
                <a:sym typeface="Open Sans"/>
                <a:hlinkClick r:id="rId2">
                  <a:extLst>
                    <a:ext uri="{A12FA001-AC4F-418D-AE19-62706E023703}">
                      <ahyp:hlinkClr xmlns:ahyp="http://schemas.microsoft.com/office/drawing/2018/hyperlinkcolor" val="tx"/>
                    </a:ext>
                  </a:extLst>
                </a:hlinkClick>
              </a:rPr>
              <a:t>Apache 2 license</a:t>
            </a:r>
            <a:r>
              <a:rPr lang="en" sz="900" i="1">
                <a:solidFill>
                  <a:srgbClr val="666666"/>
                </a:solidFill>
                <a:latin typeface="Roboto"/>
                <a:ea typeface="Roboto"/>
                <a:cs typeface="Roboto"/>
                <a:sym typeface="Roboto"/>
              </a:rPr>
              <a:t>.</a:t>
            </a:r>
            <a:endParaRPr sz="900" i="1">
              <a:solidFill>
                <a:srgbClr val="666666"/>
              </a:solidFill>
              <a:latin typeface="Roboto"/>
              <a:ea typeface="Roboto"/>
              <a:cs typeface="Roboto"/>
              <a:sym typeface="Roboto"/>
            </a:endParaRPr>
          </a:p>
        </p:txBody>
      </p:sp>
      <p:pic>
        <p:nvPicPr>
          <p:cNvPr id="63" name="Google Shape;63;p14"/>
          <p:cNvPicPr preferRelativeResize="0"/>
          <p:nvPr/>
        </p:nvPicPr>
        <p:blipFill>
          <a:blip r:embed="rId3">
            <a:alphaModFix/>
          </a:blip>
          <a:stretch>
            <a:fillRect/>
          </a:stretch>
        </p:blipFill>
        <p:spPr>
          <a:xfrm>
            <a:off x="0" y="0"/>
            <a:ext cx="9144000" cy="4670926"/>
          </a:xfrm>
          <a:prstGeom prst="rect">
            <a:avLst/>
          </a:prstGeom>
          <a:noFill/>
          <a:ln>
            <a:noFill/>
          </a:ln>
        </p:spPr>
      </p:pic>
      <p:sp>
        <p:nvSpPr>
          <p:cNvPr id="64" name="Google Shape;64;p14"/>
          <p:cNvSpPr txBox="1"/>
          <p:nvPr/>
        </p:nvSpPr>
        <p:spPr>
          <a:xfrm>
            <a:off x="2307203" y="4761300"/>
            <a:ext cx="2842200" cy="29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Android Development with Kotlin v1.0</a:t>
            </a:r>
            <a:endParaRPr sz="1000">
              <a:solidFill>
                <a:srgbClr val="757575"/>
              </a:solidFill>
              <a:latin typeface="Roboto"/>
              <a:ea typeface="Roboto"/>
              <a:cs typeface="Roboto"/>
              <a:sym typeface="Roboto"/>
            </a:endParaRPr>
          </a:p>
        </p:txBody>
      </p:sp>
    </p:spTree>
  </p:cSld>
  <p:clrMapOvr>
    <a:masterClrMapping/>
  </p:clrMapOvr>
  <p:extLst>
    <p:ext uri="{DCECCB84-F9BA-43D5-87BE-67443E8EF086}">
      <p15:sldGuideLst xmlns:p15="http://schemas.microsoft.com/office/powerpoint/2012/main">
        <p15:guide id="1" orient="horz" pos="3132">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73042"/>
        </a:solid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ctrTitle"/>
          </p:nvPr>
        </p:nvSpPr>
        <p:spPr>
          <a:xfrm>
            <a:off x="311700" y="0"/>
            <a:ext cx="8520600" cy="4674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AFAFA"/>
              </a:buClr>
              <a:buSzPts val="5200"/>
              <a:buNone/>
              <a:defRPr sz="5200" b="1">
                <a:solidFill>
                  <a:srgbClr val="FAFAFA"/>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67" name="Google Shape;67;p15"/>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8" name="Google Shape;68;p15"/>
          <p:cNvSpPr txBox="1"/>
          <p:nvPr/>
        </p:nvSpPr>
        <p:spPr>
          <a:xfrm>
            <a:off x="2297350" y="4761300"/>
            <a:ext cx="2589600" cy="29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Android Development with Kotlin</a:t>
            </a:r>
            <a:endParaRPr sz="1000">
              <a:solidFill>
                <a:srgbClr val="757575"/>
              </a:solidFill>
              <a:latin typeface="Roboto"/>
              <a:ea typeface="Roboto"/>
              <a:cs typeface="Roboto"/>
              <a:sym typeface="Robo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rgbClr val="FFFFFF"/>
        </a:solidFill>
        <a:effectLst/>
      </p:bgPr>
    </p:bg>
    <p:spTree>
      <p:nvGrpSpPr>
        <p:cNvPr id="1" name="Shape 69"/>
        <p:cNvGrpSpPr/>
        <p:nvPr/>
      </p:nvGrpSpPr>
      <p:grpSpPr>
        <a:xfrm>
          <a:off x="0" y="0"/>
          <a:ext cx="0" cy="0"/>
          <a:chOff x="0" y="0"/>
          <a:chExt cx="0" cy="0"/>
        </a:xfrm>
      </p:grpSpPr>
      <p:sp>
        <p:nvSpPr>
          <p:cNvPr id="70" name="Google Shape;70;p16"/>
          <p:cNvSpPr/>
          <p:nvPr/>
        </p:nvSpPr>
        <p:spPr>
          <a:xfrm>
            <a:off x="-11200" y="-37825"/>
            <a:ext cx="9155100" cy="1018500"/>
          </a:xfrm>
          <a:prstGeom prst="rect">
            <a:avLst/>
          </a:prstGeom>
          <a:solidFill>
            <a:srgbClr val="073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6"/>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2" name="Google Shape;72;p16"/>
          <p:cNvSpPr txBox="1">
            <a:spLocks noGrp="1"/>
          </p:cNvSpPr>
          <p:nvPr>
            <p:ph type="body" idx="1"/>
          </p:nvPr>
        </p:nvSpPr>
        <p:spPr>
          <a:xfrm>
            <a:off x="311700" y="1076275"/>
            <a:ext cx="8520600" cy="3193800"/>
          </a:xfrm>
          <a:prstGeom prst="rect">
            <a:avLst/>
          </a:prstGeom>
        </p:spPr>
        <p:txBody>
          <a:bodyPr spcFirstLastPara="1" wrap="square" lIns="91425" tIns="91425" rIns="91425" bIns="91425" anchor="t" anchorCtr="0">
            <a:noAutofit/>
          </a:bodyPr>
          <a:lstStyle>
            <a:lvl1pPr marL="457200" lvl="0" indent="-381000" rtl="0">
              <a:lnSpc>
                <a:spcPct val="115000"/>
              </a:lnSpc>
              <a:spcBef>
                <a:spcPts val="1000"/>
              </a:spcBef>
              <a:spcAft>
                <a:spcPts val="0"/>
              </a:spcAft>
              <a:buSzPts val="2400"/>
              <a:buAutoNum type="arabicPeriod"/>
              <a:defRPr/>
            </a:lvl1pPr>
            <a:lvl2pPr marL="914400" lvl="1" indent="-355600" rtl="0">
              <a:lnSpc>
                <a:spcPct val="115000"/>
              </a:lnSpc>
              <a:spcBef>
                <a:spcPts val="1000"/>
              </a:spcBef>
              <a:spcAft>
                <a:spcPts val="0"/>
              </a:spcAft>
              <a:buSzPts val="2000"/>
              <a:buAutoNum type="alphaLcPeriod"/>
              <a:defRPr sz="2000"/>
            </a:lvl2pPr>
            <a:lvl3pPr marL="1371600" lvl="2" indent="-317500" rtl="0">
              <a:spcBef>
                <a:spcPts val="0"/>
              </a:spcBef>
              <a:spcAft>
                <a:spcPts val="0"/>
              </a:spcAft>
              <a:buSzPts val="1400"/>
              <a:buAutoNum type="romanLcPeriod"/>
              <a:defRPr/>
            </a:lvl3pPr>
            <a:lvl4pPr marL="1828800" lvl="3" indent="-317500" rtl="0">
              <a:spcBef>
                <a:spcPts val="0"/>
              </a:spcBef>
              <a:spcAft>
                <a:spcPts val="0"/>
              </a:spcAft>
              <a:buSzPts val="1400"/>
              <a:buAutoNum type="arabicPeriod"/>
              <a:defRPr/>
            </a:lvl4pPr>
            <a:lvl5pPr marL="2286000" lvl="4" indent="-317500" rtl="0">
              <a:spcBef>
                <a:spcPts val="1600"/>
              </a:spcBef>
              <a:spcAft>
                <a:spcPts val="0"/>
              </a:spcAft>
              <a:buSzPts val="1400"/>
              <a:buAutoNum type="alphaLcPeriod"/>
              <a:defRPr/>
            </a:lvl5pPr>
            <a:lvl6pPr marL="2743200" lvl="5" indent="-317500" rtl="0">
              <a:spcBef>
                <a:spcPts val="1600"/>
              </a:spcBef>
              <a:spcAft>
                <a:spcPts val="0"/>
              </a:spcAft>
              <a:buSzPts val="1400"/>
              <a:buAutoNum type="romanLcPeriod"/>
              <a:defRPr/>
            </a:lvl6pPr>
            <a:lvl7pPr marL="3200400" lvl="6" indent="-317500" rtl="0">
              <a:spcBef>
                <a:spcPts val="1600"/>
              </a:spcBef>
              <a:spcAft>
                <a:spcPts val="0"/>
              </a:spcAft>
              <a:buSzPts val="1400"/>
              <a:buAutoNum type="arabicPeriod"/>
              <a:defRPr/>
            </a:lvl7pPr>
            <a:lvl8pPr marL="3657600" lvl="7" indent="-317500" rtl="0">
              <a:spcBef>
                <a:spcPts val="1600"/>
              </a:spcBef>
              <a:spcAft>
                <a:spcPts val="0"/>
              </a:spcAft>
              <a:buSzPts val="1400"/>
              <a:buAutoNum type="alphaLcPeriod"/>
              <a:defRPr/>
            </a:lvl8pPr>
            <a:lvl9pPr marL="4114800" lvl="8" indent="-317500" rtl="0">
              <a:spcBef>
                <a:spcPts val="1600"/>
              </a:spcBef>
              <a:spcAft>
                <a:spcPts val="1600"/>
              </a:spcAft>
              <a:buSzPts val="1400"/>
              <a:buAutoNum type="romanLcPeriod"/>
              <a:defRPr/>
            </a:lvl9pPr>
          </a:lstStyle>
          <a:p>
            <a:endParaRPr/>
          </a:p>
        </p:txBody>
      </p:sp>
      <p:sp>
        <p:nvSpPr>
          <p:cNvPr id="73" name="Google Shape;73;p1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74" name="Google Shape;74;p16"/>
          <p:cNvSpPr txBox="1"/>
          <p:nvPr/>
        </p:nvSpPr>
        <p:spPr>
          <a:xfrm>
            <a:off x="2297350" y="4761300"/>
            <a:ext cx="2589600" cy="29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Android Development with Kotlin</a:t>
            </a:r>
            <a:endParaRPr sz="1000">
              <a:solidFill>
                <a:srgbClr val="757575"/>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hyperlink" Target="https://www.apache.org/licenses/LICENSE-2.0" TargetMode="Externa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FFFFFF"/>
        </a:solidFill>
        <a:effectLst/>
      </p:bgPr>
    </p:bg>
    <p:spTree>
      <p:nvGrpSpPr>
        <p:cNvPr id="1" name="Shape 50"/>
        <p:cNvGrpSpPr/>
        <p:nvPr/>
      </p:nvGrpSpPr>
      <p:grpSpPr>
        <a:xfrm>
          <a:off x="0" y="0"/>
          <a:ext cx="0" cy="0"/>
          <a:chOff x="0" y="0"/>
          <a:chExt cx="0" cy="0"/>
        </a:xfrm>
      </p:grpSpPr>
      <p:pic>
        <p:nvPicPr>
          <p:cNvPr id="51" name="Google Shape;51;p13" descr="footer.png"/>
          <p:cNvPicPr preferRelativeResize="0"/>
          <p:nvPr/>
        </p:nvPicPr>
        <p:blipFill rotWithShape="1">
          <a:blip r:embed="rId5">
            <a:alphaModFix/>
          </a:blip>
          <a:srcRect/>
          <a:stretch/>
        </p:blipFill>
        <p:spPr>
          <a:xfrm>
            <a:off x="0" y="0"/>
            <a:ext cx="9144000" cy="5143500"/>
          </a:xfrm>
          <a:prstGeom prst="rect">
            <a:avLst/>
          </a:prstGeom>
          <a:noFill/>
          <a:ln>
            <a:noFill/>
          </a:ln>
        </p:spPr>
      </p:pic>
      <p:sp>
        <p:nvSpPr>
          <p:cNvPr id="52" name="Google Shape;52;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4CAF50"/>
              </a:buClr>
              <a:buSzPts val="3600"/>
              <a:buFont typeface="Roboto"/>
              <a:buNone/>
              <a:defRPr sz="3600" b="1">
                <a:solidFill>
                  <a:srgbClr val="4CAF50"/>
                </a:solidFill>
                <a:latin typeface="Roboto"/>
                <a:ea typeface="Roboto"/>
                <a:cs typeface="Roboto"/>
                <a:sym typeface="Robot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3" name="Google Shape;53;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81000" rtl="0">
              <a:lnSpc>
                <a:spcPct val="150000"/>
              </a:lnSpc>
              <a:spcBef>
                <a:spcPts val="0"/>
              </a:spcBef>
              <a:spcAft>
                <a:spcPts val="0"/>
              </a:spcAft>
              <a:buSzPts val="2400"/>
              <a:buFont typeface="Roboto"/>
              <a:buChar char="●"/>
              <a:defRPr sz="2400">
                <a:latin typeface="Roboto"/>
                <a:ea typeface="Roboto"/>
                <a:cs typeface="Roboto"/>
                <a:sym typeface="Roboto"/>
              </a:defRPr>
            </a:lvl1pPr>
            <a:lvl2pPr marL="914400" lvl="1" indent="-342900" rtl="0">
              <a:lnSpc>
                <a:spcPct val="150000"/>
              </a:lnSpc>
              <a:spcBef>
                <a:spcPts val="0"/>
              </a:spcBef>
              <a:spcAft>
                <a:spcPts val="0"/>
              </a:spcAft>
              <a:buSzPts val="1800"/>
              <a:buFont typeface="Roboto"/>
              <a:buChar char="○"/>
              <a:defRPr sz="1800">
                <a:latin typeface="Roboto"/>
                <a:ea typeface="Roboto"/>
                <a:cs typeface="Roboto"/>
                <a:sym typeface="Roboto"/>
              </a:defRPr>
            </a:lvl2pPr>
            <a:lvl3pPr marL="1371600" lvl="2" indent="-317500" rtl="0">
              <a:lnSpc>
                <a:spcPct val="150000"/>
              </a:lnSpc>
              <a:spcBef>
                <a:spcPts val="0"/>
              </a:spcBef>
              <a:spcAft>
                <a:spcPts val="0"/>
              </a:spcAft>
              <a:buSzPts val="1400"/>
              <a:buFont typeface="Roboto"/>
              <a:buChar char="■"/>
              <a:defRPr>
                <a:latin typeface="Roboto"/>
                <a:ea typeface="Roboto"/>
                <a:cs typeface="Roboto"/>
                <a:sym typeface="Roboto"/>
              </a:defRPr>
            </a:lvl3pPr>
            <a:lvl4pPr marL="1828800" lvl="3" indent="-317500" rtl="0">
              <a:lnSpc>
                <a:spcPct val="115000"/>
              </a:lnSpc>
              <a:spcBef>
                <a:spcPts val="0"/>
              </a:spcBef>
              <a:spcAft>
                <a:spcPts val="0"/>
              </a:spcAft>
              <a:buSzPts val="1400"/>
              <a:buFont typeface="Roboto"/>
              <a:buChar char="●"/>
              <a:defRPr>
                <a:latin typeface="Roboto"/>
                <a:ea typeface="Roboto"/>
                <a:cs typeface="Roboto"/>
                <a:sym typeface="Roboto"/>
              </a:defRPr>
            </a:lvl4pPr>
            <a:lvl5pPr marL="2286000" lvl="4" indent="-317500" rtl="0">
              <a:lnSpc>
                <a:spcPct val="115000"/>
              </a:lnSpc>
              <a:spcBef>
                <a:spcPts val="1600"/>
              </a:spcBef>
              <a:spcAft>
                <a:spcPts val="0"/>
              </a:spcAft>
              <a:buSzPts val="1400"/>
              <a:buFont typeface="Roboto"/>
              <a:buChar char="○"/>
              <a:defRPr>
                <a:latin typeface="Roboto"/>
                <a:ea typeface="Roboto"/>
                <a:cs typeface="Roboto"/>
                <a:sym typeface="Roboto"/>
              </a:defRPr>
            </a:lvl5pPr>
            <a:lvl6pPr marL="2743200" lvl="5" indent="-317500" rtl="0">
              <a:lnSpc>
                <a:spcPct val="115000"/>
              </a:lnSpc>
              <a:spcBef>
                <a:spcPts val="1600"/>
              </a:spcBef>
              <a:spcAft>
                <a:spcPts val="0"/>
              </a:spcAft>
              <a:buSzPts val="1400"/>
              <a:buFont typeface="Roboto"/>
              <a:buChar char="■"/>
              <a:defRPr>
                <a:latin typeface="Roboto"/>
                <a:ea typeface="Roboto"/>
                <a:cs typeface="Roboto"/>
                <a:sym typeface="Roboto"/>
              </a:defRPr>
            </a:lvl6pPr>
            <a:lvl7pPr marL="3200400" lvl="6" indent="-317500" rtl="0">
              <a:lnSpc>
                <a:spcPct val="115000"/>
              </a:lnSpc>
              <a:spcBef>
                <a:spcPts val="1600"/>
              </a:spcBef>
              <a:spcAft>
                <a:spcPts val="0"/>
              </a:spcAft>
              <a:buSzPts val="1400"/>
              <a:buFont typeface="Roboto"/>
              <a:buChar char="●"/>
              <a:defRPr>
                <a:latin typeface="Roboto"/>
                <a:ea typeface="Roboto"/>
                <a:cs typeface="Roboto"/>
                <a:sym typeface="Roboto"/>
              </a:defRPr>
            </a:lvl7pPr>
            <a:lvl8pPr marL="3657600" lvl="7" indent="-317500" rtl="0">
              <a:lnSpc>
                <a:spcPct val="115000"/>
              </a:lnSpc>
              <a:spcBef>
                <a:spcPts val="1600"/>
              </a:spcBef>
              <a:spcAft>
                <a:spcPts val="0"/>
              </a:spcAft>
              <a:buSzPts val="1400"/>
              <a:buFont typeface="Roboto"/>
              <a:buChar char="○"/>
              <a:defRPr>
                <a:latin typeface="Roboto"/>
                <a:ea typeface="Roboto"/>
                <a:cs typeface="Roboto"/>
                <a:sym typeface="Roboto"/>
              </a:defRPr>
            </a:lvl8pPr>
            <a:lvl9pPr marL="4114800" lvl="8" indent="-317500" rtl="0">
              <a:lnSpc>
                <a:spcPct val="115000"/>
              </a:lnSpc>
              <a:spcBef>
                <a:spcPts val="1600"/>
              </a:spcBef>
              <a:spcAft>
                <a:spcPts val="1600"/>
              </a:spcAft>
              <a:buSzPts val="1400"/>
              <a:buFont typeface="Roboto"/>
              <a:buChar char="■"/>
              <a:defRPr>
                <a:latin typeface="Roboto"/>
                <a:ea typeface="Roboto"/>
                <a:cs typeface="Roboto"/>
                <a:sym typeface="Roboto"/>
              </a:defRPr>
            </a:lvl9pPr>
          </a:lstStyle>
          <a:p>
            <a:endParaRPr/>
          </a:p>
        </p:txBody>
      </p:sp>
      <p:sp>
        <p:nvSpPr>
          <p:cNvPr id="54" name="Google Shape;54;p13"/>
          <p:cNvSpPr txBox="1">
            <a:spLocks noGrp="1"/>
          </p:cNvSpPr>
          <p:nvPr>
            <p:ph type="sldNum" idx="12"/>
          </p:nvPr>
        </p:nvSpPr>
        <p:spPr>
          <a:xfrm>
            <a:off x="8548658" y="47394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55" name="Google Shape;55;p13"/>
          <p:cNvSpPr txBox="1"/>
          <p:nvPr/>
        </p:nvSpPr>
        <p:spPr>
          <a:xfrm>
            <a:off x="9303675" y="2108450"/>
            <a:ext cx="5446200" cy="63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p13"/>
          <p:cNvSpPr txBox="1"/>
          <p:nvPr/>
        </p:nvSpPr>
        <p:spPr>
          <a:xfrm>
            <a:off x="5610875" y="4703625"/>
            <a:ext cx="2686500" cy="430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 sz="900" i="1">
                <a:solidFill>
                  <a:srgbClr val="666666"/>
                </a:solidFill>
                <a:latin typeface="Open Sans"/>
                <a:ea typeface="Open Sans"/>
                <a:cs typeface="Open Sans"/>
                <a:sym typeface="Open Sans"/>
              </a:rPr>
              <a:t>This work is licensed under the </a:t>
            </a:r>
            <a:r>
              <a:rPr lang="en" sz="900" i="1" u="sng">
                <a:solidFill>
                  <a:srgbClr val="666666"/>
                </a:solidFill>
                <a:latin typeface="Open Sans"/>
                <a:ea typeface="Open Sans"/>
                <a:cs typeface="Open Sans"/>
                <a:sym typeface="Open Sans"/>
                <a:hlinkClick r:id="rId6">
                  <a:extLst>
                    <a:ext uri="{A12FA001-AC4F-418D-AE19-62706E023703}">
                      <ahyp:hlinkClr xmlns:ahyp="http://schemas.microsoft.com/office/drawing/2018/hyperlinkcolor" val="tx"/>
                    </a:ext>
                  </a:extLst>
                </a:hlinkClick>
              </a:rPr>
              <a:t>Apache 2 license</a:t>
            </a:r>
            <a:r>
              <a:rPr lang="en" sz="900" i="1">
                <a:solidFill>
                  <a:srgbClr val="666666"/>
                </a:solidFill>
                <a:latin typeface="Roboto"/>
                <a:ea typeface="Roboto"/>
                <a:cs typeface="Roboto"/>
                <a:sym typeface="Roboto"/>
              </a:rPr>
              <a:t>.</a:t>
            </a:r>
            <a:endParaRPr sz="900" i="1">
              <a:solidFill>
                <a:srgbClr val="666666"/>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7.xm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slide" Target="slide31.xml"/><Relationship Id="rId5" Type="http://schemas.openxmlformats.org/officeDocument/2006/relationships/slide" Target="slide17.xml"/><Relationship Id="rId4" Type="http://schemas.openxmlformats.org/officeDocument/2006/relationships/slide" Target="slide13.xml"/><Relationship Id="rId9" Type="http://schemas.openxmlformats.org/officeDocument/2006/relationships/slide" Target="slide50.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51.xml"/><Relationship Id="rId1" Type="http://schemas.openxmlformats.org/officeDocument/2006/relationships/slideLayout" Target="../slideLayouts/slideLayout14.xml"/><Relationship Id="rId6" Type="http://schemas.openxmlformats.org/officeDocument/2006/relationships/slide" Target="slide46.xml"/><Relationship Id="rId5" Type="http://schemas.openxmlformats.org/officeDocument/2006/relationships/slide" Target="slide37.xml"/><Relationship Id="rId4" Type="http://schemas.openxmlformats.org/officeDocument/2006/relationships/slide" Target="slide29.xml"/></Relationships>
</file>

<file path=ppt/slides/_rels/slide52.xml.rels><?xml version="1.0" encoding="UTF-8" standalone="yes"?>
<Relationships xmlns="http://schemas.openxmlformats.org/package/2006/relationships"><Relationship Id="rId3" Type="http://schemas.openxmlformats.org/officeDocument/2006/relationships/hyperlink" Target="https://developer.android.com/guide/topics/ui/declaring-layout" TargetMode="External"/><Relationship Id="rId7" Type="http://schemas.openxmlformats.org/officeDocument/2006/relationships/hyperlink" Target="https://developer.android.com/reference/kotlin/android/view/ViewGroup" TargetMode="External"/><Relationship Id="rId2" Type="http://schemas.openxmlformats.org/officeDocument/2006/relationships/notesSlide" Target="../notesSlides/notesSlide52.xml"/><Relationship Id="rId1" Type="http://schemas.openxmlformats.org/officeDocument/2006/relationships/slideLayout" Target="../slideLayouts/slideLayout14.xml"/><Relationship Id="rId6" Type="http://schemas.openxmlformats.org/officeDocument/2006/relationships/hyperlink" Target="https://developer.android.com/reference/kotlin/android/view/View" TargetMode="External"/><Relationship Id="rId5" Type="http://schemas.openxmlformats.org/officeDocument/2006/relationships/hyperlink" Target="https://developer.android.com/guide/topics/ui/ui-events.html" TargetMode="External"/><Relationship Id="rId4" Type="http://schemas.openxmlformats.org/officeDocument/2006/relationships/hyperlink" Target="https://developer.android.com/guide/topics/ui/layout/linear"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developer.android.com/courses/pathways/android-development-with-kotlin-4" TargetMode="External"/><Relationship Id="rId2" Type="http://schemas.openxmlformats.org/officeDocument/2006/relationships/notesSlide" Target="../notesSlides/notesSlide53.xml"/><Relationship Id="rId1" Type="http://schemas.openxmlformats.org/officeDocument/2006/relationships/slideLayout" Target="../slideLayouts/slideLayout14.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17"/>
          <p:cNvPicPr preferRelativeResize="0"/>
          <p:nvPr/>
        </p:nvPicPr>
        <p:blipFill>
          <a:blip r:embed="rId3">
            <a:alphaModFix/>
          </a:blip>
          <a:stretch>
            <a:fillRect/>
          </a:stretch>
        </p:blipFill>
        <p:spPr>
          <a:xfrm>
            <a:off x="0" y="0"/>
            <a:ext cx="9144000" cy="4676399"/>
          </a:xfrm>
          <a:prstGeom prst="rect">
            <a:avLst/>
          </a:prstGeom>
          <a:noFill/>
          <a:ln>
            <a:noFill/>
          </a:ln>
        </p:spPr>
      </p:pic>
      <p:sp>
        <p:nvSpPr>
          <p:cNvPr id="80" name="Google Shape;80;p17"/>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81" name="Google Shape;81;p17"/>
          <p:cNvSpPr txBox="1"/>
          <p:nvPr/>
        </p:nvSpPr>
        <p:spPr>
          <a:xfrm>
            <a:off x="780325" y="1681525"/>
            <a:ext cx="3604800" cy="2835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600" dirty="0">
                <a:solidFill>
                  <a:srgbClr val="FAFAFA"/>
                </a:solidFill>
                <a:latin typeface="Google Sans"/>
                <a:ea typeface="Google Sans"/>
                <a:cs typeface="Google Sans"/>
                <a:sym typeface="Google Sans"/>
              </a:rPr>
              <a:t>Build your first Android app</a:t>
            </a:r>
            <a:endParaRPr sz="3600" dirty="0">
              <a:solidFill>
                <a:srgbClr val="FAFAFA"/>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About this lesson</a:t>
            </a:r>
            <a:endParaRPr/>
          </a:p>
        </p:txBody>
      </p:sp>
      <p:sp>
        <p:nvSpPr>
          <p:cNvPr id="87" name="Google Shape;87;p18"/>
          <p:cNvSpPr txBox="1">
            <a:spLocks noGrp="1"/>
          </p:cNvSpPr>
          <p:nvPr>
            <p:ph type="body" idx="1"/>
          </p:nvPr>
        </p:nvSpPr>
        <p:spPr>
          <a:xfrm>
            <a:off x="311700" y="987775"/>
            <a:ext cx="8520600" cy="35160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None/>
            </a:pPr>
            <a:r>
              <a:rPr lang="en" sz="2000"/>
              <a:t>Lesson 4: Build your first Android app</a:t>
            </a:r>
            <a:endParaRPr sz="2000"/>
          </a:p>
          <a:p>
            <a:pPr marL="914400" lvl="0" indent="-355600" algn="l" rtl="0">
              <a:spcBef>
                <a:spcPts val="1000"/>
              </a:spcBef>
              <a:spcAft>
                <a:spcPts val="0"/>
              </a:spcAft>
              <a:buSzPts val="2000"/>
              <a:buChar char="●"/>
            </a:pPr>
            <a:r>
              <a:rPr lang="en" sz="2000" u="sng">
                <a:solidFill>
                  <a:schemeClr val="hlink"/>
                </a:solidFill>
                <a:hlinkClick r:id="rId3" action="ppaction://hlinksldjump"/>
              </a:rPr>
              <a:t>Your first app</a:t>
            </a:r>
            <a:endParaRPr sz="2000"/>
          </a:p>
          <a:p>
            <a:pPr marL="914400" lvl="0" indent="-355600" algn="l" rtl="0">
              <a:spcBef>
                <a:spcPts val="0"/>
              </a:spcBef>
              <a:spcAft>
                <a:spcPts val="0"/>
              </a:spcAft>
              <a:buSzPts val="2000"/>
              <a:buChar char="●"/>
            </a:pPr>
            <a:r>
              <a:rPr lang="en" sz="2000" u="sng">
                <a:solidFill>
                  <a:schemeClr val="hlink"/>
                </a:solidFill>
                <a:hlinkClick r:id="rId4" action="ppaction://hlinksldjump"/>
              </a:rPr>
              <a:t>Anatomy of an Android app</a:t>
            </a:r>
            <a:endParaRPr sz="2000"/>
          </a:p>
          <a:p>
            <a:pPr marL="914400" lvl="0" indent="-355600" algn="l" rtl="0">
              <a:spcBef>
                <a:spcPts val="0"/>
              </a:spcBef>
              <a:spcAft>
                <a:spcPts val="0"/>
              </a:spcAft>
              <a:buSzPts val="2000"/>
              <a:buChar char="●"/>
            </a:pPr>
            <a:r>
              <a:rPr lang="en" sz="2000" u="sng">
                <a:solidFill>
                  <a:schemeClr val="hlink"/>
                </a:solidFill>
                <a:hlinkClick r:id="rId5" action="ppaction://hlinksldjump"/>
              </a:rPr>
              <a:t>Layouts and resources in Android</a:t>
            </a:r>
            <a:endParaRPr sz="2000"/>
          </a:p>
          <a:p>
            <a:pPr marL="914400" lvl="0" indent="-355600" algn="l" rtl="0">
              <a:spcBef>
                <a:spcPts val="0"/>
              </a:spcBef>
              <a:spcAft>
                <a:spcPts val="0"/>
              </a:spcAft>
              <a:buSzPts val="2000"/>
              <a:buChar char="●"/>
            </a:pPr>
            <a:r>
              <a:rPr lang="en" sz="2000" u="sng">
                <a:solidFill>
                  <a:schemeClr val="hlink"/>
                </a:solidFill>
                <a:hlinkClick r:id="rId6" action="ppaction://hlinksldjump"/>
              </a:rPr>
              <a:t>Activities</a:t>
            </a:r>
            <a:endParaRPr sz="2000"/>
          </a:p>
          <a:p>
            <a:pPr marL="914400" lvl="0" indent="-355600" algn="l" rtl="0">
              <a:spcBef>
                <a:spcPts val="0"/>
              </a:spcBef>
              <a:spcAft>
                <a:spcPts val="0"/>
              </a:spcAft>
              <a:buSzPts val="2000"/>
              <a:buChar char="●"/>
            </a:pPr>
            <a:r>
              <a:rPr lang="en" sz="2000" u="sng">
                <a:solidFill>
                  <a:schemeClr val="hlink"/>
                </a:solidFill>
                <a:hlinkClick r:id="rId7" action="ppaction://hlinksldjump"/>
              </a:rPr>
              <a:t>Make an app interactive</a:t>
            </a:r>
            <a:endParaRPr sz="2000"/>
          </a:p>
          <a:p>
            <a:pPr marL="914400" lvl="0" indent="-355600" algn="l" rtl="0">
              <a:spcBef>
                <a:spcPts val="0"/>
              </a:spcBef>
              <a:spcAft>
                <a:spcPts val="0"/>
              </a:spcAft>
              <a:buSzPts val="2000"/>
              <a:buChar char="●"/>
            </a:pPr>
            <a:r>
              <a:rPr lang="en" sz="2000" u="sng">
                <a:solidFill>
                  <a:schemeClr val="hlink"/>
                </a:solidFill>
                <a:hlinkClick r:id="rId8" action="ppaction://hlinksldjump"/>
              </a:rPr>
              <a:t>Gradle: Building an Android app</a:t>
            </a:r>
            <a:endParaRPr sz="2000"/>
          </a:p>
          <a:p>
            <a:pPr marL="914400" lvl="0" indent="-355600" algn="l" rtl="0">
              <a:spcBef>
                <a:spcPts val="0"/>
              </a:spcBef>
              <a:spcAft>
                <a:spcPts val="0"/>
              </a:spcAft>
              <a:buSzPts val="2000"/>
              <a:buChar char="●"/>
            </a:pPr>
            <a:r>
              <a:rPr lang="en" sz="2000" u="sng">
                <a:solidFill>
                  <a:schemeClr val="hlink"/>
                </a:solidFill>
                <a:hlinkClick r:id="" action="ppaction://noaction"/>
              </a:rPr>
              <a:t>Accessibility</a:t>
            </a:r>
            <a:endParaRPr sz="2000"/>
          </a:p>
          <a:p>
            <a:pPr marL="914400" lvl="0" indent="-355600" algn="l" rtl="0">
              <a:spcBef>
                <a:spcPts val="0"/>
              </a:spcBef>
              <a:spcAft>
                <a:spcPts val="0"/>
              </a:spcAft>
              <a:buSzPts val="2000"/>
              <a:buChar char="●"/>
            </a:pPr>
            <a:r>
              <a:rPr lang="en" sz="2000" u="sng">
                <a:solidFill>
                  <a:schemeClr val="hlink"/>
                </a:solidFill>
                <a:hlinkClick r:id="rId9" action="ppaction://hlinksldjump"/>
              </a:rPr>
              <a:t>Summary</a:t>
            </a:r>
            <a:endParaRPr sz="2000"/>
          </a:p>
          <a:p>
            <a:pPr marL="0" lvl="0" indent="0" algn="l" rtl="0">
              <a:spcBef>
                <a:spcPts val="1000"/>
              </a:spcBef>
              <a:spcAft>
                <a:spcPts val="0"/>
              </a:spcAft>
              <a:buNone/>
            </a:pPr>
            <a:endParaRPr sz="2000"/>
          </a:p>
        </p:txBody>
      </p:sp>
      <p:sp>
        <p:nvSpPr>
          <p:cNvPr id="88" name="Google Shape;88;p1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Android Studio</a:t>
            </a:r>
            <a:endParaRPr/>
          </a:p>
        </p:txBody>
      </p:sp>
      <p:sp>
        <p:nvSpPr>
          <p:cNvPr id="94" name="Google Shape;94;p19"/>
          <p:cNvSpPr txBox="1">
            <a:spLocks noGrp="1"/>
          </p:cNvSpPr>
          <p:nvPr>
            <p:ph type="body" idx="1"/>
          </p:nvPr>
        </p:nvSpPr>
        <p:spPr>
          <a:xfrm>
            <a:off x="266875" y="1012050"/>
            <a:ext cx="8520600" cy="45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Official IDE for building Android apps</a:t>
            </a:r>
            <a:endParaRPr sz="1800"/>
          </a:p>
        </p:txBody>
      </p:sp>
      <p:sp>
        <p:nvSpPr>
          <p:cNvPr id="95" name="Google Shape;95;p19"/>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pic>
        <p:nvPicPr>
          <p:cNvPr id="96" name="Google Shape;96;p19"/>
          <p:cNvPicPr preferRelativeResize="0"/>
          <p:nvPr/>
        </p:nvPicPr>
        <p:blipFill>
          <a:blip r:embed="rId3">
            <a:alphaModFix/>
          </a:blip>
          <a:stretch>
            <a:fillRect/>
          </a:stretch>
        </p:blipFill>
        <p:spPr>
          <a:xfrm>
            <a:off x="1968775" y="1528150"/>
            <a:ext cx="4842012" cy="2823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102" name="Google Shape;102;p20"/>
          <p:cNvSpPr txBox="1"/>
          <p:nvPr/>
        </p:nvSpPr>
        <p:spPr>
          <a:xfrm>
            <a:off x="311700" y="778199"/>
            <a:ext cx="8520600" cy="1832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5200" b="1">
                <a:solidFill>
                  <a:srgbClr val="FAFAFA"/>
                </a:solidFill>
                <a:latin typeface="Roboto"/>
                <a:ea typeface="Roboto"/>
                <a:cs typeface="Roboto"/>
                <a:sym typeface="Roboto"/>
              </a:rPr>
              <a:t>Your first app</a:t>
            </a:r>
            <a:endParaRPr sz="5200" b="1">
              <a:solidFill>
                <a:srgbClr val="FAFAFA"/>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Open Android Studio</a:t>
            </a:r>
            <a:endParaRPr/>
          </a:p>
        </p:txBody>
      </p:sp>
      <p:sp>
        <p:nvSpPr>
          <p:cNvPr id="108" name="Google Shape;108;p2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pic>
        <p:nvPicPr>
          <p:cNvPr id="109" name="Google Shape;109;p21"/>
          <p:cNvPicPr preferRelativeResize="0"/>
          <p:nvPr/>
        </p:nvPicPr>
        <p:blipFill>
          <a:blip r:embed="rId3">
            <a:alphaModFix/>
          </a:blip>
          <a:stretch>
            <a:fillRect/>
          </a:stretch>
        </p:blipFill>
        <p:spPr>
          <a:xfrm>
            <a:off x="1934500" y="1201563"/>
            <a:ext cx="4990338" cy="309013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2"/>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Create new project</a:t>
            </a:r>
            <a:endParaRPr/>
          </a:p>
        </p:txBody>
      </p:sp>
      <p:sp>
        <p:nvSpPr>
          <p:cNvPr id="115" name="Google Shape;115;p2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pic>
        <p:nvPicPr>
          <p:cNvPr id="116" name="Google Shape;116;p22"/>
          <p:cNvPicPr preferRelativeResize="0"/>
          <p:nvPr/>
        </p:nvPicPr>
        <p:blipFill>
          <a:blip r:embed="rId3">
            <a:alphaModFix/>
          </a:blip>
          <a:stretch>
            <a:fillRect/>
          </a:stretch>
        </p:blipFill>
        <p:spPr>
          <a:xfrm>
            <a:off x="2382175" y="1098770"/>
            <a:ext cx="4379656" cy="331409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3"/>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Enter your project details</a:t>
            </a:r>
            <a:endParaRPr/>
          </a:p>
        </p:txBody>
      </p:sp>
      <p:sp>
        <p:nvSpPr>
          <p:cNvPr id="122" name="Google Shape;122;p2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pic>
        <p:nvPicPr>
          <p:cNvPr id="123" name="Google Shape;123;p23"/>
          <p:cNvPicPr preferRelativeResize="0"/>
          <p:nvPr/>
        </p:nvPicPr>
        <p:blipFill rotWithShape="1">
          <a:blip r:embed="rId3">
            <a:alphaModFix/>
          </a:blip>
          <a:srcRect l="980" r="980"/>
          <a:stretch/>
        </p:blipFill>
        <p:spPr>
          <a:xfrm>
            <a:off x="2214038" y="1130675"/>
            <a:ext cx="4244330" cy="322170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4"/>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Android releases and API levels</a:t>
            </a:r>
            <a:endParaRPr/>
          </a:p>
        </p:txBody>
      </p:sp>
      <p:sp>
        <p:nvSpPr>
          <p:cNvPr id="129" name="Google Shape;129;p2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pic>
        <p:nvPicPr>
          <p:cNvPr id="130" name="Google Shape;130;p24"/>
          <p:cNvPicPr preferRelativeResize="0"/>
          <p:nvPr/>
        </p:nvPicPr>
        <p:blipFill rotWithShape="1">
          <a:blip r:embed="rId3">
            <a:alphaModFix/>
          </a:blip>
          <a:srcRect r="41114"/>
          <a:stretch/>
        </p:blipFill>
        <p:spPr>
          <a:xfrm>
            <a:off x="2435525" y="1127875"/>
            <a:ext cx="4272951" cy="3329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5"/>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Choose API levels for your app</a:t>
            </a:r>
            <a:endParaRPr/>
          </a:p>
        </p:txBody>
      </p:sp>
      <p:sp>
        <p:nvSpPr>
          <p:cNvPr id="136" name="Google Shape;136;p25"/>
          <p:cNvSpPr txBox="1">
            <a:spLocks noGrp="1"/>
          </p:cNvSpPr>
          <p:nvPr>
            <p:ph type="body" idx="1"/>
          </p:nvPr>
        </p:nvSpPr>
        <p:spPr>
          <a:xfrm>
            <a:off x="311700" y="1352400"/>
            <a:ext cx="8679900" cy="2354100"/>
          </a:xfrm>
          <a:prstGeom prst="rect">
            <a:avLst/>
          </a:prstGeom>
        </p:spPr>
        <p:txBody>
          <a:bodyPr spcFirstLastPara="1" wrap="square" lIns="91425" tIns="91425" rIns="91425" bIns="91425" anchor="t" anchorCtr="0">
            <a:noAutofit/>
          </a:bodyPr>
          <a:lstStyle/>
          <a:p>
            <a:pPr marL="457200" lvl="0" indent="-368300" algn="l" rtl="0">
              <a:spcBef>
                <a:spcPts val="1000"/>
              </a:spcBef>
              <a:spcAft>
                <a:spcPts val="0"/>
              </a:spcAft>
              <a:buSzPts val="2200"/>
              <a:buChar char="●"/>
            </a:pPr>
            <a:r>
              <a:rPr lang="en" sz="2200"/>
              <a:t>Minimum SDK: Device needs at least this API level to install</a:t>
            </a:r>
            <a:endParaRPr sz="2200"/>
          </a:p>
          <a:p>
            <a:pPr marL="457200" lvl="0" indent="-368300" algn="l" rtl="0">
              <a:spcBef>
                <a:spcPts val="1000"/>
              </a:spcBef>
              <a:spcAft>
                <a:spcPts val="0"/>
              </a:spcAft>
              <a:buSzPts val="2200"/>
              <a:buChar char="●"/>
            </a:pPr>
            <a:r>
              <a:rPr lang="en" sz="2200"/>
              <a:t>Target SDK: API version and highest Android version tested</a:t>
            </a:r>
            <a:endParaRPr sz="2200"/>
          </a:p>
          <a:p>
            <a:pPr marL="457200" lvl="0" indent="-368300" algn="l" rtl="0">
              <a:spcBef>
                <a:spcPts val="1000"/>
              </a:spcBef>
              <a:spcAft>
                <a:spcPts val="0"/>
              </a:spcAft>
              <a:buSzPts val="2200"/>
              <a:buChar char="●"/>
            </a:pPr>
            <a:r>
              <a:rPr lang="en" sz="2200"/>
              <a:t>Compile SDK: </a:t>
            </a:r>
            <a:r>
              <a:rPr lang="en" sz="2200">
                <a:solidFill>
                  <a:schemeClr val="dk1"/>
                </a:solidFill>
              </a:rPr>
              <a:t>Android OS library version </a:t>
            </a:r>
            <a:r>
              <a:rPr lang="en" sz="2200"/>
              <a:t>compiled with</a:t>
            </a:r>
            <a:endParaRPr sz="2000">
              <a:latin typeface="Courier New"/>
              <a:ea typeface="Courier New"/>
              <a:cs typeface="Courier New"/>
              <a:sym typeface="Courier New"/>
            </a:endParaRPr>
          </a:p>
          <a:p>
            <a:pPr marL="457200" lvl="0" indent="0" algn="l" rtl="0">
              <a:spcBef>
                <a:spcPts val="600"/>
              </a:spcBef>
              <a:spcAft>
                <a:spcPts val="0"/>
              </a:spcAft>
              <a:buNone/>
            </a:pPr>
            <a:r>
              <a:rPr lang="en" sz="1800">
                <a:latin typeface="Courier New"/>
                <a:ea typeface="Courier New"/>
                <a:cs typeface="Courier New"/>
                <a:sym typeface="Courier New"/>
              </a:rPr>
              <a:t>minSdkVersion &lt;= targetSdkVersion &lt;= compileSdkVersion</a:t>
            </a:r>
            <a:endParaRPr sz="1800">
              <a:latin typeface="Courier New"/>
              <a:ea typeface="Courier New"/>
              <a:cs typeface="Courier New"/>
              <a:sym typeface="Courier New"/>
            </a:endParaRPr>
          </a:p>
        </p:txBody>
      </p:sp>
      <p:sp>
        <p:nvSpPr>
          <p:cNvPr id="137" name="Google Shape;137;p25"/>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138" name="Google Shape;138;p25"/>
          <p:cNvSpPr txBox="1"/>
          <p:nvPr/>
        </p:nvSpPr>
        <p:spPr>
          <a:xfrm>
            <a:off x="342900" y="3988013"/>
            <a:ext cx="8489400" cy="453900"/>
          </a:xfrm>
          <a:prstGeom prst="rect">
            <a:avLst/>
          </a:prstGeom>
          <a:solidFill>
            <a:srgbClr val="D6F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073042"/>
                </a:solidFill>
                <a:latin typeface="Roboto"/>
                <a:ea typeface="Roboto"/>
                <a:cs typeface="Roboto"/>
                <a:sym typeface="Roboto"/>
              </a:rPr>
              <a:t>The API level identifies the framework API version of the Android SDK.</a:t>
            </a:r>
            <a:endParaRPr sz="1800">
              <a:solidFill>
                <a:srgbClr val="07304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6"/>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Tour of Android Studio</a:t>
            </a:r>
            <a:endParaRPr/>
          </a:p>
        </p:txBody>
      </p:sp>
      <p:sp>
        <p:nvSpPr>
          <p:cNvPr id="144" name="Google Shape;144;p2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pic>
        <p:nvPicPr>
          <p:cNvPr id="145" name="Google Shape;145;p26"/>
          <p:cNvPicPr preferRelativeResize="0"/>
          <p:nvPr/>
        </p:nvPicPr>
        <p:blipFill>
          <a:blip r:embed="rId3">
            <a:alphaModFix/>
          </a:blip>
          <a:stretch>
            <a:fillRect/>
          </a:stretch>
        </p:blipFill>
        <p:spPr>
          <a:xfrm>
            <a:off x="1143000" y="1048320"/>
            <a:ext cx="6773363" cy="347723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7"/>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Run your app</a:t>
            </a:r>
            <a:endParaRPr/>
          </a:p>
        </p:txBody>
      </p:sp>
      <p:sp>
        <p:nvSpPr>
          <p:cNvPr id="151" name="Google Shape;151;p27"/>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pic>
        <p:nvPicPr>
          <p:cNvPr id="152" name="Google Shape;152;p27"/>
          <p:cNvPicPr preferRelativeResize="0"/>
          <p:nvPr/>
        </p:nvPicPr>
        <p:blipFill>
          <a:blip r:embed="rId3">
            <a:alphaModFix/>
          </a:blip>
          <a:stretch>
            <a:fillRect/>
          </a:stretch>
        </p:blipFill>
        <p:spPr>
          <a:xfrm>
            <a:off x="387893" y="1169109"/>
            <a:ext cx="1639615" cy="3387933"/>
          </a:xfrm>
          <a:prstGeom prst="rect">
            <a:avLst/>
          </a:prstGeom>
          <a:noFill/>
          <a:ln>
            <a:noFill/>
          </a:ln>
        </p:spPr>
      </p:pic>
      <p:sp>
        <p:nvSpPr>
          <p:cNvPr id="153" name="Google Shape;153;p27"/>
          <p:cNvSpPr txBox="1"/>
          <p:nvPr/>
        </p:nvSpPr>
        <p:spPr>
          <a:xfrm>
            <a:off x="3008975" y="1755725"/>
            <a:ext cx="4913400" cy="1285800"/>
          </a:xfrm>
          <a:prstGeom prst="rect">
            <a:avLst/>
          </a:prstGeom>
          <a:noFill/>
          <a:ln>
            <a:noFill/>
          </a:ln>
        </p:spPr>
        <p:txBody>
          <a:bodyPr spcFirstLastPara="1" wrap="square" lIns="91425" tIns="91425" rIns="91425" bIns="91425" anchor="t" anchorCtr="0">
            <a:noAutofit/>
          </a:bodyPr>
          <a:lstStyle/>
          <a:p>
            <a:pPr marL="457200" lvl="0" indent="-381000" algn="l" rtl="0">
              <a:lnSpc>
                <a:spcPct val="115000"/>
              </a:lnSpc>
              <a:spcBef>
                <a:spcPts val="0"/>
              </a:spcBef>
              <a:spcAft>
                <a:spcPts val="0"/>
              </a:spcAft>
              <a:buSzPts val="2400"/>
              <a:buFont typeface="Roboto"/>
              <a:buChar char="●"/>
            </a:pPr>
            <a:r>
              <a:rPr lang="en" sz="2400">
                <a:latin typeface="Roboto"/>
                <a:ea typeface="Roboto"/>
                <a:cs typeface="Roboto"/>
                <a:sym typeface="Roboto"/>
              </a:rPr>
              <a:t>Android device (phone, tablet)</a:t>
            </a:r>
            <a:endParaRPr sz="2400">
              <a:latin typeface="Roboto"/>
              <a:ea typeface="Roboto"/>
              <a:cs typeface="Roboto"/>
              <a:sym typeface="Roboto"/>
            </a:endParaRPr>
          </a:p>
          <a:p>
            <a:pPr marL="457200" lvl="0" indent="-381000" algn="l" rtl="0">
              <a:lnSpc>
                <a:spcPct val="115000"/>
              </a:lnSpc>
              <a:spcBef>
                <a:spcPts val="1000"/>
              </a:spcBef>
              <a:spcAft>
                <a:spcPts val="1000"/>
              </a:spcAft>
              <a:buSzPts val="2400"/>
              <a:buFont typeface="Roboto"/>
              <a:buChar char="●"/>
            </a:pPr>
            <a:r>
              <a:rPr lang="en" sz="2400">
                <a:latin typeface="Roboto"/>
                <a:ea typeface="Roboto"/>
                <a:cs typeface="Roboto"/>
                <a:sym typeface="Roboto"/>
              </a:rPr>
              <a:t>Emulator on your computer</a:t>
            </a:r>
            <a:endParaRPr sz="2400">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8"/>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Android Virtual Device (AVD) Manager</a:t>
            </a:r>
            <a:endParaRPr/>
          </a:p>
        </p:txBody>
      </p:sp>
      <p:sp>
        <p:nvSpPr>
          <p:cNvPr id="159" name="Google Shape;159;p2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pic>
        <p:nvPicPr>
          <p:cNvPr id="160" name="Google Shape;160;p28"/>
          <p:cNvPicPr preferRelativeResize="0"/>
          <p:nvPr/>
        </p:nvPicPr>
        <p:blipFill>
          <a:blip r:embed="rId3">
            <a:alphaModFix/>
          </a:blip>
          <a:stretch>
            <a:fillRect/>
          </a:stretch>
        </p:blipFill>
        <p:spPr>
          <a:xfrm>
            <a:off x="612337" y="1036400"/>
            <a:ext cx="7919326" cy="3496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9"/>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166" name="Google Shape;166;p29"/>
          <p:cNvSpPr txBox="1"/>
          <p:nvPr/>
        </p:nvSpPr>
        <p:spPr>
          <a:xfrm>
            <a:off x="311700" y="1463999"/>
            <a:ext cx="8520600" cy="1832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5200" b="1">
                <a:solidFill>
                  <a:srgbClr val="FAFAFA"/>
                </a:solidFill>
                <a:latin typeface="Roboto"/>
                <a:ea typeface="Roboto"/>
                <a:cs typeface="Roboto"/>
                <a:sym typeface="Roboto"/>
              </a:rPr>
              <a:t>Anatomy of an Android App</a:t>
            </a:r>
            <a:endParaRPr sz="5200" b="1">
              <a:solidFill>
                <a:srgbClr val="FAFAFA"/>
              </a:solidFill>
              <a:latin typeface="Roboto"/>
              <a:ea typeface="Roboto"/>
              <a:cs typeface="Roboto"/>
              <a:sym typeface="Roboto"/>
            </a:endParaRPr>
          </a:p>
          <a:p>
            <a:pPr marL="0" lvl="0" indent="0" algn="ctr" rtl="0">
              <a:spcBef>
                <a:spcPts val="0"/>
              </a:spcBef>
              <a:spcAft>
                <a:spcPts val="0"/>
              </a:spcAft>
              <a:buNone/>
            </a:pPr>
            <a:r>
              <a:rPr lang="en" sz="5200" b="1">
                <a:solidFill>
                  <a:srgbClr val="FAFAFA"/>
                </a:solidFill>
                <a:latin typeface="Roboto"/>
                <a:ea typeface="Roboto"/>
                <a:cs typeface="Roboto"/>
                <a:sym typeface="Roboto"/>
              </a:rPr>
              <a:t>project</a:t>
            </a:r>
            <a:endParaRPr sz="5200" b="1">
              <a:solidFill>
                <a:srgbClr val="FAFAFA"/>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0"/>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Anatomy of a basic app project</a:t>
            </a:r>
            <a:endParaRPr/>
          </a:p>
        </p:txBody>
      </p:sp>
      <p:sp>
        <p:nvSpPr>
          <p:cNvPr id="172" name="Google Shape;172;p30"/>
          <p:cNvSpPr txBox="1">
            <a:spLocks noGrp="1"/>
          </p:cNvSpPr>
          <p:nvPr>
            <p:ph type="body" idx="1"/>
          </p:nvPr>
        </p:nvSpPr>
        <p:spPr>
          <a:xfrm>
            <a:off x="311700" y="1747800"/>
            <a:ext cx="8520600" cy="1666800"/>
          </a:xfrm>
          <a:prstGeom prst="rect">
            <a:avLst/>
          </a:prstGeom>
        </p:spPr>
        <p:txBody>
          <a:bodyPr spcFirstLastPara="1" wrap="square" lIns="91425" tIns="91425" rIns="91425" bIns="91425" anchor="t" anchorCtr="0">
            <a:noAutofit/>
          </a:bodyPr>
          <a:lstStyle/>
          <a:p>
            <a:pPr marL="457200" lvl="0" indent="-368300" algn="l" rtl="0">
              <a:spcBef>
                <a:spcPts val="0"/>
              </a:spcBef>
              <a:spcAft>
                <a:spcPts val="0"/>
              </a:spcAft>
              <a:buSzPts val="2200"/>
              <a:buChar char="●"/>
            </a:pPr>
            <a:r>
              <a:rPr lang="en" sz="2200"/>
              <a:t>Activity</a:t>
            </a:r>
            <a:endParaRPr sz="2200"/>
          </a:p>
          <a:p>
            <a:pPr marL="457200" lvl="0" indent="-368300" algn="l" rtl="0">
              <a:spcBef>
                <a:spcPts val="1000"/>
              </a:spcBef>
              <a:spcAft>
                <a:spcPts val="0"/>
              </a:spcAft>
              <a:buSzPts val="2200"/>
              <a:buChar char="●"/>
            </a:pPr>
            <a:r>
              <a:rPr lang="en" sz="2200"/>
              <a:t>Resources (layout files, images, audio files, themes, and colors)</a:t>
            </a:r>
            <a:endParaRPr sz="2200"/>
          </a:p>
          <a:p>
            <a:pPr marL="457200" lvl="0" indent="-368300" algn="l" rtl="0">
              <a:spcBef>
                <a:spcPts val="1000"/>
              </a:spcBef>
              <a:spcAft>
                <a:spcPts val="1000"/>
              </a:spcAft>
              <a:buSzPts val="2200"/>
              <a:buChar char="●"/>
            </a:pPr>
            <a:r>
              <a:rPr lang="en" sz="2200"/>
              <a:t>Gradle files</a:t>
            </a:r>
            <a:endParaRPr sz="2200"/>
          </a:p>
        </p:txBody>
      </p:sp>
      <p:sp>
        <p:nvSpPr>
          <p:cNvPr id="173" name="Google Shape;173;p3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1"/>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Android app project structure</a:t>
            </a:r>
            <a:endParaRPr/>
          </a:p>
        </p:txBody>
      </p:sp>
      <p:sp>
        <p:nvSpPr>
          <p:cNvPr id="179" name="Google Shape;179;p31"/>
          <p:cNvSpPr txBox="1">
            <a:spLocks noGrp="1"/>
          </p:cNvSpPr>
          <p:nvPr>
            <p:ph type="body" idx="1"/>
          </p:nvPr>
        </p:nvSpPr>
        <p:spPr>
          <a:xfrm>
            <a:off x="590550" y="1152475"/>
            <a:ext cx="8241600" cy="3193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MyApplication</a:t>
            </a:r>
            <a:endParaRPr sz="1800">
              <a:latin typeface="Consolas"/>
              <a:ea typeface="Consolas"/>
              <a:cs typeface="Consolas"/>
              <a:sym typeface="Consolas"/>
            </a:endParaRPr>
          </a:p>
          <a:p>
            <a:pPr marL="0" lvl="0" indent="0" algn="l" rtl="0">
              <a:lnSpc>
                <a:spcPct val="85000"/>
              </a:lnSpc>
              <a:spcBef>
                <a:spcPts val="300"/>
              </a:spcBef>
              <a:spcAft>
                <a:spcPts val="0"/>
              </a:spcAft>
              <a:buClr>
                <a:schemeClr val="dk1"/>
              </a:buClr>
              <a:buSzPts val="1100"/>
              <a:buFont typeface="Arial"/>
              <a:buNone/>
            </a:pPr>
            <a:r>
              <a:rPr lang="en" sz="1800">
                <a:latin typeface="Consolas"/>
                <a:ea typeface="Consolas"/>
                <a:cs typeface="Consolas"/>
                <a:sym typeface="Consolas"/>
              </a:rPr>
              <a:t>├── app</a:t>
            </a:r>
            <a:endParaRPr sz="1800">
              <a:latin typeface="Consolas"/>
              <a:ea typeface="Consolas"/>
              <a:cs typeface="Consolas"/>
              <a:sym typeface="Consolas"/>
            </a:endParaRPr>
          </a:p>
          <a:p>
            <a:pPr marL="0" lvl="0" indent="0" algn="l" rtl="0">
              <a:lnSpc>
                <a:spcPct val="85000"/>
              </a:lnSpc>
              <a:spcBef>
                <a:spcPts val="0"/>
              </a:spcBef>
              <a:spcAft>
                <a:spcPts val="0"/>
              </a:spcAft>
              <a:buClr>
                <a:schemeClr val="dk1"/>
              </a:buClr>
              <a:buSzPts val="1100"/>
              <a:buFont typeface="Arial"/>
              <a:buNone/>
            </a:pPr>
            <a:r>
              <a:rPr lang="en" sz="1800">
                <a:latin typeface="Consolas"/>
                <a:ea typeface="Consolas"/>
                <a:cs typeface="Consolas"/>
                <a:sym typeface="Consolas"/>
              </a:rPr>
              <a:t>│   ├── libs</a:t>
            </a:r>
            <a:endParaRPr sz="1800">
              <a:latin typeface="Consolas"/>
              <a:ea typeface="Consolas"/>
              <a:cs typeface="Consolas"/>
              <a:sym typeface="Consolas"/>
            </a:endParaRPr>
          </a:p>
          <a:p>
            <a:pPr marL="0" lvl="0" indent="0" algn="l" rtl="0">
              <a:lnSpc>
                <a:spcPct val="85000"/>
              </a:lnSpc>
              <a:spcBef>
                <a:spcPts val="0"/>
              </a:spcBef>
              <a:spcAft>
                <a:spcPts val="0"/>
              </a:spcAft>
              <a:buClr>
                <a:schemeClr val="dk1"/>
              </a:buClr>
              <a:buSzPts val="1100"/>
              <a:buFont typeface="Arial"/>
              <a:buNone/>
            </a:pPr>
            <a:r>
              <a:rPr lang="en" sz="1800">
                <a:latin typeface="Consolas"/>
                <a:ea typeface="Consolas"/>
                <a:cs typeface="Consolas"/>
                <a:sym typeface="Consolas"/>
              </a:rPr>
              <a:t>│   └── src</a:t>
            </a:r>
            <a:endParaRPr sz="1800">
              <a:latin typeface="Consolas"/>
              <a:ea typeface="Consolas"/>
              <a:cs typeface="Consolas"/>
              <a:sym typeface="Consolas"/>
            </a:endParaRPr>
          </a:p>
          <a:p>
            <a:pPr marL="0" lvl="0" indent="0" algn="l" rtl="0">
              <a:lnSpc>
                <a:spcPct val="85000"/>
              </a:lnSpc>
              <a:spcBef>
                <a:spcPts val="0"/>
              </a:spcBef>
              <a:spcAft>
                <a:spcPts val="0"/>
              </a:spcAft>
              <a:buClr>
                <a:schemeClr val="dk1"/>
              </a:buClr>
              <a:buSzPts val="1100"/>
              <a:buFont typeface="Arial"/>
              <a:buNone/>
            </a:pPr>
            <a:r>
              <a:rPr lang="en" sz="1800">
                <a:latin typeface="Consolas"/>
                <a:ea typeface="Consolas"/>
                <a:cs typeface="Consolas"/>
                <a:sym typeface="Consolas"/>
              </a:rPr>
              <a:t>│       ├── androidTest</a:t>
            </a:r>
            <a:endParaRPr sz="1800">
              <a:latin typeface="Consolas"/>
              <a:ea typeface="Consolas"/>
              <a:cs typeface="Consolas"/>
              <a:sym typeface="Consolas"/>
            </a:endParaRPr>
          </a:p>
          <a:p>
            <a:pPr marL="0" lvl="0" indent="0" algn="l" rtl="0">
              <a:lnSpc>
                <a:spcPct val="85000"/>
              </a:lnSpc>
              <a:spcBef>
                <a:spcPts val="0"/>
              </a:spcBef>
              <a:spcAft>
                <a:spcPts val="0"/>
              </a:spcAft>
              <a:buClr>
                <a:schemeClr val="dk1"/>
              </a:buClr>
              <a:buSzPts val="1100"/>
              <a:buFont typeface="Arial"/>
              <a:buNone/>
            </a:pPr>
            <a:r>
              <a:rPr lang="en" sz="1800">
                <a:latin typeface="Consolas"/>
                <a:ea typeface="Consolas"/>
                <a:cs typeface="Consolas"/>
                <a:sym typeface="Consolas"/>
              </a:rPr>
              <a:t>│       ├── main</a:t>
            </a:r>
            <a:endParaRPr sz="1800">
              <a:latin typeface="Consolas"/>
              <a:ea typeface="Consolas"/>
              <a:cs typeface="Consolas"/>
              <a:sym typeface="Consolas"/>
            </a:endParaRPr>
          </a:p>
          <a:p>
            <a:pPr marL="0" lvl="0" indent="0" algn="l" rtl="0">
              <a:lnSpc>
                <a:spcPct val="85000"/>
              </a:lnSpc>
              <a:spcBef>
                <a:spcPts val="0"/>
              </a:spcBef>
              <a:spcAft>
                <a:spcPts val="0"/>
              </a:spcAft>
              <a:buClr>
                <a:schemeClr val="dk1"/>
              </a:buClr>
              <a:buSzPts val="1100"/>
              <a:buFont typeface="Arial"/>
              <a:buNone/>
            </a:pPr>
            <a:r>
              <a:rPr lang="en" sz="1800">
                <a:latin typeface="Consolas"/>
                <a:ea typeface="Consolas"/>
                <a:cs typeface="Consolas"/>
                <a:sym typeface="Consolas"/>
              </a:rPr>
              <a:t>│       │   ├── java</a:t>
            </a:r>
            <a:endParaRPr sz="1800">
              <a:latin typeface="Consolas"/>
              <a:ea typeface="Consolas"/>
              <a:cs typeface="Consolas"/>
              <a:sym typeface="Consolas"/>
            </a:endParaRPr>
          </a:p>
          <a:p>
            <a:pPr marL="0" lvl="0" indent="0" algn="l" rtl="0">
              <a:lnSpc>
                <a:spcPct val="85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chemeClr val="dk1"/>
                </a:solidFill>
                <a:latin typeface="Consolas"/>
                <a:ea typeface="Consolas"/>
                <a:cs typeface="Consolas"/>
                <a:sym typeface="Consolas"/>
              </a:rPr>
              <a:t>│</a:t>
            </a:r>
            <a:r>
              <a:rPr lang="en" sz="1800">
                <a:latin typeface="Consolas"/>
                <a:ea typeface="Consolas"/>
                <a:cs typeface="Consolas"/>
                <a:sym typeface="Consolas"/>
              </a:rPr>
              <a:t>   </a:t>
            </a:r>
            <a:r>
              <a:rPr lang="en" sz="1800">
                <a:solidFill>
                  <a:schemeClr val="dk1"/>
                </a:solidFill>
                <a:latin typeface="Consolas"/>
                <a:ea typeface="Consolas"/>
                <a:cs typeface="Consolas"/>
                <a:sym typeface="Consolas"/>
              </a:rPr>
              <a:t>├</a:t>
            </a:r>
            <a:r>
              <a:rPr lang="en" sz="1800">
                <a:latin typeface="Consolas"/>
                <a:ea typeface="Consolas"/>
                <a:cs typeface="Consolas"/>
                <a:sym typeface="Consolas"/>
              </a:rPr>
              <a:t>── res</a:t>
            </a:r>
            <a:endParaRPr sz="1800">
              <a:latin typeface="Consolas"/>
              <a:ea typeface="Consolas"/>
              <a:cs typeface="Consolas"/>
              <a:sym typeface="Consolas"/>
            </a:endParaRPr>
          </a:p>
          <a:p>
            <a:pPr marL="0" lvl="0" indent="0" algn="l" rtl="0">
              <a:lnSpc>
                <a:spcPct val="85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chemeClr val="dk1"/>
                </a:solidFill>
                <a:latin typeface="Consolas"/>
                <a:ea typeface="Consolas"/>
                <a:cs typeface="Consolas"/>
                <a:sym typeface="Consolas"/>
              </a:rPr>
              <a:t>│</a:t>
            </a:r>
            <a:r>
              <a:rPr lang="en" sz="1800">
                <a:latin typeface="Consolas"/>
                <a:ea typeface="Consolas"/>
                <a:cs typeface="Consolas"/>
                <a:sym typeface="Consolas"/>
              </a:rPr>
              <a:t>   </a:t>
            </a:r>
            <a:r>
              <a:rPr lang="en" sz="1800">
                <a:solidFill>
                  <a:schemeClr val="dk1"/>
                </a:solidFill>
                <a:latin typeface="Consolas"/>
                <a:ea typeface="Consolas"/>
                <a:cs typeface="Consolas"/>
                <a:sym typeface="Consolas"/>
              </a:rPr>
              <a:t>└── AndroidManifest.xml</a:t>
            </a:r>
            <a:endParaRPr sz="1800">
              <a:latin typeface="Consolas"/>
              <a:ea typeface="Consolas"/>
              <a:cs typeface="Consolas"/>
              <a:sym typeface="Consolas"/>
            </a:endParaRPr>
          </a:p>
          <a:p>
            <a:pPr marL="0" lvl="0" indent="0" algn="l" rtl="0">
              <a:lnSpc>
                <a:spcPct val="85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chemeClr val="dk1"/>
                </a:solidFill>
                <a:latin typeface="Consolas"/>
                <a:ea typeface="Consolas"/>
                <a:cs typeface="Consolas"/>
                <a:sym typeface="Consolas"/>
              </a:rPr>
              <a:t>└── test</a:t>
            </a:r>
            <a:endParaRPr sz="1800">
              <a:latin typeface="Consolas"/>
              <a:ea typeface="Consolas"/>
              <a:cs typeface="Consolas"/>
              <a:sym typeface="Consolas"/>
            </a:endParaRPr>
          </a:p>
          <a:p>
            <a:pPr marL="0" lvl="0" indent="0" algn="l" rtl="0">
              <a:lnSpc>
                <a:spcPct val="85000"/>
              </a:lnSpc>
              <a:spcBef>
                <a:spcPts val="0"/>
              </a:spcBef>
              <a:spcAft>
                <a:spcPts val="0"/>
              </a:spcAft>
              <a:buClr>
                <a:schemeClr val="dk1"/>
              </a:buClr>
              <a:buSzPts val="1100"/>
              <a:buFont typeface="Arial"/>
              <a:buNone/>
            </a:pPr>
            <a:r>
              <a:rPr lang="en" sz="1800">
                <a:latin typeface="Consolas"/>
                <a:ea typeface="Consolas"/>
                <a:cs typeface="Consolas"/>
                <a:sym typeface="Consolas"/>
              </a:rPr>
              <a:t>├── build.gradle</a:t>
            </a:r>
            <a:endParaRPr sz="1800">
              <a:latin typeface="Consolas"/>
              <a:ea typeface="Consolas"/>
              <a:cs typeface="Consolas"/>
              <a:sym typeface="Consolas"/>
            </a:endParaRPr>
          </a:p>
          <a:p>
            <a:pPr marL="0" lvl="0" indent="0" algn="l" rtl="0">
              <a:lnSpc>
                <a:spcPct val="85000"/>
              </a:lnSpc>
              <a:spcBef>
                <a:spcPts val="0"/>
              </a:spcBef>
              <a:spcAft>
                <a:spcPts val="0"/>
              </a:spcAft>
              <a:buClr>
                <a:schemeClr val="dk1"/>
              </a:buClr>
              <a:buSzPts val="1100"/>
              <a:buFont typeface="Arial"/>
              <a:buNone/>
            </a:pPr>
            <a:r>
              <a:rPr lang="en" sz="1800">
                <a:latin typeface="Consolas"/>
                <a:ea typeface="Consolas"/>
                <a:cs typeface="Consolas"/>
                <a:sym typeface="Consolas"/>
              </a:rPr>
              <a:t>└── gradlew</a:t>
            </a:r>
            <a:endParaRPr sz="1800">
              <a:latin typeface="Consolas"/>
              <a:ea typeface="Consolas"/>
              <a:cs typeface="Consolas"/>
              <a:sym typeface="Consolas"/>
            </a:endParaRPr>
          </a:p>
          <a:p>
            <a:pPr marL="0" lvl="0" indent="0" algn="l" rtl="0">
              <a:lnSpc>
                <a:spcPct val="90000"/>
              </a:lnSpc>
              <a:spcBef>
                <a:spcPts val="0"/>
              </a:spcBef>
              <a:spcAft>
                <a:spcPts val="0"/>
              </a:spcAft>
              <a:buClr>
                <a:schemeClr val="dk1"/>
              </a:buClr>
              <a:buSzPts val="1100"/>
              <a:buFont typeface="Arial"/>
              <a:buNone/>
            </a:pPr>
            <a:endParaRPr sz="1800">
              <a:latin typeface="Consolas"/>
              <a:ea typeface="Consolas"/>
              <a:cs typeface="Consolas"/>
              <a:sym typeface="Consolas"/>
            </a:endParaRPr>
          </a:p>
          <a:p>
            <a:pPr marL="0" lvl="0" indent="0" algn="l" rtl="0">
              <a:lnSpc>
                <a:spcPct val="90000"/>
              </a:lnSpc>
              <a:spcBef>
                <a:spcPts val="0"/>
              </a:spcBef>
              <a:spcAft>
                <a:spcPts val="0"/>
              </a:spcAft>
              <a:buNone/>
            </a:pPr>
            <a:endParaRPr sz="1800">
              <a:latin typeface="Consolas"/>
              <a:ea typeface="Consolas"/>
              <a:cs typeface="Consolas"/>
              <a:sym typeface="Consolas"/>
            </a:endParaRPr>
          </a:p>
        </p:txBody>
      </p:sp>
      <p:sp>
        <p:nvSpPr>
          <p:cNvPr id="180" name="Google Shape;180;p3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2"/>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Browse files in Android Studio</a:t>
            </a:r>
            <a:endParaRPr/>
          </a:p>
        </p:txBody>
      </p:sp>
      <p:sp>
        <p:nvSpPr>
          <p:cNvPr id="186" name="Google Shape;186;p3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pic>
        <p:nvPicPr>
          <p:cNvPr id="187" name="Google Shape;187;p32"/>
          <p:cNvPicPr preferRelativeResize="0"/>
          <p:nvPr/>
        </p:nvPicPr>
        <p:blipFill>
          <a:blip r:embed="rId3">
            <a:alphaModFix/>
          </a:blip>
          <a:stretch>
            <a:fillRect/>
          </a:stretch>
        </p:blipFill>
        <p:spPr>
          <a:xfrm>
            <a:off x="311700" y="1447800"/>
            <a:ext cx="6124575" cy="2619375"/>
          </a:xfrm>
          <a:prstGeom prst="rect">
            <a:avLst/>
          </a:prstGeom>
          <a:noFill/>
          <a:ln>
            <a:noFill/>
          </a:ln>
        </p:spPr>
      </p:pic>
      <p:pic>
        <p:nvPicPr>
          <p:cNvPr id="188" name="Google Shape;188;p32"/>
          <p:cNvPicPr preferRelativeResize="0"/>
          <p:nvPr/>
        </p:nvPicPr>
        <p:blipFill rotWithShape="1">
          <a:blip r:embed="rId4">
            <a:alphaModFix/>
          </a:blip>
          <a:srcRect r="3549"/>
          <a:stretch/>
        </p:blipFill>
        <p:spPr>
          <a:xfrm>
            <a:off x="6758000" y="1424000"/>
            <a:ext cx="1681150" cy="21907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194" name="Google Shape;194;p33"/>
          <p:cNvSpPr txBox="1"/>
          <p:nvPr/>
        </p:nvSpPr>
        <p:spPr>
          <a:xfrm>
            <a:off x="311700" y="1006800"/>
            <a:ext cx="8520600" cy="2088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5200" b="1">
                <a:solidFill>
                  <a:srgbClr val="FAFAFA"/>
                </a:solidFill>
                <a:latin typeface="Roboto"/>
                <a:ea typeface="Roboto"/>
                <a:cs typeface="Roboto"/>
                <a:sym typeface="Roboto"/>
              </a:rPr>
              <a:t>Layouts and resources in Android</a:t>
            </a:r>
            <a:endParaRPr sz="5200" b="1">
              <a:solidFill>
                <a:srgbClr val="FAFAFA"/>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4"/>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Views</a:t>
            </a:r>
            <a:endParaRPr/>
          </a:p>
        </p:txBody>
      </p:sp>
      <p:sp>
        <p:nvSpPr>
          <p:cNvPr id="200" name="Google Shape;200;p34"/>
          <p:cNvSpPr txBox="1">
            <a:spLocks noGrp="1"/>
          </p:cNvSpPr>
          <p:nvPr>
            <p:ph type="body" idx="1"/>
          </p:nvPr>
        </p:nvSpPr>
        <p:spPr>
          <a:xfrm>
            <a:off x="311700" y="1533475"/>
            <a:ext cx="8520600" cy="27300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a:t>Views are the </a:t>
            </a:r>
            <a:r>
              <a:rPr lang="en">
                <a:solidFill>
                  <a:schemeClr val="dk1"/>
                </a:solidFill>
              </a:rPr>
              <a:t>user interface </a:t>
            </a:r>
            <a:r>
              <a:rPr lang="en"/>
              <a:t>building blocks in Android</a:t>
            </a:r>
            <a:endParaRPr/>
          </a:p>
          <a:p>
            <a:pPr marL="914400" lvl="1" indent="-381000" algn="l" rtl="0">
              <a:spcBef>
                <a:spcPts val="0"/>
              </a:spcBef>
              <a:spcAft>
                <a:spcPts val="0"/>
              </a:spcAft>
              <a:buSzPts val="2400"/>
              <a:buChar char="○"/>
            </a:pPr>
            <a:r>
              <a:rPr lang="en" sz="2400"/>
              <a:t>Bounded by a rectangular area on the screen</a:t>
            </a:r>
            <a:endParaRPr sz="2400"/>
          </a:p>
          <a:p>
            <a:pPr marL="914400" lvl="1" indent="-381000" algn="l" rtl="0">
              <a:spcBef>
                <a:spcPts val="0"/>
              </a:spcBef>
              <a:spcAft>
                <a:spcPts val="0"/>
              </a:spcAft>
              <a:buSzPts val="2400"/>
              <a:buChar char="○"/>
            </a:pPr>
            <a:r>
              <a:rPr lang="en" sz="2400"/>
              <a:t>Responsible for drawing and event handling</a:t>
            </a:r>
            <a:endParaRPr sz="2400"/>
          </a:p>
          <a:p>
            <a:pPr marL="914400" lvl="1" indent="-381000" algn="l" rtl="0">
              <a:spcBef>
                <a:spcPts val="0"/>
              </a:spcBef>
              <a:spcAft>
                <a:spcPts val="0"/>
              </a:spcAft>
              <a:buSzPts val="2400"/>
              <a:buChar char="○"/>
            </a:pPr>
            <a:r>
              <a:rPr lang="en" sz="2400"/>
              <a:t>Examples: TextView, ImageView, Button</a:t>
            </a:r>
            <a:endParaRPr sz="2400"/>
          </a:p>
          <a:p>
            <a:pPr marL="457200" lvl="0" indent="-381000" algn="l" rtl="0">
              <a:spcBef>
                <a:spcPts val="1000"/>
              </a:spcBef>
              <a:spcAft>
                <a:spcPts val="1000"/>
              </a:spcAft>
              <a:buSzPts val="2400"/>
              <a:buChar char="●"/>
            </a:pPr>
            <a:r>
              <a:rPr lang="en"/>
              <a:t>Can be grouped to form more complex user interfaces</a:t>
            </a:r>
            <a:endParaRPr/>
          </a:p>
        </p:txBody>
      </p:sp>
      <p:sp>
        <p:nvSpPr>
          <p:cNvPr id="201" name="Google Shape;201;p3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5"/>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Layout Editor</a:t>
            </a:r>
            <a:endParaRPr/>
          </a:p>
        </p:txBody>
      </p:sp>
      <p:sp>
        <p:nvSpPr>
          <p:cNvPr id="207" name="Google Shape;207;p35"/>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pic>
        <p:nvPicPr>
          <p:cNvPr id="208" name="Google Shape;208;p35"/>
          <p:cNvPicPr preferRelativeResize="0"/>
          <p:nvPr/>
        </p:nvPicPr>
        <p:blipFill>
          <a:blip r:embed="rId3">
            <a:alphaModFix/>
          </a:blip>
          <a:stretch>
            <a:fillRect/>
          </a:stretch>
        </p:blipFill>
        <p:spPr>
          <a:xfrm>
            <a:off x="1449816" y="1048320"/>
            <a:ext cx="6244368" cy="351528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6"/>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XML Layouts</a:t>
            </a:r>
            <a:endParaRPr/>
          </a:p>
        </p:txBody>
      </p:sp>
      <p:sp>
        <p:nvSpPr>
          <p:cNvPr id="214" name="Google Shape;214;p36"/>
          <p:cNvSpPr txBox="1">
            <a:spLocks noGrp="1"/>
          </p:cNvSpPr>
          <p:nvPr>
            <p:ph type="body" idx="1"/>
          </p:nvPr>
        </p:nvSpPr>
        <p:spPr>
          <a:xfrm>
            <a:off x="311700" y="1228675"/>
            <a:ext cx="8520600" cy="31938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Clr>
                <a:schemeClr val="dk1"/>
              </a:buClr>
              <a:buSzPts val="1100"/>
              <a:buFont typeface="Arial"/>
              <a:buNone/>
            </a:pPr>
            <a:r>
              <a:rPr lang="en" sz="2200"/>
              <a:t>You can also edit your layout in XML.</a:t>
            </a:r>
            <a:endParaRPr sz="2200"/>
          </a:p>
          <a:p>
            <a:pPr marL="457200" lvl="0" indent="-368300" algn="l" rtl="0">
              <a:spcBef>
                <a:spcPts val="1000"/>
              </a:spcBef>
              <a:spcAft>
                <a:spcPts val="0"/>
              </a:spcAft>
              <a:buSzPts val="2200"/>
              <a:buChar char="●"/>
            </a:pPr>
            <a:r>
              <a:rPr lang="en" sz="2200"/>
              <a:t>Android uses XML to specify the layout of user interfaces (including View </a:t>
            </a:r>
            <a:r>
              <a:rPr lang="en" sz="2200">
                <a:solidFill>
                  <a:schemeClr val="dk1"/>
                </a:solidFill>
              </a:rPr>
              <a:t>attribute</a:t>
            </a:r>
            <a:r>
              <a:rPr lang="en" sz="2200"/>
              <a:t>s) </a:t>
            </a:r>
            <a:br>
              <a:rPr lang="en" sz="2200"/>
            </a:br>
            <a:endParaRPr sz="2200"/>
          </a:p>
          <a:p>
            <a:pPr marL="457200" lvl="0" indent="-368300" algn="l" rtl="0">
              <a:spcBef>
                <a:spcPts val="0"/>
              </a:spcBef>
              <a:spcAft>
                <a:spcPts val="0"/>
              </a:spcAft>
              <a:buSzPts val="2200"/>
              <a:buChar char="●"/>
            </a:pPr>
            <a:r>
              <a:rPr lang="en" sz="2200"/>
              <a:t>Each View in XML corresponds to a class in Kotlin that controls how that View functions </a:t>
            </a:r>
            <a:endParaRPr sz="2200"/>
          </a:p>
          <a:p>
            <a:pPr marL="0" lvl="0" indent="0" algn="l" rtl="0">
              <a:spcBef>
                <a:spcPts val="1000"/>
              </a:spcBef>
              <a:spcAft>
                <a:spcPts val="0"/>
              </a:spcAft>
              <a:buClr>
                <a:schemeClr val="dk1"/>
              </a:buClr>
              <a:buSzPts val="1100"/>
              <a:buFont typeface="Arial"/>
              <a:buNone/>
            </a:pPr>
            <a:endParaRPr sz="2200"/>
          </a:p>
          <a:p>
            <a:pPr marL="0" lvl="0" indent="0" algn="l" rtl="0">
              <a:spcBef>
                <a:spcPts val="1000"/>
              </a:spcBef>
              <a:spcAft>
                <a:spcPts val="0"/>
              </a:spcAft>
              <a:buNone/>
            </a:pPr>
            <a:endParaRPr sz="2200"/>
          </a:p>
        </p:txBody>
      </p:sp>
      <p:sp>
        <p:nvSpPr>
          <p:cNvPr id="215" name="Google Shape;215;p3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7"/>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XML for a TextView</a:t>
            </a:r>
            <a:endParaRPr/>
          </a:p>
        </p:txBody>
      </p:sp>
      <p:sp>
        <p:nvSpPr>
          <p:cNvPr id="221" name="Google Shape;221;p37"/>
          <p:cNvSpPr txBox="1">
            <a:spLocks noGrp="1"/>
          </p:cNvSpPr>
          <p:nvPr>
            <p:ph type="body" idx="1"/>
          </p:nvPr>
        </p:nvSpPr>
        <p:spPr>
          <a:xfrm>
            <a:off x="311700" y="1714125"/>
            <a:ext cx="5629500" cy="2124300"/>
          </a:xfrm>
          <a:prstGeom prst="rect">
            <a:avLst/>
          </a:prstGeom>
        </p:spPr>
        <p:txBody>
          <a:bodyPr spcFirstLastPara="1" wrap="square" lIns="91425" tIns="91425" rIns="91425" bIns="91425" anchor="t" anchorCtr="0">
            <a:noAutofit/>
          </a:bodyPr>
          <a:lstStyle/>
          <a:p>
            <a:pPr marL="0" lvl="0" indent="0" algn="l" rtl="0">
              <a:lnSpc>
                <a:spcPct val="100000"/>
              </a:lnSpc>
              <a:spcBef>
                <a:spcPts val="500"/>
              </a:spcBef>
              <a:spcAft>
                <a:spcPts val="0"/>
              </a:spcAft>
              <a:buNone/>
            </a:pPr>
            <a:r>
              <a:rPr lang="en" sz="1800">
                <a:solidFill>
                  <a:srgbClr val="37474F"/>
                </a:solidFill>
                <a:latin typeface="Consolas"/>
                <a:ea typeface="Consolas"/>
                <a:cs typeface="Consolas"/>
                <a:sym typeface="Consolas"/>
              </a:rPr>
              <a:t>&lt;TextView</a:t>
            </a:r>
            <a:endParaRPr sz="1800">
              <a:solidFill>
                <a:srgbClr val="37474F"/>
              </a:solidFill>
              <a:latin typeface="Consolas"/>
              <a:ea typeface="Consolas"/>
              <a:cs typeface="Consolas"/>
              <a:sym typeface="Consolas"/>
            </a:endParaRPr>
          </a:p>
          <a:p>
            <a:pPr marL="0" lvl="0" indent="0" algn="l" rtl="0">
              <a:lnSpc>
                <a:spcPct val="100000"/>
              </a:lnSpc>
              <a:spcBef>
                <a:spcPts val="500"/>
              </a:spcBef>
              <a:spcAft>
                <a:spcPts val="0"/>
              </a:spcAft>
              <a:buNone/>
            </a:pPr>
            <a:r>
              <a:rPr lang="en" sz="1800">
                <a:solidFill>
                  <a:srgbClr val="37474F"/>
                </a:solidFill>
                <a:latin typeface="Consolas"/>
                <a:ea typeface="Consolas"/>
                <a:cs typeface="Consolas"/>
                <a:sym typeface="Consolas"/>
              </a:rPr>
              <a:t>    android:layout_width=</a:t>
            </a:r>
            <a:r>
              <a:rPr lang="en" sz="1800">
                <a:solidFill>
                  <a:srgbClr val="388E3C"/>
                </a:solidFill>
                <a:latin typeface="Consolas"/>
                <a:ea typeface="Consolas"/>
                <a:cs typeface="Consolas"/>
                <a:sym typeface="Consolas"/>
              </a:rPr>
              <a:t>"wrap_content"</a:t>
            </a:r>
            <a:endParaRPr sz="1800">
              <a:solidFill>
                <a:srgbClr val="37474F"/>
              </a:solidFill>
              <a:latin typeface="Consolas"/>
              <a:ea typeface="Consolas"/>
              <a:cs typeface="Consolas"/>
              <a:sym typeface="Consolas"/>
            </a:endParaRPr>
          </a:p>
          <a:p>
            <a:pPr marL="0" lvl="0" indent="0" algn="l" rtl="0">
              <a:lnSpc>
                <a:spcPct val="100000"/>
              </a:lnSpc>
              <a:spcBef>
                <a:spcPts val="500"/>
              </a:spcBef>
              <a:spcAft>
                <a:spcPts val="0"/>
              </a:spcAft>
              <a:buNone/>
            </a:pPr>
            <a:r>
              <a:rPr lang="en" sz="1800">
                <a:solidFill>
                  <a:srgbClr val="37474F"/>
                </a:solidFill>
                <a:latin typeface="Consolas"/>
                <a:ea typeface="Consolas"/>
                <a:cs typeface="Consolas"/>
                <a:sym typeface="Consolas"/>
              </a:rPr>
              <a:t>    android:layout_height=</a:t>
            </a:r>
            <a:r>
              <a:rPr lang="en" sz="1800">
                <a:solidFill>
                  <a:srgbClr val="388E3C"/>
                </a:solidFill>
                <a:latin typeface="Consolas"/>
                <a:ea typeface="Consolas"/>
                <a:cs typeface="Consolas"/>
                <a:sym typeface="Consolas"/>
              </a:rPr>
              <a:t>"wrap_content"</a:t>
            </a:r>
            <a:endParaRPr sz="1800">
              <a:solidFill>
                <a:srgbClr val="37474F"/>
              </a:solidFill>
              <a:latin typeface="Consolas"/>
              <a:ea typeface="Consolas"/>
              <a:cs typeface="Consolas"/>
              <a:sym typeface="Consolas"/>
            </a:endParaRPr>
          </a:p>
          <a:p>
            <a:pPr marL="0" lvl="0" indent="0" algn="l" rtl="0">
              <a:lnSpc>
                <a:spcPct val="150000"/>
              </a:lnSpc>
              <a:spcBef>
                <a:spcPts val="0"/>
              </a:spcBef>
              <a:spcAft>
                <a:spcPts val="0"/>
              </a:spcAft>
              <a:buNone/>
            </a:pPr>
            <a:r>
              <a:rPr lang="en" sz="1800">
                <a:solidFill>
                  <a:srgbClr val="37474F"/>
                </a:solidFill>
                <a:latin typeface="Consolas"/>
                <a:ea typeface="Consolas"/>
                <a:cs typeface="Consolas"/>
                <a:sym typeface="Consolas"/>
              </a:rPr>
              <a:t>    android:text=</a:t>
            </a:r>
            <a:r>
              <a:rPr lang="en" sz="1800">
                <a:solidFill>
                  <a:srgbClr val="388E3C"/>
                </a:solidFill>
                <a:latin typeface="Consolas"/>
                <a:ea typeface="Consolas"/>
                <a:cs typeface="Consolas"/>
                <a:sym typeface="Consolas"/>
              </a:rPr>
              <a:t>"Hello World!"</a:t>
            </a:r>
            <a:r>
              <a:rPr lang="en" sz="1800">
                <a:solidFill>
                  <a:srgbClr val="37474F"/>
                </a:solidFill>
                <a:latin typeface="Consolas"/>
                <a:ea typeface="Consolas"/>
                <a:cs typeface="Consolas"/>
                <a:sym typeface="Consolas"/>
              </a:rPr>
              <a:t>/&gt;</a:t>
            </a:r>
            <a:endParaRPr sz="1800">
              <a:latin typeface="Consolas"/>
              <a:ea typeface="Consolas"/>
              <a:cs typeface="Consolas"/>
              <a:sym typeface="Consolas"/>
            </a:endParaRPr>
          </a:p>
        </p:txBody>
      </p:sp>
      <p:sp>
        <p:nvSpPr>
          <p:cNvPr id="222" name="Google Shape;222;p37"/>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
        <p:nvSpPr>
          <p:cNvPr id="223" name="Google Shape;223;p37"/>
          <p:cNvSpPr txBox="1"/>
          <p:nvPr/>
        </p:nvSpPr>
        <p:spPr>
          <a:xfrm>
            <a:off x="6546725" y="2080775"/>
            <a:ext cx="1858800" cy="689700"/>
          </a:xfrm>
          <a:prstGeom prst="rect">
            <a:avLst/>
          </a:prstGeom>
          <a:noFill/>
          <a:ln w="9525" cap="flat" cmpd="sng">
            <a:solidFill>
              <a:srgbClr val="4CAF5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a:ea typeface="Roboto"/>
                <a:cs typeface="Roboto"/>
                <a:sym typeface="Roboto"/>
              </a:rPr>
              <a:t>Hello World!</a:t>
            </a:r>
            <a:endParaRPr sz="1800">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8"/>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Size of a View</a:t>
            </a:r>
            <a:endParaRPr/>
          </a:p>
        </p:txBody>
      </p:sp>
      <p:sp>
        <p:nvSpPr>
          <p:cNvPr id="229" name="Google Shape;229;p38"/>
          <p:cNvSpPr txBox="1">
            <a:spLocks noGrp="1"/>
          </p:cNvSpPr>
          <p:nvPr>
            <p:ph type="body" idx="1"/>
          </p:nvPr>
        </p:nvSpPr>
        <p:spPr>
          <a:xfrm>
            <a:off x="311700" y="1228675"/>
            <a:ext cx="8520600" cy="3193800"/>
          </a:xfrm>
          <a:prstGeom prst="rect">
            <a:avLst/>
          </a:prstGeom>
        </p:spPr>
        <p:txBody>
          <a:bodyPr spcFirstLastPara="1" wrap="square" lIns="91425" tIns="91425" rIns="91425" bIns="91425" anchor="t" anchorCtr="0">
            <a:noAutofit/>
          </a:bodyPr>
          <a:lstStyle/>
          <a:p>
            <a:pPr marL="457200" lvl="0" indent="-342900" algn="l" rtl="0">
              <a:spcBef>
                <a:spcPts val="1000"/>
              </a:spcBef>
              <a:spcAft>
                <a:spcPts val="0"/>
              </a:spcAft>
              <a:buSzPts val="1800"/>
              <a:buChar char="●"/>
            </a:pPr>
            <a:r>
              <a:rPr lang="en" sz="1800"/>
              <a:t>wrap_content </a:t>
            </a:r>
            <a:endParaRPr sz="1800"/>
          </a:p>
          <a:p>
            <a:pPr marL="0" lvl="0" indent="0" algn="l" rtl="0">
              <a:spcBef>
                <a:spcPts val="1000"/>
              </a:spcBef>
              <a:spcAft>
                <a:spcPts val="0"/>
              </a:spcAft>
              <a:buNone/>
            </a:pPr>
            <a:r>
              <a:rPr lang="en" sz="1800">
                <a:latin typeface="Consolas"/>
                <a:ea typeface="Consolas"/>
                <a:cs typeface="Consolas"/>
                <a:sym typeface="Consolas"/>
              </a:rPr>
              <a:t>      </a:t>
            </a:r>
            <a:r>
              <a:rPr lang="en" sz="1800">
                <a:latin typeface="Courier New"/>
                <a:ea typeface="Courier New"/>
                <a:cs typeface="Courier New"/>
                <a:sym typeface="Courier New"/>
              </a:rPr>
              <a:t>android:layout_width=</a:t>
            </a:r>
            <a:r>
              <a:rPr lang="en" sz="1800">
                <a:solidFill>
                  <a:srgbClr val="388E3C"/>
                </a:solidFill>
                <a:latin typeface="Courier New"/>
                <a:ea typeface="Courier New"/>
                <a:cs typeface="Courier New"/>
                <a:sym typeface="Courier New"/>
              </a:rPr>
              <a:t>"wrap_content"</a:t>
            </a:r>
            <a:endParaRPr sz="1800">
              <a:solidFill>
                <a:srgbClr val="388E3C"/>
              </a:solidFill>
              <a:latin typeface="Courier New"/>
              <a:ea typeface="Courier New"/>
              <a:cs typeface="Courier New"/>
              <a:sym typeface="Courier New"/>
            </a:endParaRPr>
          </a:p>
          <a:p>
            <a:pPr marL="457200" lvl="0" indent="-342900" algn="l" rtl="0">
              <a:spcBef>
                <a:spcPts val="1000"/>
              </a:spcBef>
              <a:spcAft>
                <a:spcPts val="0"/>
              </a:spcAft>
              <a:buSzPts val="1800"/>
              <a:buChar char="●"/>
            </a:pPr>
            <a:r>
              <a:rPr lang="en" sz="1800"/>
              <a:t>match_parent </a:t>
            </a:r>
            <a:endParaRPr sz="1800"/>
          </a:p>
          <a:p>
            <a:pPr marL="457200" lvl="0" indent="0" algn="l" rtl="0">
              <a:spcBef>
                <a:spcPts val="1000"/>
              </a:spcBef>
              <a:spcAft>
                <a:spcPts val="0"/>
              </a:spcAft>
              <a:buNone/>
            </a:pPr>
            <a:r>
              <a:rPr lang="en" sz="1800">
                <a:latin typeface="Consolas"/>
                <a:ea typeface="Consolas"/>
                <a:cs typeface="Consolas"/>
                <a:sym typeface="Consolas"/>
              </a:rPr>
              <a:t>  </a:t>
            </a:r>
            <a:r>
              <a:rPr lang="en" sz="1800">
                <a:latin typeface="Courier New"/>
                <a:ea typeface="Courier New"/>
                <a:cs typeface="Courier New"/>
                <a:sym typeface="Courier New"/>
              </a:rPr>
              <a:t>android:layout_width=</a:t>
            </a:r>
            <a:r>
              <a:rPr lang="en" sz="1800">
                <a:solidFill>
                  <a:srgbClr val="388E3C"/>
                </a:solidFill>
                <a:latin typeface="Courier New"/>
                <a:ea typeface="Courier New"/>
                <a:cs typeface="Courier New"/>
                <a:sym typeface="Courier New"/>
              </a:rPr>
              <a:t>"match_parent"</a:t>
            </a:r>
            <a:endParaRPr sz="1800">
              <a:solidFill>
                <a:srgbClr val="388E3C"/>
              </a:solidFill>
              <a:latin typeface="Courier New"/>
              <a:ea typeface="Courier New"/>
              <a:cs typeface="Courier New"/>
              <a:sym typeface="Courier New"/>
            </a:endParaRPr>
          </a:p>
          <a:p>
            <a:pPr marL="457200" lvl="0" indent="-342900" algn="l" rtl="0">
              <a:spcBef>
                <a:spcPts val="1000"/>
              </a:spcBef>
              <a:spcAft>
                <a:spcPts val="0"/>
              </a:spcAft>
              <a:buSzPts val="1800"/>
              <a:buChar char="●"/>
            </a:pPr>
            <a:r>
              <a:rPr lang="en" sz="1800"/>
              <a:t>Fixed value (use dp units)</a:t>
            </a:r>
            <a:endParaRPr sz="1800"/>
          </a:p>
          <a:p>
            <a:pPr marL="457200" lvl="0" indent="0" algn="l" rtl="0">
              <a:spcBef>
                <a:spcPts val="1000"/>
              </a:spcBef>
              <a:spcAft>
                <a:spcPts val="0"/>
              </a:spcAft>
              <a:buNone/>
            </a:pPr>
            <a:r>
              <a:rPr lang="en" sz="1800">
                <a:latin typeface="Consolas"/>
                <a:ea typeface="Consolas"/>
                <a:cs typeface="Consolas"/>
                <a:sym typeface="Consolas"/>
              </a:rPr>
              <a:t>  </a:t>
            </a:r>
            <a:r>
              <a:rPr lang="en" sz="1800">
                <a:latin typeface="Courier New"/>
                <a:ea typeface="Courier New"/>
                <a:cs typeface="Courier New"/>
                <a:sym typeface="Courier New"/>
              </a:rPr>
              <a:t>android:layout_width=</a:t>
            </a:r>
            <a:r>
              <a:rPr lang="en" sz="1800">
                <a:solidFill>
                  <a:srgbClr val="388E3C"/>
                </a:solidFill>
                <a:latin typeface="Courier New"/>
                <a:ea typeface="Courier New"/>
                <a:cs typeface="Courier New"/>
                <a:sym typeface="Courier New"/>
              </a:rPr>
              <a:t>"48dp"</a:t>
            </a:r>
            <a:endParaRPr sz="1800">
              <a:solidFill>
                <a:srgbClr val="388E3C"/>
              </a:solidFill>
              <a:latin typeface="Courier New"/>
              <a:ea typeface="Courier New"/>
              <a:cs typeface="Courier New"/>
              <a:sym typeface="Courier New"/>
            </a:endParaRPr>
          </a:p>
        </p:txBody>
      </p:sp>
      <p:sp>
        <p:nvSpPr>
          <p:cNvPr id="230" name="Google Shape;230;p3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9"/>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ViewGroups</a:t>
            </a:r>
            <a:endParaRPr/>
          </a:p>
        </p:txBody>
      </p:sp>
      <p:sp>
        <p:nvSpPr>
          <p:cNvPr id="236" name="Google Shape;236;p39"/>
          <p:cNvSpPr txBox="1">
            <a:spLocks noGrp="1"/>
          </p:cNvSpPr>
          <p:nvPr>
            <p:ph type="body" idx="1"/>
          </p:nvPr>
        </p:nvSpPr>
        <p:spPr>
          <a:xfrm>
            <a:off x="311700" y="1083188"/>
            <a:ext cx="8520600" cy="40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A </a:t>
            </a:r>
            <a:r>
              <a:rPr lang="en" sz="1800">
                <a:latin typeface="Courier New"/>
                <a:ea typeface="Courier New"/>
                <a:cs typeface="Courier New"/>
                <a:sym typeface="Courier New"/>
              </a:rPr>
              <a:t>ViewGroup</a:t>
            </a:r>
            <a:r>
              <a:rPr lang="en" sz="1800"/>
              <a:t> is a container that determines how views are displayed.</a:t>
            </a:r>
            <a:endParaRPr sz="1800"/>
          </a:p>
        </p:txBody>
      </p:sp>
      <p:sp>
        <p:nvSpPr>
          <p:cNvPr id="237" name="Google Shape;237;p39"/>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238" name="Google Shape;238;p39"/>
          <p:cNvSpPr/>
          <p:nvPr/>
        </p:nvSpPr>
        <p:spPr>
          <a:xfrm>
            <a:off x="654875" y="2036475"/>
            <a:ext cx="2273700" cy="1778400"/>
          </a:xfrm>
          <a:prstGeom prst="rect">
            <a:avLst/>
          </a:prstGeom>
          <a:solidFill>
            <a:srgbClr val="F3F3F3"/>
          </a:solidFill>
          <a:ln w="19050"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9"/>
          <p:cNvSpPr txBox="1"/>
          <p:nvPr/>
        </p:nvSpPr>
        <p:spPr>
          <a:xfrm>
            <a:off x="654875" y="1602250"/>
            <a:ext cx="2273700" cy="320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a:latin typeface="Roboto"/>
                <a:ea typeface="Roboto"/>
                <a:cs typeface="Roboto"/>
                <a:sym typeface="Roboto"/>
              </a:rPr>
              <a:t>FrameLayout</a:t>
            </a:r>
            <a:endParaRPr sz="1600">
              <a:latin typeface="Roboto"/>
              <a:ea typeface="Roboto"/>
              <a:cs typeface="Roboto"/>
              <a:sym typeface="Roboto"/>
            </a:endParaRPr>
          </a:p>
        </p:txBody>
      </p:sp>
      <p:sp>
        <p:nvSpPr>
          <p:cNvPr id="240" name="Google Shape;240;p39"/>
          <p:cNvSpPr txBox="1"/>
          <p:nvPr/>
        </p:nvSpPr>
        <p:spPr>
          <a:xfrm>
            <a:off x="1135950" y="2656775"/>
            <a:ext cx="1214400" cy="408000"/>
          </a:xfrm>
          <a:prstGeom prst="rect">
            <a:avLst/>
          </a:prstGeom>
          <a:solidFill>
            <a:srgbClr val="FFFFFF"/>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Condensed"/>
                <a:ea typeface="Roboto Condensed"/>
                <a:cs typeface="Roboto Condensed"/>
                <a:sym typeface="Roboto Condensed"/>
              </a:rPr>
              <a:t>TextView</a:t>
            </a:r>
            <a:endParaRPr sz="1800">
              <a:latin typeface="Roboto Condensed"/>
              <a:ea typeface="Roboto Condensed"/>
              <a:cs typeface="Roboto Condensed"/>
              <a:sym typeface="Roboto Condensed"/>
            </a:endParaRPr>
          </a:p>
        </p:txBody>
      </p:sp>
      <p:sp>
        <p:nvSpPr>
          <p:cNvPr id="241" name="Google Shape;241;p39"/>
          <p:cNvSpPr/>
          <p:nvPr/>
        </p:nvSpPr>
        <p:spPr>
          <a:xfrm>
            <a:off x="3411225" y="2036475"/>
            <a:ext cx="2273700" cy="1778400"/>
          </a:xfrm>
          <a:prstGeom prst="rect">
            <a:avLst/>
          </a:prstGeom>
          <a:solidFill>
            <a:srgbClr val="F3F3F3"/>
          </a:solidFill>
          <a:ln w="19050"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9"/>
          <p:cNvSpPr txBox="1"/>
          <p:nvPr/>
        </p:nvSpPr>
        <p:spPr>
          <a:xfrm>
            <a:off x="3540600" y="2172575"/>
            <a:ext cx="1972500" cy="408000"/>
          </a:xfrm>
          <a:prstGeom prst="rect">
            <a:avLst/>
          </a:prstGeom>
          <a:solidFill>
            <a:srgbClr val="FFFFFF"/>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Condensed"/>
                <a:ea typeface="Roboto Condensed"/>
                <a:cs typeface="Roboto Condensed"/>
                <a:sym typeface="Roboto Condensed"/>
              </a:rPr>
              <a:t>TextView</a:t>
            </a:r>
            <a:endParaRPr sz="1800">
              <a:latin typeface="Roboto Condensed"/>
              <a:ea typeface="Roboto Condensed"/>
              <a:cs typeface="Roboto Condensed"/>
              <a:sym typeface="Roboto Condensed"/>
            </a:endParaRPr>
          </a:p>
        </p:txBody>
      </p:sp>
      <p:sp>
        <p:nvSpPr>
          <p:cNvPr id="243" name="Google Shape;243;p39"/>
          <p:cNvSpPr txBox="1"/>
          <p:nvPr/>
        </p:nvSpPr>
        <p:spPr>
          <a:xfrm>
            <a:off x="3540600" y="2721675"/>
            <a:ext cx="1972500" cy="408000"/>
          </a:xfrm>
          <a:prstGeom prst="rect">
            <a:avLst/>
          </a:prstGeom>
          <a:solidFill>
            <a:srgbClr val="FFFFFF"/>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Condensed"/>
                <a:ea typeface="Roboto Condensed"/>
                <a:cs typeface="Roboto Condensed"/>
                <a:sym typeface="Roboto Condensed"/>
              </a:rPr>
              <a:t>TextView</a:t>
            </a:r>
            <a:endParaRPr sz="1800">
              <a:latin typeface="Roboto Condensed"/>
              <a:ea typeface="Roboto Condensed"/>
              <a:cs typeface="Roboto Condensed"/>
              <a:sym typeface="Roboto Condensed"/>
            </a:endParaRPr>
          </a:p>
        </p:txBody>
      </p:sp>
      <p:sp>
        <p:nvSpPr>
          <p:cNvPr id="244" name="Google Shape;244;p39"/>
          <p:cNvSpPr txBox="1"/>
          <p:nvPr/>
        </p:nvSpPr>
        <p:spPr>
          <a:xfrm>
            <a:off x="3540600" y="3255075"/>
            <a:ext cx="1972500" cy="408000"/>
          </a:xfrm>
          <a:prstGeom prst="rect">
            <a:avLst/>
          </a:prstGeom>
          <a:solidFill>
            <a:srgbClr val="FFFFFF"/>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Condensed"/>
                <a:ea typeface="Roboto Condensed"/>
                <a:cs typeface="Roboto Condensed"/>
                <a:sym typeface="Roboto Condensed"/>
              </a:rPr>
              <a:t>Button</a:t>
            </a:r>
            <a:endParaRPr sz="1800">
              <a:latin typeface="Roboto Condensed"/>
              <a:ea typeface="Roboto Condensed"/>
              <a:cs typeface="Roboto Condensed"/>
              <a:sym typeface="Roboto Condensed"/>
            </a:endParaRPr>
          </a:p>
        </p:txBody>
      </p:sp>
      <p:sp>
        <p:nvSpPr>
          <p:cNvPr id="245" name="Google Shape;245;p39"/>
          <p:cNvSpPr txBox="1"/>
          <p:nvPr/>
        </p:nvSpPr>
        <p:spPr>
          <a:xfrm>
            <a:off x="3398075" y="1602250"/>
            <a:ext cx="2273700" cy="320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a:latin typeface="Roboto"/>
                <a:ea typeface="Roboto"/>
                <a:cs typeface="Roboto"/>
                <a:sym typeface="Roboto"/>
              </a:rPr>
              <a:t>LinearLayout</a:t>
            </a:r>
            <a:endParaRPr sz="1600">
              <a:latin typeface="Roboto"/>
              <a:ea typeface="Roboto"/>
              <a:cs typeface="Roboto"/>
              <a:sym typeface="Roboto"/>
            </a:endParaRPr>
          </a:p>
        </p:txBody>
      </p:sp>
      <p:sp>
        <p:nvSpPr>
          <p:cNvPr id="246" name="Google Shape;246;p39"/>
          <p:cNvSpPr/>
          <p:nvPr/>
        </p:nvSpPr>
        <p:spPr>
          <a:xfrm>
            <a:off x="6078225" y="2036475"/>
            <a:ext cx="2273700" cy="1778400"/>
          </a:xfrm>
          <a:prstGeom prst="rect">
            <a:avLst/>
          </a:prstGeom>
          <a:solidFill>
            <a:srgbClr val="F3F3F3"/>
          </a:solidFill>
          <a:ln w="19050"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9"/>
          <p:cNvSpPr txBox="1"/>
          <p:nvPr/>
        </p:nvSpPr>
        <p:spPr>
          <a:xfrm>
            <a:off x="6223775" y="2401175"/>
            <a:ext cx="938400" cy="408000"/>
          </a:xfrm>
          <a:prstGeom prst="rect">
            <a:avLst/>
          </a:prstGeom>
          <a:solidFill>
            <a:srgbClr val="FFFFFF"/>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latin typeface="Roboto Condensed"/>
                <a:ea typeface="Roboto Condensed"/>
                <a:cs typeface="Roboto Condensed"/>
                <a:sym typeface="Roboto Condensed"/>
              </a:rPr>
              <a:t>TextView</a:t>
            </a:r>
            <a:endParaRPr sz="1600">
              <a:latin typeface="Roboto Condensed"/>
              <a:ea typeface="Roboto Condensed"/>
              <a:cs typeface="Roboto Condensed"/>
              <a:sym typeface="Roboto Condensed"/>
            </a:endParaRPr>
          </a:p>
        </p:txBody>
      </p:sp>
      <p:sp>
        <p:nvSpPr>
          <p:cNvPr id="248" name="Google Shape;248;p39"/>
          <p:cNvSpPr txBox="1"/>
          <p:nvPr/>
        </p:nvSpPr>
        <p:spPr>
          <a:xfrm>
            <a:off x="6228825" y="2950275"/>
            <a:ext cx="1972500" cy="408000"/>
          </a:xfrm>
          <a:prstGeom prst="rect">
            <a:avLst/>
          </a:prstGeom>
          <a:solidFill>
            <a:srgbClr val="FFFFFF"/>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Button</a:t>
            </a:r>
            <a:endParaRPr/>
          </a:p>
        </p:txBody>
      </p:sp>
      <p:sp>
        <p:nvSpPr>
          <p:cNvPr id="249" name="Google Shape;249;p39"/>
          <p:cNvSpPr txBox="1"/>
          <p:nvPr/>
        </p:nvSpPr>
        <p:spPr>
          <a:xfrm>
            <a:off x="6065075" y="1602250"/>
            <a:ext cx="2273700" cy="320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a:latin typeface="Roboto"/>
                <a:ea typeface="Roboto"/>
                <a:cs typeface="Roboto"/>
                <a:sym typeface="Roboto"/>
              </a:rPr>
              <a:t>ConstraintLayout</a:t>
            </a:r>
            <a:endParaRPr sz="1600">
              <a:latin typeface="Roboto"/>
              <a:ea typeface="Roboto"/>
              <a:cs typeface="Roboto"/>
              <a:sym typeface="Roboto"/>
            </a:endParaRPr>
          </a:p>
        </p:txBody>
      </p:sp>
      <p:sp>
        <p:nvSpPr>
          <p:cNvPr id="250" name="Google Shape;250;p39"/>
          <p:cNvSpPr txBox="1"/>
          <p:nvPr/>
        </p:nvSpPr>
        <p:spPr>
          <a:xfrm>
            <a:off x="7257873" y="2401175"/>
            <a:ext cx="938400" cy="408000"/>
          </a:xfrm>
          <a:prstGeom prst="rect">
            <a:avLst/>
          </a:prstGeom>
          <a:solidFill>
            <a:srgbClr val="FFFFFF"/>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latin typeface="Roboto Condensed"/>
                <a:ea typeface="Roboto Condensed"/>
                <a:cs typeface="Roboto Condensed"/>
                <a:sym typeface="Roboto Condensed"/>
              </a:rPr>
              <a:t>TextView</a:t>
            </a:r>
            <a:endParaRPr sz="1600">
              <a:latin typeface="Roboto Condensed"/>
              <a:ea typeface="Roboto Condensed"/>
              <a:cs typeface="Roboto Condensed"/>
              <a:sym typeface="Roboto Condensed"/>
            </a:endParaRPr>
          </a:p>
        </p:txBody>
      </p:sp>
      <p:sp>
        <p:nvSpPr>
          <p:cNvPr id="251" name="Google Shape;251;p39"/>
          <p:cNvSpPr txBox="1"/>
          <p:nvPr/>
        </p:nvSpPr>
        <p:spPr>
          <a:xfrm>
            <a:off x="342900" y="4086974"/>
            <a:ext cx="8443500" cy="393600"/>
          </a:xfrm>
          <a:prstGeom prst="rect">
            <a:avLst/>
          </a:prstGeom>
          <a:solidFill>
            <a:srgbClr val="D6F0FF"/>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073042"/>
                </a:solidFill>
                <a:latin typeface="Roboto"/>
                <a:ea typeface="Roboto"/>
                <a:cs typeface="Roboto"/>
                <a:sym typeface="Roboto"/>
              </a:rPr>
              <a:t>The ViewGroup is the parent and the views inside it are its children.</a:t>
            </a:r>
            <a:endParaRPr sz="1800">
              <a:solidFill>
                <a:srgbClr val="073042"/>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800">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0"/>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FrameLayout example</a:t>
            </a:r>
            <a:endParaRPr/>
          </a:p>
        </p:txBody>
      </p:sp>
      <p:sp>
        <p:nvSpPr>
          <p:cNvPr id="257" name="Google Shape;257;p40"/>
          <p:cNvSpPr txBox="1">
            <a:spLocks noGrp="1"/>
          </p:cNvSpPr>
          <p:nvPr>
            <p:ph type="body" idx="1"/>
          </p:nvPr>
        </p:nvSpPr>
        <p:spPr>
          <a:xfrm>
            <a:off x="311700" y="1139625"/>
            <a:ext cx="8520600" cy="52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A </a:t>
            </a:r>
            <a:r>
              <a:rPr lang="en" sz="1800">
                <a:latin typeface="Courier New"/>
                <a:ea typeface="Courier New"/>
                <a:cs typeface="Courier New"/>
                <a:sym typeface="Courier New"/>
              </a:rPr>
              <a:t>FrameLayout</a:t>
            </a:r>
            <a:r>
              <a:rPr lang="en" sz="1800"/>
              <a:t> generally holds a single child </a:t>
            </a:r>
            <a:r>
              <a:rPr lang="en" sz="1800">
                <a:latin typeface="Courier New"/>
                <a:ea typeface="Courier New"/>
                <a:cs typeface="Courier New"/>
                <a:sym typeface="Courier New"/>
              </a:rPr>
              <a:t>View</a:t>
            </a:r>
            <a:r>
              <a:rPr lang="en" sz="1800"/>
              <a:t>.</a:t>
            </a:r>
            <a:endParaRPr sz="1800"/>
          </a:p>
        </p:txBody>
      </p:sp>
      <p:sp>
        <p:nvSpPr>
          <p:cNvPr id="258" name="Google Shape;258;p4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259" name="Google Shape;259;p40"/>
          <p:cNvSpPr txBox="1"/>
          <p:nvPr/>
        </p:nvSpPr>
        <p:spPr>
          <a:xfrm>
            <a:off x="311700" y="1730450"/>
            <a:ext cx="5606400" cy="238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b="1">
                <a:latin typeface="Consolas"/>
                <a:ea typeface="Consolas"/>
                <a:cs typeface="Consolas"/>
                <a:sym typeface="Consolas"/>
              </a:rPr>
              <a:t>&lt;FrameLayout</a:t>
            </a:r>
            <a:endParaRPr sz="1800" b="1">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b="1">
                <a:latin typeface="Consolas"/>
                <a:ea typeface="Consolas"/>
                <a:cs typeface="Consolas"/>
                <a:sym typeface="Consolas"/>
              </a:rPr>
              <a:t>   android:layout_width=</a:t>
            </a:r>
            <a:r>
              <a:rPr lang="en" sz="1800" b="1">
                <a:solidFill>
                  <a:srgbClr val="388E3C"/>
                </a:solidFill>
                <a:latin typeface="Consolas"/>
                <a:ea typeface="Consolas"/>
                <a:cs typeface="Consolas"/>
                <a:sym typeface="Consolas"/>
              </a:rPr>
              <a:t>"match_parent"</a:t>
            </a:r>
            <a:endParaRPr sz="1800" b="1">
              <a:solidFill>
                <a:srgbClr val="388E3C"/>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b="1">
                <a:latin typeface="Consolas"/>
                <a:ea typeface="Consolas"/>
                <a:cs typeface="Consolas"/>
                <a:sym typeface="Consolas"/>
              </a:rPr>
              <a:t>   android:layout_height=</a:t>
            </a:r>
            <a:r>
              <a:rPr lang="en" sz="1800" b="1">
                <a:solidFill>
                  <a:srgbClr val="388E3C"/>
                </a:solidFill>
                <a:latin typeface="Consolas"/>
                <a:ea typeface="Consolas"/>
                <a:cs typeface="Consolas"/>
                <a:sym typeface="Consolas"/>
              </a:rPr>
              <a:t>"match_parent"</a:t>
            </a:r>
            <a:r>
              <a:rPr lang="en" sz="1800" b="1">
                <a:latin typeface="Consolas"/>
                <a:ea typeface="Consolas"/>
                <a:cs typeface="Consolas"/>
                <a:sym typeface="Consolas"/>
              </a:rPr>
              <a:t>&gt;</a:t>
            </a:r>
            <a:endParaRPr sz="1800" b="1">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latin typeface="Consolas"/>
                <a:ea typeface="Consolas"/>
                <a:cs typeface="Consolas"/>
                <a:sym typeface="Consolas"/>
              </a:rPr>
              <a:t>   &lt;TextView</a:t>
            </a:r>
            <a:endParaRPr sz="1800">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latin typeface="Consolas"/>
                <a:ea typeface="Consolas"/>
                <a:cs typeface="Consolas"/>
                <a:sym typeface="Consolas"/>
              </a:rPr>
              <a:t>       android:layout_width=</a:t>
            </a:r>
            <a:r>
              <a:rPr lang="en" sz="1800">
                <a:solidFill>
                  <a:srgbClr val="388E3C"/>
                </a:solidFill>
                <a:latin typeface="Consolas"/>
                <a:ea typeface="Consolas"/>
                <a:cs typeface="Consolas"/>
                <a:sym typeface="Consolas"/>
              </a:rPr>
              <a:t>"match_parent"</a:t>
            </a:r>
            <a:endParaRPr sz="1800">
              <a:solidFill>
                <a:srgbClr val="388E3C"/>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latin typeface="Consolas"/>
                <a:ea typeface="Consolas"/>
                <a:cs typeface="Consolas"/>
                <a:sym typeface="Consolas"/>
              </a:rPr>
              <a:t>       android:layout_height=</a:t>
            </a:r>
            <a:r>
              <a:rPr lang="en" sz="1800">
                <a:solidFill>
                  <a:srgbClr val="388E3C"/>
                </a:solidFill>
                <a:latin typeface="Consolas"/>
                <a:ea typeface="Consolas"/>
                <a:cs typeface="Consolas"/>
                <a:sym typeface="Consolas"/>
              </a:rPr>
              <a:t>"match_parent"</a:t>
            </a:r>
            <a:endParaRPr sz="1800">
              <a:solidFill>
                <a:srgbClr val="388E3C"/>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latin typeface="Consolas"/>
                <a:ea typeface="Consolas"/>
                <a:cs typeface="Consolas"/>
                <a:sym typeface="Consolas"/>
              </a:rPr>
              <a:t>       android:text=</a:t>
            </a:r>
            <a:r>
              <a:rPr lang="en" sz="1800">
                <a:solidFill>
                  <a:srgbClr val="388E3C"/>
                </a:solidFill>
                <a:latin typeface="Consolas"/>
                <a:ea typeface="Consolas"/>
                <a:cs typeface="Consolas"/>
                <a:sym typeface="Consolas"/>
              </a:rPr>
              <a:t>"Hello World!"</a:t>
            </a:r>
            <a:r>
              <a:rPr lang="en" sz="1800">
                <a:latin typeface="Consolas"/>
                <a:ea typeface="Consolas"/>
                <a:cs typeface="Consolas"/>
                <a:sym typeface="Consolas"/>
              </a:rPr>
              <a:t>/&gt;</a:t>
            </a:r>
            <a:endParaRPr sz="1800">
              <a:latin typeface="Consolas"/>
              <a:ea typeface="Consolas"/>
              <a:cs typeface="Consolas"/>
              <a:sym typeface="Consolas"/>
            </a:endParaRPr>
          </a:p>
          <a:p>
            <a:pPr marL="0" lvl="0" indent="0" algn="l" rtl="0">
              <a:spcBef>
                <a:spcPts val="0"/>
              </a:spcBef>
              <a:spcAft>
                <a:spcPts val="0"/>
              </a:spcAft>
              <a:buNone/>
            </a:pPr>
            <a:r>
              <a:rPr lang="en" sz="1800" b="1">
                <a:latin typeface="Consolas"/>
                <a:ea typeface="Consolas"/>
                <a:cs typeface="Consolas"/>
                <a:sym typeface="Consolas"/>
              </a:rPr>
              <a:t>&lt;/FrameLayout&gt;</a:t>
            </a:r>
            <a:endParaRPr sz="1800" b="1">
              <a:latin typeface="Consolas"/>
              <a:ea typeface="Consolas"/>
              <a:cs typeface="Consolas"/>
              <a:sym typeface="Consolas"/>
            </a:endParaRPr>
          </a:p>
        </p:txBody>
      </p:sp>
      <p:sp>
        <p:nvSpPr>
          <p:cNvPr id="260" name="Google Shape;260;p40"/>
          <p:cNvSpPr/>
          <p:nvPr/>
        </p:nvSpPr>
        <p:spPr>
          <a:xfrm>
            <a:off x="6332575" y="2116550"/>
            <a:ext cx="1977300" cy="1778400"/>
          </a:xfrm>
          <a:prstGeom prst="rect">
            <a:avLst/>
          </a:prstGeom>
          <a:solidFill>
            <a:srgbClr val="F3F3F3"/>
          </a:solidFill>
          <a:ln w="19050"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40"/>
          <p:cNvSpPr txBox="1"/>
          <p:nvPr/>
        </p:nvSpPr>
        <p:spPr>
          <a:xfrm>
            <a:off x="6698550" y="2809175"/>
            <a:ext cx="1214400" cy="408000"/>
          </a:xfrm>
          <a:prstGeom prst="rect">
            <a:avLst/>
          </a:prstGeom>
          <a:solidFill>
            <a:srgbClr val="FFFFFF"/>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latin typeface="Roboto Condensed"/>
                <a:ea typeface="Roboto Condensed"/>
                <a:cs typeface="Roboto Condensed"/>
                <a:sym typeface="Roboto Condensed"/>
              </a:rPr>
              <a:t>TextView</a:t>
            </a:r>
            <a:endParaRPr sz="1600">
              <a:latin typeface="Roboto Condensed"/>
              <a:ea typeface="Roboto Condensed"/>
              <a:cs typeface="Roboto Condensed"/>
              <a:sym typeface="Roboto Condense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1"/>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LinearLayout example</a:t>
            </a:r>
            <a:endParaRPr/>
          </a:p>
        </p:txBody>
      </p:sp>
      <p:sp>
        <p:nvSpPr>
          <p:cNvPr id="267" name="Google Shape;267;p41"/>
          <p:cNvSpPr txBox="1">
            <a:spLocks noGrp="1"/>
          </p:cNvSpPr>
          <p:nvPr>
            <p:ph type="body" idx="1"/>
          </p:nvPr>
        </p:nvSpPr>
        <p:spPr>
          <a:xfrm>
            <a:off x="342900" y="2017275"/>
            <a:ext cx="5256900" cy="242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1800" b="1">
                <a:latin typeface="Consolas"/>
                <a:ea typeface="Consolas"/>
                <a:cs typeface="Consolas"/>
                <a:sym typeface="Consolas"/>
              </a:rPr>
              <a:t>&lt;LinearLayout</a:t>
            </a:r>
            <a:endParaRPr sz="1800" b="1">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b="1">
                <a:latin typeface="Consolas"/>
                <a:ea typeface="Consolas"/>
                <a:cs typeface="Consolas"/>
                <a:sym typeface="Consolas"/>
              </a:rPr>
              <a:t>android:layout_width=</a:t>
            </a:r>
            <a:r>
              <a:rPr lang="en" sz="1800" b="1">
                <a:solidFill>
                  <a:srgbClr val="388E3C"/>
                </a:solidFill>
                <a:latin typeface="Consolas"/>
                <a:ea typeface="Consolas"/>
                <a:cs typeface="Consolas"/>
                <a:sym typeface="Consolas"/>
              </a:rPr>
              <a:t>"match_parent"</a:t>
            </a:r>
            <a:endParaRPr sz="1800" b="1">
              <a:solidFill>
                <a:srgbClr val="388E3C"/>
              </a:solidFill>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800" b="1">
                <a:latin typeface="Consolas"/>
                <a:ea typeface="Consolas"/>
                <a:cs typeface="Consolas"/>
                <a:sym typeface="Consolas"/>
              </a:rPr>
              <a:t>    android:layout_height=</a:t>
            </a:r>
            <a:r>
              <a:rPr lang="en" sz="1800" b="1">
                <a:solidFill>
                  <a:srgbClr val="388E3C"/>
                </a:solidFill>
                <a:latin typeface="Consolas"/>
                <a:ea typeface="Consolas"/>
                <a:cs typeface="Consolas"/>
                <a:sym typeface="Consolas"/>
              </a:rPr>
              <a:t>"match_parent"</a:t>
            </a:r>
            <a:endParaRPr sz="1800" b="1">
              <a:solidFill>
                <a:srgbClr val="388E3C"/>
              </a:solidFill>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800" b="1">
                <a:latin typeface="Consolas"/>
                <a:ea typeface="Consolas"/>
                <a:cs typeface="Consolas"/>
                <a:sym typeface="Consolas"/>
              </a:rPr>
              <a:t>    android:orientation=</a:t>
            </a:r>
            <a:r>
              <a:rPr lang="en" sz="1800" b="1">
                <a:solidFill>
                  <a:srgbClr val="388E3C"/>
                </a:solidFill>
                <a:latin typeface="Consolas"/>
                <a:ea typeface="Consolas"/>
                <a:cs typeface="Consolas"/>
                <a:sym typeface="Consolas"/>
              </a:rPr>
              <a:t>"vertical"</a:t>
            </a:r>
            <a:r>
              <a:rPr lang="en" sz="1800" b="1">
                <a:latin typeface="Consolas"/>
                <a:ea typeface="Consolas"/>
                <a:cs typeface="Consolas"/>
                <a:sym typeface="Consolas"/>
              </a:rPr>
              <a:t>&gt;</a:t>
            </a:r>
            <a:endParaRPr sz="1800" b="1">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&lt;TextView ... /&gt;</a:t>
            </a:r>
            <a:endParaRPr sz="1800">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&lt;TextView ... /&gt;</a:t>
            </a:r>
            <a:endParaRPr sz="1800">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&lt;Button ... /&gt;</a:t>
            </a:r>
            <a:endParaRPr sz="1800">
              <a:latin typeface="Consolas"/>
              <a:ea typeface="Consolas"/>
              <a:cs typeface="Consolas"/>
              <a:sym typeface="Consolas"/>
            </a:endParaRPr>
          </a:p>
          <a:p>
            <a:pPr marL="0" lvl="0" indent="0" algn="l" rtl="0">
              <a:lnSpc>
                <a:spcPct val="100000"/>
              </a:lnSpc>
              <a:spcBef>
                <a:spcPts val="0"/>
              </a:spcBef>
              <a:spcAft>
                <a:spcPts val="0"/>
              </a:spcAft>
              <a:buNone/>
            </a:pPr>
            <a:r>
              <a:rPr lang="en" sz="1800" b="1">
                <a:latin typeface="Consolas"/>
                <a:ea typeface="Consolas"/>
                <a:cs typeface="Consolas"/>
                <a:sym typeface="Consolas"/>
              </a:rPr>
              <a:t>&lt;/LinearLayout&gt;</a:t>
            </a:r>
            <a:endParaRPr sz="1800" b="1">
              <a:latin typeface="Consolas"/>
              <a:ea typeface="Consolas"/>
              <a:cs typeface="Consolas"/>
              <a:sym typeface="Consolas"/>
            </a:endParaRPr>
          </a:p>
        </p:txBody>
      </p:sp>
      <p:sp>
        <p:nvSpPr>
          <p:cNvPr id="268" name="Google Shape;268;p4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269" name="Google Shape;269;p41"/>
          <p:cNvSpPr/>
          <p:nvPr/>
        </p:nvSpPr>
        <p:spPr>
          <a:xfrm>
            <a:off x="6078225" y="2341275"/>
            <a:ext cx="2273700" cy="1778400"/>
          </a:xfrm>
          <a:prstGeom prst="rect">
            <a:avLst/>
          </a:prstGeom>
          <a:solidFill>
            <a:srgbClr val="F3F3F3"/>
          </a:solidFill>
          <a:ln w="19050"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41"/>
          <p:cNvSpPr txBox="1"/>
          <p:nvPr/>
        </p:nvSpPr>
        <p:spPr>
          <a:xfrm>
            <a:off x="6207600" y="2477375"/>
            <a:ext cx="1972500" cy="408000"/>
          </a:xfrm>
          <a:prstGeom prst="rect">
            <a:avLst/>
          </a:prstGeom>
          <a:solidFill>
            <a:srgbClr val="FFFFFF"/>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latin typeface="Roboto Condensed"/>
                <a:ea typeface="Roboto Condensed"/>
                <a:cs typeface="Roboto Condensed"/>
                <a:sym typeface="Roboto Condensed"/>
              </a:rPr>
              <a:t>TextView</a:t>
            </a:r>
            <a:endParaRPr sz="1600">
              <a:latin typeface="Roboto Condensed"/>
              <a:ea typeface="Roboto Condensed"/>
              <a:cs typeface="Roboto Condensed"/>
              <a:sym typeface="Roboto Condensed"/>
            </a:endParaRPr>
          </a:p>
        </p:txBody>
      </p:sp>
      <p:sp>
        <p:nvSpPr>
          <p:cNvPr id="271" name="Google Shape;271;p41"/>
          <p:cNvSpPr txBox="1"/>
          <p:nvPr/>
        </p:nvSpPr>
        <p:spPr>
          <a:xfrm>
            <a:off x="6207600" y="3026475"/>
            <a:ext cx="1972500" cy="408000"/>
          </a:xfrm>
          <a:prstGeom prst="rect">
            <a:avLst/>
          </a:prstGeom>
          <a:solidFill>
            <a:srgbClr val="FFFFFF"/>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latin typeface="Roboto Condensed"/>
                <a:ea typeface="Roboto Condensed"/>
                <a:cs typeface="Roboto Condensed"/>
                <a:sym typeface="Roboto Condensed"/>
              </a:rPr>
              <a:t>TextView</a:t>
            </a:r>
            <a:endParaRPr sz="1600">
              <a:latin typeface="Roboto Condensed"/>
              <a:ea typeface="Roboto Condensed"/>
              <a:cs typeface="Roboto Condensed"/>
              <a:sym typeface="Roboto Condensed"/>
            </a:endParaRPr>
          </a:p>
        </p:txBody>
      </p:sp>
      <p:sp>
        <p:nvSpPr>
          <p:cNvPr id="272" name="Google Shape;272;p41"/>
          <p:cNvSpPr txBox="1"/>
          <p:nvPr/>
        </p:nvSpPr>
        <p:spPr>
          <a:xfrm>
            <a:off x="6207600" y="3559875"/>
            <a:ext cx="1972500" cy="408000"/>
          </a:xfrm>
          <a:prstGeom prst="rect">
            <a:avLst/>
          </a:prstGeom>
          <a:solidFill>
            <a:srgbClr val="FFFFFF"/>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latin typeface="Roboto Condensed"/>
                <a:ea typeface="Roboto Condensed"/>
                <a:cs typeface="Roboto Condensed"/>
                <a:sym typeface="Roboto Condensed"/>
              </a:rPr>
              <a:t>Button</a:t>
            </a:r>
            <a:endParaRPr sz="1600">
              <a:latin typeface="Roboto Condensed"/>
              <a:ea typeface="Roboto Condensed"/>
              <a:cs typeface="Roboto Condensed"/>
              <a:sym typeface="Roboto Condensed"/>
            </a:endParaRPr>
          </a:p>
        </p:txBody>
      </p:sp>
      <p:sp>
        <p:nvSpPr>
          <p:cNvPr id="273" name="Google Shape;273;p41"/>
          <p:cNvSpPr txBox="1"/>
          <p:nvPr/>
        </p:nvSpPr>
        <p:spPr>
          <a:xfrm>
            <a:off x="342900" y="1065175"/>
            <a:ext cx="8413800" cy="7059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Font typeface="Roboto"/>
              <a:buChar char="●"/>
            </a:pPr>
            <a:r>
              <a:rPr lang="en" sz="1800">
                <a:latin typeface="Roboto"/>
                <a:ea typeface="Roboto"/>
                <a:cs typeface="Roboto"/>
                <a:sym typeface="Roboto"/>
              </a:rPr>
              <a:t>Aligns child views in a row or column</a:t>
            </a:r>
            <a:endParaRPr sz="1800">
              <a:latin typeface="Roboto"/>
              <a:ea typeface="Roboto"/>
              <a:cs typeface="Roboto"/>
              <a:sym typeface="Roboto"/>
            </a:endParaRPr>
          </a:p>
          <a:p>
            <a:pPr marL="457200" lvl="0" indent="-342900" algn="l" rtl="0">
              <a:lnSpc>
                <a:spcPct val="115000"/>
              </a:lnSpc>
              <a:spcBef>
                <a:spcPts val="0"/>
              </a:spcBef>
              <a:spcAft>
                <a:spcPts val="0"/>
              </a:spcAft>
              <a:buSzPts val="1800"/>
              <a:buFont typeface="Roboto"/>
              <a:buChar char="●"/>
            </a:pPr>
            <a:r>
              <a:rPr lang="en" sz="1800">
                <a:latin typeface="Roboto"/>
                <a:ea typeface="Roboto"/>
                <a:cs typeface="Roboto"/>
                <a:sym typeface="Roboto"/>
              </a:rPr>
              <a:t>Set </a:t>
            </a:r>
            <a:r>
              <a:rPr lang="en" sz="1800">
                <a:latin typeface="Courier New"/>
                <a:ea typeface="Courier New"/>
                <a:cs typeface="Courier New"/>
                <a:sym typeface="Courier New"/>
              </a:rPr>
              <a:t>android:orientation</a:t>
            </a:r>
            <a:r>
              <a:rPr lang="en" sz="1800">
                <a:latin typeface="Roboto"/>
                <a:ea typeface="Roboto"/>
                <a:cs typeface="Roboto"/>
                <a:sym typeface="Roboto"/>
              </a:rPr>
              <a:t> to </a:t>
            </a:r>
            <a:r>
              <a:rPr lang="en" sz="1800">
                <a:latin typeface="Courier New"/>
                <a:ea typeface="Courier New"/>
                <a:cs typeface="Courier New"/>
                <a:sym typeface="Courier New"/>
              </a:rPr>
              <a:t>horizontal</a:t>
            </a:r>
            <a:r>
              <a:rPr lang="en" sz="1800">
                <a:latin typeface="Roboto"/>
                <a:ea typeface="Roboto"/>
                <a:cs typeface="Roboto"/>
                <a:sym typeface="Roboto"/>
              </a:rPr>
              <a:t> or </a:t>
            </a:r>
            <a:r>
              <a:rPr lang="en" sz="1800">
                <a:latin typeface="Courier New"/>
                <a:ea typeface="Courier New"/>
                <a:cs typeface="Courier New"/>
                <a:sym typeface="Courier New"/>
              </a:rPr>
              <a:t>vertical</a:t>
            </a:r>
            <a:endParaRPr sz="1800">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42"/>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View hierarchy</a:t>
            </a:r>
            <a:endParaRPr/>
          </a:p>
        </p:txBody>
      </p:sp>
      <p:sp>
        <p:nvSpPr>
          <p:cNvPr id="279" name="Google Shape;279;p4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cxnSp>
        <p:nvCxnSpPr>
          <p:cNvPr id="280" name="Google Shape;280;p42"/>
          <p:cNvCxnSpPr>
            <a:stCxn id="281" idx="2"/>
            <a:endCxn id="282" idx="0"/>
          </p:cNvCxnSpPr>
          <p:nvPr/>
        </p:nvCxnSpPr>
        <p:spPr>
          <a:xfrm>
            <a:off x="2809899" y="1998850"/>
            <a:ext cx="1516500" cy="762300"/>
          </a:xfrm>
          <a:prstGeom prst="straightConnector1">
            <a:avLst/>
          </a:prstGeom>
          <a:noFill/>
          <a:ln w="28575" cap="flat" cmpd="sng">
            <a:solidFill>
              <a:srgbClr val="083042"/>
            </a:solidFill>
            <a:prstDash val="solid"/>
            <a:round/>
            <a:headEnd type="none" w="med" len="med"/>
            <a:tailEnd type="triangle" w="med" len="med"/>
          </a:ln>
        </p:spPr>
      </p:cxnSp>
      <p:cxnSp>
        <p:nvCxnSpPr>
          <p:cNvPr id="283" name="Google Shape;283;p42"/>
          <p:cNvCxnSpPr>
            <a:stCxn id="282" idx="2"/>
            <a:endCxn id="284" idx="0"/>
          </p:cNvCxnSpPr>
          <p:nvPr/>
        </p:nvCxnSpPr>
        <p:spPr>
          <a:xfrm flipH="1">
            <a:off x="3608224" y="3132700"/>
            <a:ext cx="718200" cy="561300"/>
          </a:xfrm>
          <a:prstGeom prst="straightConnector1">
            <a:avLst/>
          </a:prstGeom>
          <a:noFill/>
          <a:ln w="28575" cap="flat" cmpd="sng">
            <a:solidFill>
              <a:srgbClr val="083042"/>
            </a:solidFill>
            <a:prstDash val="solid"/>
            <a:round/>
            <a:headEnd type="none" w="med" len="med"/>
            <a:tailEnd type="triangle" w="med" len="med"/>
          </a:ln>
        </p:spPr>
      </p:cxnSp>
      <p:cxnSp>
        <p:nvCxnSpPr>
          <p:cNvPr id="285" name="Google Shape;285;p42"/>
          <p:cNvCxnSpPr>
            <a:stCxn id="282" idx="2"/>
            <a:endCxn id="286" idx="0"/>
          </p:cNvCxnSpPr>
          <p:nvPr/>
        </p:nvCxnSpPr>
        <p:spPr>
          <a:xfrm>
            <a:off x="4326424" y="3132700"/>
            <a:ext cx="820800" cy="561300"/>
          </a:xfrm>
          <a:prstGeom prst="straightConnector1">
            <a:avLst/>
          </a:prstGeom>
          <a:noFill/>
          <a:ln w="28575" cap="flat" cmpd="sng">
            <a:solidFill>
              <a:srgbClr val="083042"/>
            </a:solidFill>
            <a:prstDash val="solid"/>
            <a:round/>
            <a:headEnd type="none" w="med" len="med"/>
            <a:tailEnd type="triangle" w="med" len="med"/>
          </a:ln>
        </p:spPr>
      </p:cxnSp>
      <p:cxnSp>
        <p:nvCxnSpPr>
          <p:cNvPr id="287" name="Google Shape;287;p42"/>
          <p:cNvCxnSpPr>
            <a:stCxn id="281" idx="2"/>
            <a:endCxn id="288" idx="0"/>
          </p:cNvCxnSpPr>
          <p:nvPr/>
        </p:nvCxnSpPr>
        <p:spPr>
          <a:xfrm flipH="1">
            <a:off x="1288899" y="1998850"/>
            <a:ext cx="1521000" cy="762300"/>
          </a:xfrm>
          <a:prstGeom prst="straightConnector1">
            <a:avLst/>
          </a:prstGeom>
          <a:noFill/>
          <a:ln w="28575" cap="flat" cmpd="sng">
            <a:solidFill>
              <a:srgbClr val="083042"/>
            </a:solidFill>
            <a:prstDash val="solid"/>
            <a:round/>
            <a:headEnd type="none" w="med" len="med"/>
            <a:tailEnd type="triangle" w="med" len="med"/>
          </a:ln>
        </p:spPr>
      </p:cxnSp>
      <p:sp>
        <p:nvSpPr>
          <p:cNvPr id="289" name="Google Shape;289;p42"/>
          <p:cNvSpPr/>
          <p:nvPr/>
        </p:nvSpPr>
        <p:spPr>
          <a:xfrm>
            <a:off x="6631703" y="1272525"/>
            <a:ext cx="1909500" cy="2976300"/>
          </a:xfrm>
          <a:prstGeom prst="rect">
            <a:avLst/>
          </a:prstGeom>
          <a:solidFill>
            <a:srgbClr val="F3F3F3"/>
          </a:solidFill>
          <a:ln w="19050"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42"/>
          <p:cNvSpPr/>
          <p:nvPr/>
        </p:nvSpPr>
        <p:spPr>
          <a:xfrm>
            <a:off x="6866716" y="1468890"/>
            <a:ext cx="1430100" cy="993000"/>
          </a:xfrm>
          <a:prstGeom prst="rect">
            <a:avLst/>
          </a:prstGeom>
          <a:solidFill>
            <a:srgbClr val="FFFFFF"/>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latin typeface="Roboto Condensed"/>
                <a:ea typeface="Roboto Condensed"/>
                <a:cs typeface="Roboto Condensed"/>
                <a:sym typeface="Roboto Condensed"/>
              </a:rPr>
              <a:t>ImageView</a:t>
            </a:r>
            <a:endParaRPr sz="1600">
              <a:latin typeface="Roboto Condensed"/>
              <a:ea typeface="Roboto Condensed"/>
              <a:cs typeface="Roboto Condensed"/>
              <a:sym typeface="Roboto Condensed"/>
            </a:endParaRPr>
          </a:p>
        </p:txBody>
      </p:sp>
      <p:sp>
        <p:nvSpPr>
          <p:cNvPr id="291" name="Google Shape;291;p42"/>
          <p:cNvSpPr/>
          <p:nvPr/>
        </p:nvSpPr>
        <p:spPr>
          <a:xfrm>
            <a:off x="6866716" y="2633450"/>
            <a:ext cx="1430100" cy="548400"/>
          </a:xfrm>
          <a:prstGeom prst="rect">
            <a:avLst/>
          </a:prstGeom>
          <a:solidFill>
            <a:srgbClr val="FFFFFF"/>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latin typeface="Roboto Condensed"/>
                <a:ea typeface="Roboto Condensed"/>
                <a:cs typeface="Roboto Condensed"/>
                <a:sym typeface="Roboto Condensed"/>
              </a:rPr>
              <a:t>TextView</a:t>
            </a:r>
            <a:endParaRPr sz="1600">
              <a:latin typeface="Roboto Condensed"/>
              <a:ea typeface="Roboto Condensed"/>
              <a:cs typeface="Roboto Condensed"/>
              <a:sym typeface="Roboto Condensed"/>
            </a:endParaRPr>
          </a:p>
        </p:txBody>
      </p:sp>
      <p:sp>
        <p:nvSpPr>
          <p:cNvPr id="292" name="Google Shape;292;p42"/>
          <p:cNvSpPr/>
          <p:nvPr/>
        </p:nvSpPr>
        <p:spPr>
          <a:xfrm>
            <a:off x="6871530" y="3353563"/>
            <a:ext cx="1430100" cy="712200"/>
          </a:xfrm>
          <a:prstGeom prst="rect">
            <a:avLst/>
          </a:prstGeom>
          <a:solidFill>
            <a:srgbClr val="FFFFFF"/>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3" name="Google Shape;293;p42"/>
          <p:cNvSpPr/>
          <p:nvPr/>
        </p:nvSpPr>
        <p:spPr>
          <a:xfrm>
            <a:off x="7002306" y="3480575"/>
            <a:ext cx="548700" cy="477600"/>
          </a:xfrm>
          <a:prstGeom prst="rect">
            <a:avLst/>
          </a:prstGeom>
          <a:no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oboto Condensed"/>
                <a:ea typeface="Roboto Condensed"/>
                <a:cs typeface="Roboto Condensed"/>
                <a:sym typeface="Roboto Condensed"/>
              </a:rPr>
              <a:t>Button</a:t>
            </a:r>
            <a:endParaRPr sz="1100">
              <a:latin typeface="Roboto Condensed"/>
              <a:ea typeface="Roboto Condensed"/>
              <a:cs typeface="Roboto Condensed"/>
              <a:sym typeface="Roboto Condensed"/>
            </a:endParaRPr>
          </a:p>
        </p:txBody>
      </p:sp>
      <p:sp>
        <p:nvSpPr>
          <p:cNvPr id="294" name="Google Shape;294;p42"/>
          <p:cNvSpPr/>
          <p:nvPr/>
        </p:nvSpPr>
        <p:spPr>
          <a:xfrm>
            <a:off x="7620200" y="3480575"/>
            <a:ext cx="548700" cy="477600"/>
          </a:xfrm>
          <a:prstGeom prst="rect">
            <a:avLst/>
          </a:prstGeom>
          <a:no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oboto Condensed"/>
                <a:ea typeface="Roboto Condensed"/>
                <a:cs typeface="Roboto Condensed"/>
                <a:sym typeface="Roboto Condensed"/>
              </a:rPr>
              <a:t>Button</a:t>
            </a:r>
            <a:endParaRPr sz="1100">
              <a:latin typeface="Roboto Condensed"/>
              <a:ea typeface="Roboto Condensed"/>
              <a:cs typeface="Roboto Condensed"/>
              <a:sym typeface="Roboto Condensed"/>
            </a:endParaRPr>
          </a:p>
        </p:txBody>
      </p:sp>
      <p:cxnSp>
        <p:nvCxnSpPr>
          <p:cNvPr id="295" name="Google Shape;295;p42"/>
          <p:cNvCxnSpPr>
            <a:stCxn id="281" idx="2"/>
            <a:endCxn id="296" idx="0"/>
          </p:cNvCxnSpPr>
          <p:nvPr/>
        </p:nvCxnSpPr>
        <p:spPr>
          <a:xfrm flipH="1">
            <a:off x="2802999" y="1998850"/>
            <a:ext cx="6900" cy="762300"/>
          </a:xfrm>
          <a:prstGeom prst="straightConnector1">
            <a:avLst/>
          </a:prstGeom>
          <a:noFill/>
          <a:ln w="28575" cap="flat" cmpd="sng">
            <a:solidFill>
              <a:srgbClr val="083042"/>
            </a:solidFill>
            <a:prstDash val="solid"/>
            <a:round/>
            <a:headEnd type="none" w="med" len="med"/>
            <a:tailEnd type="triangle" w="med" len="med"/>
          </a:ln>
        </p:spPr>
      </p:cxnSp>
      <p:sp>
        <p:nvSpPr>
          <p:cNvPr id="286" name="Google Shape;286;p42"/>
          <p:cNvSpPr/>
          <p:nvPr/>
        </p:nvSpPr>
        <p:spPr>
          <a:xfrm>
            <a:off x="4495801" y="3694075"/>
            <a:ext cx="1302600" cy="371700"/>
          </a:xfrm>
          <a:prstGeom prst="roundRect">
            <a:avLst>
              <a:gd name="adj" fmla="val 16667"/>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Condensed"/>
                <a:ea typeface="Roboto Condensed"/>
                <a:cs typeface="Roboto Condensed"/>
                <a:sym typeface="Roboto Condensed"/>
              </a:rPr>
              <a:t>Button</a:t>
            </a:r>
            <a:endParaRPr sz="1800">
              <a:latin typeface="Roboto Condensed"/>
              <a:ea typeface="Roboto Condensed"/>
              <a:cs typeface="Roboto Condensed"/>
              <a:sym typeface="Roboto Condensed"/>
            </a:endParaRPr>
          </a:p>
        </p:txBody>
      </p:sp>
      <p:sp>
        <p:nvSpPr>
          <p:cNvPr id="284" name="Google Shape;284;p42"/>
          <p:cNvSpPr/>
          <p:nvPr/>
        </p:nvSpPr>
        <p:spPr>
          <a:xfrm>
            <a:off x="2957008" y="3694075"/>
            <a:ext cx="1302600" cy="371700"/>
          </a:xfrm>
          <a:prstGeom prst="roundRect">
            <a:avLst>
              <a:gd name="adj" fmla="val 16667"/>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Condensed"/>
                <a:ea typeface="Roboto Condensed"/>
                <a:cs typeface="Roboto Condensed"/>
                <a:sym typeface="Roboto Condensed"/>
              </a:rPr>
              <a:t>Button</a:t>
            </a:r>
            <a:endParaRPr sz="1800">
              <a:latin typeface="Roboto Condensed"/>
              <a:ea typeface="Roboto Condensed"/>
              <a:cs typeface="Roboto Condensed"/>
              <a:sym typeface="Roboto Condensed"/>
            </a:endParaRPr>
          </a:p>
        </p:txBody>
      </p:sp>
      <p:sp>
        <p:nvSpPr>
          <p:cNvPr id="282" name="Google Shape;282;p42"/>
          <p:cNvSpPr/>
          <p:nvPr/>
        </p:nvSpPr>
        <p:spPr>
          <a:xfrm>
            <a:off x="3625924" y="2761000"/>
            <a:ext cx="1401000" cy="371700"/>
          </a:xfrm>
          <a:prstGeom prst="roundRect">
            <a:avLst>
              <a:gd name="adj" fmla="val 16667"/>
            </a:avLst>
          </a:prstGeom>
          <a:solidFill>
            <a:srgbClr val="D6F0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Condensed"/>
                <a:ea typeface="Roboto Condensed"/>
                <a:cs typeface="Roboto Condensed"/>
                <a:sym typeface="Roboto Condensed"/>
              </a:rPr>
              <a:t>LinearLayout</a:t>
            </a:r>
            <a:endParaRPr sz="1800">
              <a:latin typeface="Roboto Condensed"/>
              <a:ea typeface="Roboto Condensed"/>
              <a:cs typeface="Roboto Condensed"/>
              <a:sym typeface="Roboto Condensed"/>
            </a:endParaRPr>
          </a:p>
        </p:txBody>
      </p:sp>
      <p:sp>
        <p:nvSpPr>
          <p:cNvPr id="288" name="Google Shape;288;p42"/>
          <p:cNvSpPr/>
          <p:nvPr/>
        </p:nvSpPr>
        <p:spPr>
          <a:xfrm>
            <a:off x="588375" y="2761000"/>
            <a:ext cx="1401000" cy="371700"/>
          </a:xfrm>
          <a:prstGeom prst="roundRect">
            <a:avLst>
              <a:gd name="adj" fmla="val 16667"/>
            </a:avLst>
          </a:prstGeom>
          <a:solidFill>
            <a:srgbClr val="D6F0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Condensed"/>
                <a:ea typeface="Roboto Condensed"/>
                <a:cs typeface="Roboto Condensed"/>
                <a:sym typeface="Roboto Condensed"/>
              </a:rPr>
              <a:t>ImageView</a:t>
            </a:r>
            <a:endParaRPr sz="1800">
              <a:latin typeface="Roboto Condensed"/>
              <a:ea typeface="Roboto Condensed"/>
              <a:cs typeface="Roboto Condensed"/>
              <a:sym typeface="Roboto Condensed"/>
            </a:endParaRPr>
          </a:p>
        </p:txBody>
      </p:sp>
      <p:sp>
        <p:nvSpPr>
          <p:cNvPr id="296" name="Google Shape;296;p42"/>
          <p:cNvSpPr/>
          <p:nvPr/>
        </p:nvSpPr>
        <p:spPr>
          <a:xfrm>
            <a:off x="2102543" y="2761000"/>
            <a:ext cx="1401000" cy="371700"/>
          </a:xfrm>
          <a:prstGeom prst="roundRect">
            <a:avLst>
              <a:gd name="adj" fmla="val 16667"/>
            </a:avLst>
          </a:prstGeom>
          <a:solidFill>
            <a:srgbClr val="D6F0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Condensed"/>
                <a:ea typeface="Roboto Condensed"/>
                <a:cs typeface="Roboto Condensed"/>
                <a:sym typeface="Roboto Condensed"/>
              </a:rPr>
              <a:t>TextView</a:t>
            </a:r>
            <a:endParaRPr sz="1800">
              <a:latin typeface="Roboto Condensed"/>
              <a:ea typeface="Roboto Condensed"/>
              <a:cs typeface="Roboto Condensed"/>
              <a:sym typeface="Roboto Condensed"/>
            </a:endParaRPr>
          </a:p>
        </p:txBody>
      </p:sp>
      <p:sp>
        <p:nvSpPr>
          <p:cNvPr id="281" name="Google Shape;281;p42"/>
          <p:cNvSpPr/>
          <p:nvPr/>
        </p:nvSpPr>
        <p:spPr>
          <a:xfrm>
            <a:off x="2109399" y="1627150"/>
            <a:ext cx="1401000" cy="371700"/>
          </a:xfrm>
          <a:prstGeom prst="roundRect">
            <a:avLst>
              <a:gd name="adj" fmla="val 16667"/>
            </a:avLst>
          </a:prstGeom>
          <a:solidFill>
            <a:srgbClr val="428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Roboto Condensed"/>
                <a:ea typeface="Roboto Condensed"/>
                <a:cs typeface="Roboto Condensed"/>
                <a:sym typeface="Roboto Condensed"/>
              </a:rPr>
              <a:t>LinearLayout</a:t>
            </a:r>
            <a:endParaRPr sz="1800">
              <a:solidFill>
                <a:srgbClr val="FFFFFF"/>
              </a:solidFill>
              <a:latin typeface="Roboto Condensed"/>
              <a:ea typeface="Roboto Condensed"/>
              <a:cs typeface="Roboto Condensed"/>
              <a:sym typeface="Roboto Condense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3"/>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App resources</a:t>
            </a:r>
            <a:endParaRPr/>
          </a:p>
        </p:txBody>
      </p:sp>
      <p:sp>
        <p:nvSpPr>
          <p:cNvPr id="302" name="Google Shape;302;p43"/>
          <p:cNvSpPr txBox="1">
            <a:spLocks noGrp="1"/>
          </p:cNvSpPr>
          <p:nvPr>
            <p:ph type="body" idx="1"/>
          </p:nvPr>
        </p:nvSpPr>
        <p:spPr>
          <a:xfrm>
            <a:off x="342900" y="1152475"/>
            <a:ext cx="8489400" cy="319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200"/>
              <a:t>Static content or additional files that your code uses</a:t>
            </a:r>
            <a:endParaRPr sz="2200"/>
          </a:p>
          <a:p>
            <a:pPr marL="457200" lvl="0" indent="-368300" algn="l" rtl="0">
              <a:spcBef>
                <a:spcPts val="1000"/>
              </a:spcBef>
              <a:spcAft>
                <a:spcPts val="0"/>
              </a:spcAft>
              <a:buSzPts val="2200"/>
              <a:buChar char="●"/>
            </a:pPr>
            <a:r>
              <a:rPr lang="en" sz="2200"/>
              <a:t>Layout files</a:t>
            </a:r>
            <a:endParaRPr sz="2200"/>
          </a:p>
          <a:p>
            <a:pPr marL="457200" lvl="0" indent="-368300" algn="l" rtl="0">
              <a:spcBef>
                <a:spcPts val="1000"/>
              </a:spcBef>
              <a:spcAft>
                <a:spcPts val="0"/>
              </a:spcAft>
              <a:buSzPts val="2200"/>
              <a:buChar char="●"/>
            </a:pPr>
            <a:r>
              <a:rPr lang="en" sz="2200"/>
              <a:t>Images</a:t>
            </a:r>
            <a:endParaRPr sz="2200"/>
          </a:p>
          <a:p>
            <a:pPr marL="457200" lvl="0" indent="-368300" algn="l" rtl="0">
              <a:spcBef>
                <a:spcPts val="1000"/>
              </a:spcBef>
              <a:spcAft>
                <a:spcPts val="0"/>
              </a:spcAft>
              <a:buSzPts val="2200"/>
              <a:buChar char="●"/>
            </a:pPr>
            <a:r>
              <a:rPr lang="en" sz="2200"/>
              <a:t>Audio files</a:t>
            </a:r>
            <a:endParaRPr sz="2200"/>
          </a:p>
          <a:p>
            <a:pPr marL="457200" lvl="0" indent="-368300" algn="l" rtl="0">
              <a:spcBef>
                <a:spcPts val="1000"/>
              </a:spcBef>
              <a:spcAft>
                <a:spcPts val="0"/>
              </a:spcAft>
              <a:buSzPts val="2200"/>
              <a:buChar char="●"/>
            </a:pPr>
            <a:r>
              <a:rPr lang="en" sz="2200"/>
              <a:t>User interface strings</a:t>
            </a:r>
            <a:endParaRPr sz="2200"/>
          </a:p>
          <a:p>
            <a:pPr marL="457200" lvl="0" indent="-368300" algn="l" rtl="0">
              <a:spcBef>
                <a:spcPts val="1000"/>
              </a:spcBef>
              <a:spcAft>
                <a:spcPts val="1000"/>
              </a:spcAft>
              <a:buSzPts val="2200"/>
              <a:buChar char="●"/>
            </a:pPr>
            <a:r>
              <a:rPr lang="en" sz="2200"/>
              <a:t>App icon</a:t>
            </a:r>
            <a:endParaRPr sz="2200"/>
          </a:p>
        </p:txBody>
      </p:sp>
      <p:sp>
        <p:nvSpPr>
          <p:cNvPr id="303" name="Google Shape;303;p4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4"/>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Common resource directories</a:t>
            </a:r>
            <a:endParaRPr/>
          </a:p>
        </p:txBody>
      </p:sp>
      <p:sp>
        <p:nvSpPr>
          <p:cNvPr id="309" name="Google Shape;309;p44"/>
          <p:cNvSpPr txBox="1">
            <a:spLocks noGrp="1"/>
          </p:cNvSpPr>
          <p:nvPr>
            <p:ph type="body" idx="1"/>
          </p:nvPr>
        </p:nvSpPr>
        <p:spPr>
          <a:xfrm>
            <a:off x="311700" y="1228675"/>
            <a:ext cx="8520600" cy="65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Add resources to your app by including them in the appropriate resource directory under the parent </a:t>
            </a:r>
            <a:r>
              <a:rPr lang="en" sz="1800">
                <a:latin typeface="Courier New"/>
                <a:ea typeface="Courier New"/>
                <a:cs typeface="Courier New"/>
                <a:sym typeface="Courier New"/>
              </a:rPr>
              <a:t>res</a:t>
            </a:r>
            <a:r>
              <a:rPr lang="en" sz="1800"/>
              <a:t> folder.</a:t>
            </a:r>
            <a:endParaRPr sz="1800"/>
          </a:p>
        </p:txBody>
      </p:sp>
      <p:sp>
        <p:nvSpPr>
          <p:cNvPr id="310" name="Google Shape;310;p4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311" name="Google Shape;311;p44"/>
          <p:cNvSpPr txBox="1"/>
          <p:nvPr/>
        </p:nvSpPr>
        <p:spPr>
          <a:xfrm>
            <a:off x="345525" y="2122550"/>
            <a:ext cx="8486700" cy="212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latin typeface="Consolas"/>
                <a:ea typeface="Consolas"/>
                <a:cs typeface="Consolas"/>
                <a:sym typeface="Consolas"/>
              </a:rPr>
              <a:t>main</a:t>
            </a:r>
            <a:endParaRPr sz="1800">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latin typeface="Consolas"/>
                <a:ea typeface="Consolas"/>
                <a:cs typeface="Consolas"/>
                <a:sym typeface="Consolas"/>
              </a:rPr>
              <a:t>├── java</a:t>
            </a:r>
            <a:endParaRPr sz="1800">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latin typeface="Consolas"/>
                <a:ea typeface="Consolas"/>
                <a:cs typeface="Consolas"/>
                <a:sym typeface="Consolas"/>
              </a:rPr>
              <a:t>└── res</a:t>
            </a:r>
            <a:endParaRPr sz="1800">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latin typeface="Consolas"/>
                <a:ea typeface="Consolas"/>
                <a:cs typeface="Consolas"/>
                <a:sym typeface="Consolas"/>
              </a:rPr>
              <a:t>   ├── drawable</a:t>
            </a:r>
            <a:endParaRPr sz="1800">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latin typeface="Consolas"/>
                <a:ea typeface="Consolas"/>
                <a:cs typeface="Consolas"/>
                <a:sym typeface="Consolas"/>
              </a:rPr>
              <a:t>   ├── layout</a:t>
            </a:r>
            <a:endParaRPr sz="1800">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latin typeface="Consolas"/>
                <a:ea typeface="Consolas"/>
                <a:cs typeface="Consolas"/>
                <a:sym typeface="Consolas"/>
              </a:rPr>
              <a:t>   ├── mipmap</a:t>
            </a:r>
            <a:endParaRPr sz="1800">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latin typeface="Consolas"/>
                <a:ea typeface="Consolas"/>
                <a:cs typeface="Consolas"/>
                <a:sym typeface="Consolas"/>
              </a:rPr>
              <a:t>   └── values</a:t>
            </a:r>
            <a:endParaRPr sz="1800">
              <a:latin typeface="Consolas"/>
              <a:ea typeface="Consolas"/>
              <a:cs typeface="Consolas"/>
              <a:sym typeface="Consolas"/>
            </a:endParaRPr>
          </a:p>
          <a:p>
            <a:pPr marL="0" lvl="0" indent="0" algn="l" rtl="0">
              <a:spcBef>
                <a:spcPts val="0"/>
              </a:spcBef>
              <a:spcAft>
                <a:spcPts val="0"/>
              </a:spcAft>
              <a:buNone/>
            </a:pPr>
            <a:endParaRPr>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45"/>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Resource IDs</a:t>
            </a:r>
            <a:endParaRPr/>
          </a:p>
        </p:txBody>
      </p:sp>
      <p:sp>
        <p:nvSpPr>
          <p:cNvPr id="317" name="Google Shape;317;p45"/>
          <p:cNvSpPr txBox="1">
            <a:spLocks noGrp="1"/>
          </p:cNvSpPr>
          <p:nvPr>
            <p:ph type="body" idx="1"/>
          </p:nvPr>
        </p:nvSpPr>
        <p:spPr>
          <a:xfrm>
            <a:off x="342900" y="1115750"/>
            <a:ext cx="8660700" cy="28728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t>Each resource has a resource ID to access it.</a:t>
            </a:r>
            <a:endParaRPr sz="1800"/>
          </a:p>
          <a:p>
            <a:pPr marL="457200" lvl="0" indent="-342900" algn="l" rtl="0">
              <a:spcBef>
                <a:spcPts val="1000"/>
              </a:spcBef>
              <a:spcAft>
                <a:spcPts val="0"/>
              </a:spcAft>
              <a:buSzPts val="1800"/>
              <a:buChar char="●"/>
            </a:pPr>
            <a:r>
              <a:rPr lang="en" sz="1800"/>
              <a:t>When naming resources, the convention is to use all lowercase with underscores (for example, </a:t>
            </a:r>
            <a:r>
              <a:rPr lang="en" sz="1800">
                <a:latin typeface="Courier New"/>
                <a:ea typeface="Courier New"/>
                <a:cs typeface="Courier New"/>
                <a:sym typeface="Courier New"/>
              </a:rPr>
              <a:t>activity_main.xml</a:t>
            </a:r>
            <a:r>
              <a:rPr lang="en" sz="1800"/>
              <a:t>). </a:t>
            </a:r>
            <a:endParaRPr sz="1800"/>
          </a:p>
          <a:p>
            <a:pPr marL="457200" lvl="0" indent="-342900" algn="l" rtl="0">
              <a:spcBef>
                <a:spcPts val="1000"/>
              </a:spcBef>
              <a:spcAft>
                <a:spcPts val="0"/>
              </a:spcAft>
              <a:buSzPts val="1800"/>
              <a:buChar char="●"/>
            </a:pPr>
            <a:r>
              <a:rPr lang="en" sz="1800"/>
              <a:t>Android autogenerates a class file named </a:t>
            </a:r>
            <a:r>
              <a:rPr lang="en" sz="1800">
                <a:latin typeface="Courier New"/>
                <a:ea typeface="Courier New"/>
                <a:cs typeface="Courier New"/>
                <a:sym typeface="Courier New"/>
              </a:rPr>
              <a:t>R.java</a:t>
            </a:r>
            <a:r>
              <a:rPr lang="en" sz="1800"/>
              <a:t> with references to all resources in the app.</a:t>
            </a:r>
            <a:endParaRPr sz="1800"/>
          </a:p>
          <a:p>
            <a:pPr marL="457200" lvl="0" indent="-342900" algn="l" rtl="0">
              <a:spcBef>
                <a:spcPts val="1000"/>
              </a:spcBef>
              <a:spcAft>
                <a:spcPts val="0"/>
              </a:spcAft>
              <a:buSzPts val="1800"/>
              <a:buChar char="●"/>
            </a:pPr>
            <a:r>
              <a:rPr lang="en" sz="1800"/>
              <a:t>Individual items are referenced with: </a:t>
            </a:r>
            <a:r>
              <a:rPr lang="en" sz="1800">
                <a:latin typeface="Courier New"/>
                <a:ea typeface="Courier New"/>
                <a:cs typeface="Courier New"/>
                <a:sym typeface="Courier New"/>
              </a:rPr>
              <a:t>R.&lt;resource_type&gt;.&lt;resource_name&gt;</a:t>
            </a:r>
            <a:endParaRPr sz="1800">
              <a:latin typeface="Courier New"/>
              <a:ea typeface="Courier New"/>
              <a:cs typeface="Courier New"/>
              <a:sym typeface="Courier New"/>
            </a:endParaRPr>
          </a:p>
          <a:p>
            <a:pPr marL="0" lvl="0" indent="0" algn="l" rtl="0">
              <a:spcBef>
                <a:spcPts val="1000"/>
              </a:spcBef>
              <a:spcAft>
                <a:spcPts val="0"/>
              </a:spcAft>
              <a:buNone/>
            </a:pPr>
            <a:r>
              <a:rPr lang="en" sz="1800"/>
              <a:t>Examples:  </a:t>
            </a:r>
            <a:endParaRPr sz="1800">
              <a:latin typeface="Courier New"/>
              <a:ea typeface="Courier New"/>
              <a:cs typeface="Courier New"/>
              <a:sym typeface="Courier New"/>
            </a:endParaRPr>
          </a:p>
          <a:p>
            <a:pPr marL="0" lvl="0" indent="0" algn="l" rtl="0">
              <a:spcBef>
                <a:spcPts val="1000"/>
              </a:spcBef>
              <a:spcAft>
                <a:spcPts val="1000"/>
              </a:spcAft>
              <a:buNone/>
            </a:pPr>
            <a:endParaRPr sz="1800"/>
          </a:p>
        </p:txBody>
      </p:sp>
      <p:sp>
        <p:nvSpPr>
          <p:cNvPr id="318" name="Google Shape;318;p45"/>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319" name="Google Shape;319;p45"/>
          <p:cNvSpPr txBox="1"/>
          <p:nvPr/>
        </p:nvSpPr>
        <p:spPr>
          <a:xfrm>
            <a:off x="1600200" y="3824920"/>
            <a:ext cx="7284900" cy="67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700">
                <a:latin typeface="Courier New"/>
                <a:ea typeface="Courier New"/>
                <a:cs typeface="Courier New"/>
                <a:sym typeface="Courier New"/>
              </a:rPr>
              <a:t>R.drawable.ic_launcher (res/drawable/ic_launcher.xml) </a:t>
            </a:r>
            <a:endParaRPr sz="170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700">
                <a:latin typeface="Courier New"/>
                <a:ea typeface="Courier New"/>
                <a:cs typeface="Courier New"/>
                <a:sym typeface="Courier New"/>
              </a:rPr>
              <a:t>R.layout.activity_main (res/layout/activity_main.xml)</a:t>
            </a:r>
            <a:endParaRPr sz="1700">
              <a:latin typeface="Courier New"/>
              <a:ea typeface="Courier New"/>
              <a:cs typeface="Courier New"/>
              <a:sym typeface="Courier New"/>
            </a:endParaRPr>
          </a:p>
          <a:p>
            <a:pPr marL="0" lvl="0" indent="0" algn="l" rtl="0">
              <a:spcBef>
                <a:spcPts val="0"/>
              </a:spcBef>
              <a:spcAft>
                <a:spcPts val="0"/>
              </a:spcAft>
              <a:buNone/>
            </a:pPr>
            <a:endParaRPr sz="1700">
              <a:latin typeface="Courier New"/>
              <a:ea typeface="Courier New"/>
              <a:cs typeface="Courier New"/>
              <a:sym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6"/>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Resource IDs for views</a:t>
            </a:r>
            <a:endParaRPr/>
          </a:p>
        </p:txBody>
      </p:sp>
      <p:sp>
        <p:nvSpPr>
          <p:cNvPr id="325" name="Google Shape;325;p46"/>
          <p:cNvSpPr txBox="1">
            <a:spLocks noGrp="1"/>
          </p:cNvSpPr>
          <p:nvPr>
            <p:ph type="body" idx="1"/>
          </p:nvPr>
        </p:nvSpPr>
        <p:spPr>
          <a:xfrm>
            <a:off x="311700" y="1076275"/>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Individual views can also have resource IDs.</a:t>
            </a:r>
            <a:endParaRPr sz="1800"/>
          </a:p>
        </p:txBody>
      </p:sp>
      <p:sp>
        <p:nvSpPr>
          <p:cNvPr id="326" name="Google Shape;326;p4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327" name="Google Shape;327;p46"/>
          <p:cNvSpPr txBox="1"/>
          <p:nvPr/>
        </p:nvSpPr>
        <p:spPr>
          <a:xfrm>
            <a:off x="345525" y="1638800"/>
            <a:ext cx="8440800" cy="44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latin typeface="Roboto"/>
                <a:ea typeface="Roboto"/>
                <a:cs typeface="Roboto"/>
                <a:sym typeface="Roboto"/>
              </a:rPr>
              <a:t>Add the </a:t>
            </a:r>
            <a:r>
              <a:rPr lang="en" sz="1800">
                <a:latin typeface="Courier New"/>
                <a:ea typeface="Courier New"/>
                <a:cs typeface="Courier New"/>
                <a:sym typeface="Courier New"/>
              </a:rPr>
              <a:t>android:id</a:t>
            </a:r>
            <a:r>
              <a:rPr lang="en" sz="1800">
                <a:latin typeface="Roboto"/>
                <a:ea typeface="Roboto"/>
                <a:cs typeface="Roboto"/>
                <a:sym typeface="Roboto"/>
              </a:rPr>
              <a:t> attribute to the View in XML. Use </a:t>
            </a:r>
            <a:r>
              <a:rPr lang="en" sz="1800">
                <a:latin typeface="Courier New"/>
                <a:ea typeface="Courier New"/>
                <a:cs typeface="Courier New"/>
                <a:sym typeface="Courier New"/>
              </a:rPr>
              <a:t>@+id/name</a:t>
            </a:r>
            <a:r>
              <a:rPr lang="en" sz="1800">
                <a:latin typeface="Roboto"/>
                <a:ea typeface="Roboto"/>
                <a:cs typeface="Roboto"/>
                <a:sym typeface="Roboto"/>
              </a:rPr>
              <a:t> syntax.</a:t>
            </a:r>
            <a:endParaRPr sz="1800">
              <a:latin typeface="Roboto"/>
              <a:ea typeface="Roboto"/>
              <a:cs typeface="Roboto"/>
              <a:sym typeface="Roboto"/>
            </a:endParaRPr>
          </a:p>
        </p:txBody>
      </p:sp>
      <p:sp>
        <p:nvSpPr>
          <p:cNvPr id="328" name="Google Shape;328;p46"/>
          <p:cNvSpPr txBox="1"/>
          <p:nvPr/>
        </p:nvSpPr>
        <p:spPr>
          <a:xfrm>
            <a:off x="355400" y="2049125"/>
            <a:ext cx="7907700" cy="15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rgbClr val="37474F"/>
                </a:solidFill>
                <a:latin typeface="Consolas"/>
                <a:ea typeface="Consolas"/>
                <a:cs typeface="Consolas"/>
                <a:sym typeface="Consolas"/>
              </a:rPr>
              <a:t>&lt;TextView</a:t>
            </a: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r>
              <a:rPr lang="en" sz="1800" b="1">
                <a:solidFill>
                  <a:srgbClr val="37474F"/>
                </a:solidFill>
                <a:latin typeface="Consolas"/>
                <a:ea typeface="Consolas"/>
                <a:cs typeface="Consolas"/>
                <a:sym typeface="Consolas"/>
              </a:rPr>
              <a:t>android:id=</a:t>
            </a:r>
            <a:r>
              <a:rPr lang="en" sz="1800" b="1">
                <a:solidFill>
                  <a:srgbClr val="388E3C"/>
                </a:solidFill>
                <a:latin typeface="Consolas"/>
                <a:ea typeface="Consolas"/>
                <a:cs typeface="Consolas"/>
                <a:sym typeface="Consolas"/>
              </a:rPr>
              <a:t>"@+id/helloTextView"</a:t>
            </a:r>
            <a:endParaRPr sz="1800" b="1">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android:layout_width=</a:t>
            </a:r>
            <a:r>
              <a:rPr lang="en" sz="1800">
                <a:solidFill>
                  <a:srgbClr val="388E3C"/>
                </a:solidFill>
                <a:latin typeface="Consolas"/>
                <a:ea typeface="Consolas"/>
                <a:cs typeface="Consolas"/>
                <a:sym typeface="Consolas"/>
              </a:rPr>
              <a:t>"wrap_content"</a:t>
            </a: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android:layout_height=</a:t>
            </a:r>
            <a:r>
              <a:rPr lang="en" sz="1800">
                <a:solidFill>
                  <a:srgbClr val="388E3C"/>
                </a:solidFill>
                <a:latin typeface="Consolas"/>
                <a:ea typeface="Consolas"/>
                <a:cs typeface="Consolas"/>
                <a:sym typeface="Consolas"/>
              </a:rPr>
              <a:t>"wrap_content"</a:t>
            </a: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android:text=</a:t>
            </a:r>
            <a:r>
              <a:rPr lang="en" sz="1800">
                <a:solidFill>
                  <a:srgbClr val="388E3C"/>
                </a:solidFill>
                <a:latin typeface="Consolas"/>
                <a:ea typeface="Consolas"/>
                <a:cs typeface="Consolas"/>
                <a:sym typeface="Consolas"/>
              </a:rPr>
              <a:t>"Hello World!"</a:t>
            </a:r>
            <a:r>
              <a:rPr lang="en" sz="1800">
                <a:solidFill>
                  <a:srgbClr val="37474F"/>
                </a:solidFill>
                <a:latin typeface="Consolas"/>
                <a:ea typeface="Consolas"/>
                <a:cs typeface="Consolas"/>
                <a:sym typeface="Consolas"/>
              </a:rPr>
              <a:t>/&gt;</a:t>
            </a: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endParaRPr sz="1800">
              <a:latin typeface="Consolas"/>
              <a:ea typeface="Consolas"/>
              <a:cs typeface="Consolas"/>
              <a:sym typeface="Consolas"/>
            </a:endParaRPr>
          </a:p>
        </p:txBody>
      </p:sp>
      <p:sp>
        <p:nvSpPr>
          <p:cNvPr id="329" name="Google Shape;329;p46"/>
          <p:cNvSpPr txBox="1"/>
          <p:nvPr/>
        </p:nvSpPr>
        <p:spPr>
          <a:xfrm>
            <a:off x="365275" y="3717575"/>
            <a:ext cx="7996500" cy="725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a:latin typeface="Roboto"/>
                <a:ea typeface="Roboto"/>
                <a:cs typeface="Roboto"/>
                <a:sym typeface="Roboto"/>
              </a:rPr>
              <a:t>Within your app, you can now refer to this specific TextView using:</a:t>
            </a:r>
            <a:endParaRPr sz="1800">
              <a:latin typeface="Roboto"/>
              <a:ea typeface="Roboto"/>
              <a:cs typeface="Roboto"/>
              <a:sym typeface="Roboto"/>
            </a:endParaRPr>
          </a:p>
          <a:p>
            <a:pPr marL="0" lvl="0" indent="0" algn="l" rtl="0">
              <a:lnSpc>
                <a:spcPct val="115000"/>
              </a:lnSpc>
              <a:spcBef>
                <a:spcPts val="0"/>
              </a:spcBef>
              <a:spcAft>
                <a:spcPts val="0"/>
              </a:spcAft>
              <a:buNone/>
            </a:pPr>
            <a:r>
              <a:rPr lang="en" sz="1800">
                <a:latin typeface="Courier New"/>
                <a:ea typeface="Courier New"/>
                <a:cs typeface="Courier New"/>
                <a:sym typeface="Courier New"/>
              </a:rPr>
              <a:t>R.id.helloTextView</a:t>
            </a:r>
            <a:endParaRPr sz="1800">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7"/>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sp>
        <p:nvSpPr>
          <p:cNvPr id="335" name="Google Shape;335;p47"/>
          <p:cNvSpPr txBox="1"/>
          <p:nvPr/>
        </p:nvSpPr>
        <p:spPr>
          <a:xfrm>
            <a:off x="311700" y="778200"/>
            <a:ext cx="8520600" cy="2088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5200" b="1">
                <a:solidFill>
                  <a:srgbClr val="FAFAFA"/>
                </a:solidFill>
                <a:latin typeface="Roboto"/>
                <a:ea typeface="Roboto"/>
                <a:cs typeface="Roboto"/>
                <a:sym typeface="Roboto"/>
              </a:rPr>
              <a:t>Activities</a:t>
            </a:r>
            <a:endParaRPr sz="5200" b="1">
              <a:solidFill>
                <a:srgbClr val="FAFAFA"/>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8"/>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What’s an Activity?</a:t>
            </a:r>
            <a:endParaRPr/>
          </a:p>
        </p:txBody>
      </p:sp>
      <p:sp>
        <p:nvSpPr>
          <p:cNvPr id="341" name="Google Shape;341;p48"/>
          <p:cNvSpPr txBox="1">
            <a:spLocks noGrp="1"/>
          </p:cNvSpPr>
          <p:nvPr>
            <p:ph type="body" idx="1"/>
          </p:nvPr>
        </p:nvSpPr>
        <p:spPr>
          <a:xfrm>
            <a:off x="2621725" y="1152475"/>
            <a:ext cx="6078000" cy="17571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SzPts val="2000"/>
              <a:buChar char="●"/>
            </a:pPr>
            <a:r>
              <a:rPr lang="en" sz="2000"/>
              <a:t>An Activity is a means for the user to accomplish one main goal. </a:t>
            </a:r>
            <a:endParaRPr sz="2000"/>
          </a:p>
          <a:p>
            <a:pPr marL="457200" lvl="0" indent="-355600" algn="l" rtl="0">
              <a:spcBef>
                <a:spcPts val="1000"/>
              </a:spcBef>
              <a:spcAft>
                <a:spcPts val="1000"/>
              </a:spcAft>
              <a:buSzPts val="2000"/>
              <a:buChar char="●"/>
            </a:pPr>
            <a:r>
              <a:rPr lang="en" sz="2000"/>
              <a:t>An Android app is composed of one or more activities.</a:t>
            </a:r>
            <a:endParaRPr sz="2000"/>
          </a:p>
        </p:txBody>
      </p:sp>
      <p:sp>
        <p:nvSpPr>
          <p:cNvPr id="342" name="Google Shape;342;p4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pic>
        <p:nvPicPr>
          <p:cNvPr id="343" name="Google Shape;343;p48"/>
          <p:cNvPicPr preferRelativeResize="0"/>
          <p:nvPr/>
        </p:nvPicPr>
        <p:blipFill>
          <a:blip r:embed="rId3">
            <a:alphaModFix/>
          </a:blip>
          <a:stretch>
            <a:fillRect/>
          </a:stretch>
        </p:blipFill>
        <p:spPr>
          <a:xfrm>
            <a:off x="379650" y="1170645"/>
            <a:ext cx="1835460" cy="324596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9"/>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MainActivity.kt</a:t>
            </a:r>
            <a:endParaRPr/>
          </a:p>
        </p:txBody>
      </p:sp>
      <p:sp>
        <p:nvSpPr>
          <p:cNvPr id="349" name="Google Shape;349;p49"/>
          <p:cNvSpPr txBox="1">
            <a:spLocks noGrp="1"/>
          </p:cNvSpPr>
          <p:nvPr>
            <p:ph type="body" idx="1"/>
          </p:nvPr>
        </p:nvSpPr>
        <p:spPr>
          <a:xfrm>
            <a:off x="311700" y="1533475"/>
            <a:ext cx="8520600" cy="2112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800">
                <a:solidFill>
                  <a:srgbClr val="3F51B5"/>
                </a:solidFill>
                <a:latin typeface="Consolas"/>
                <a:ea typeface="Consolas"/>
                <a:cs typeface="Consolas"/>
                <a:sym typeface="Consolas"/>
              </a:rPr>
              <a:t>class</a:t>
            </a:r>
            <a:r>
              <a:rPr lang="en" sz="1800">
                <a:solidFill>
                  <a:srgbClr val="37474F"/>
                </a:solidFill>
                <a:latin typeface="Consolas"/>
                <a:ea typeface="Consolas"/>
                <a:cs typeface="Consolas"/>
                <a:sym typeface="Consolas"/>
              </a:rPr>
              <a:t> MainActivity : AppCompatActivity() {</a:t>
            </a: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override</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fun</a:t>
            </a:r>
            <a:r>
              <a:rPr lang="en" sz="1800">
                <a:solidFill>
                  <a:srgbClr val="37474F"/>
                </a:solidFill>
                <a:latin typeface="Consolas"/>
                <a:ea typeface="Consolas"/>
                <a:cs typeface="Consolas"/>
                <a:sym typeface="Consolas"/>
              </a:rPr>
              <a:t> onCreate(savedInstanceState: Bundle?) {</a:t>
            </a: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super</a:t>
            </a:r>
            <a:r>
              <a:rPr lang="en" sz="1800">
                <a:solidFill>
                  <a:srgbClr val="37474F"/>
                </a:solidFill>
                <a:latin typeface="Consolas"/>
                <a:ea typeface="Consolas"/>
                <a:cs typeface="Consolas"/>
                <a:sym typeface="Consolas"/>
              </a:rPr>
              <a:t>.onCreate(savedInstanceState)</a:t>
            </a: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setContentView(R.layout.activity_main)</a:t>
            </a: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marL="0" lvl="0" indent="0" algn="l" rtl="0">
              <a:lnSpc>
                <a:spcPct val="150000"/>
              </a:lnSpc>
              <a:spcBef>
                <a:spcPts val="0"/>
              </a:spcBef>
              <a:spcAft>
                <a:spcPts val="0"/>
              </a:spcAft>
              <a:buNone/>
            </a:pP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p:txBody>
      </p:sp>
      <p:sp>
        <p:nvSpPr>
          <p:cNvPr id="350" name="Google Shape;350;p49"/>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50"/>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 an Activity runs</a:t>
            </a:r>
            <a:endParaRPr/>
          </a:p>
        </p:txBody>
      </p:sp>
      <p:sp>
        <p:nvSpPr>
          <p:cNvPr id="356" name="Google Shape;356;p5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357" name="Google Shape;357;p50"/>
          <p:cNvSpPr/>
          <p:nvPr/>
        </p:nvSpPr>
        <p:spPr>
          <a:xfrm>
            <a:off x="3536795" y="1186700"/>
            <a:ext cx="2010000" cy="529200"/>
          </a:xfrm>
          <a:prstGeom prst="roundRect">
            <a:avLst>
              <a:gd name="adj" fmla="val 16667"/>
            </a:avLst>
          </a:prstGeom>
          <a:solidFill>
            <a:srgbClr val="3DDB8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Condensed"/>
                <a:ea typeface="Roboto Condensed"/>
                <a:cs typeface="Roboto Condensed"/>
                <a:sym typeface="Roboto Condensed"/>
              </a:rPr>
              <a:t>Activity launched</a:t>
            </a:r>
            <a:endParaRPr sz="1800">
              <a:latin typeface="Roboto Condensed"/>
              <a:ea typeface="Roboto Condensed"/>
              <a:cs typeface="Roboto Condensed"/>
              <a:sym typeface="Roboto Condensed"/>
            </a:endParaRPr>
          </a:p>
        </p:txBody>
      </p:sp>
      <p:sp>
        <p:nvSpPr>
          <p:cNvPr id="358" name="Google Shape;358;p50"/>
          <p:cNvSpPr txBox="1"/>
          <p:nvPr/>
        </p:nvSpPr>
        <p:spPr>
          <a:xfrm>
            <a:off x="3597198" y="2894011"/>
            <a:ext cx="18585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latin typeface="Roboto Condensed"/>
                <a:ea typeface="Roboto Condensed"/>
                <a:cs typeface="Roboto Condensed"/>
                <a:sym typeface="Roboto Condensed"/>
              </a:rPr>
              <a:t>App is running</a:t>
            </a:r>
            <a:endParaRPr sz="1800">
              <a:latin typeface="Roboto Condensed"/>
              <a:ea typeface="Roboto Condensed"/>
              <a:cs typeface="Roboto Condensed"/>
              <a:sym typeface="Roboto Condensed"/>
            </a:endParaRPr>
          </a:p>
        </p:txBody>
      </p:sp>
      <p:sp>
        <p:nvSpPr>
          <p:cNvPr id="359" name="Google Shape;359;p50"/>
          <p:cNvSpPr/>
          <p:nvPr/>
        </p:nvSpPr>
        <p:spPr>
          <a:xfrm>
            <a:off x="3597205" y="3784825"/>
            <a:ext cx="2010000" cy="491400"/>
          </a:xfrm>
          <a:prstGeom prst="roundRect">
            <a:avLst>
              <a:gd name="adj" fmla="val 16667"/>
            </a:avLst>
          </a:prstGeom>
          <a:solidFill>
            <a:srgbClr val="F867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000000"/>
                </a:solidFill>
                <a:latin typeface="Roboto Condensed"/>
                <a:ea typeface="Roboto Condensed"/>
                <a:cs typeface="Roboto Condensed"/>
                <a:sym typeface="Roboto Condensed"/>
              </a:rPr>
              <a:t>Activity shut down</a:t>
            </a:r>
            <a:endParaRPr sz="1800">
              <a:latin typeface="Roboto Condensed"/>
              <a:ea typeface="Roboto Condensed"/>
              <a:cs typeface="Roboto Condensed"/>
              <a:sym typeface="Roboto Condensed"/>
            </a:endParaRPr>
          </a:p>
        </p:txBody>
      </p:sp>
      <p:cxnSp>
        <p:nvCxnSpPr>
          <p:cNvPr id="360" name="Google Shape;360;p50"/>
          <p:cNvCxnSpPr/>
          <p:nvPr/>
        </p:nvCxnSpPr>
        <p:spPr>
          <a:xfrm flipH="1">
            <a:off x="4534655" y="1715900"/>
            <a:ext cx="600" cy="451500"/>
          </a:xfrm>
          <a:prstGeom prst="straightConnector1">
            <a:avLst/>
          </a:prstGeom>
          <a:noFill/>
          <a:ln w="28575" cap="flat" cmpd="sng">
            <a:solidFill>
              <a:srgbClr val="000000"/>
            </a:solidFill>
            <a:prstDash val="solid"/>
            <a:round/>
            <a:headEnd type="none" w="med" len="med"/>
            <a:tailEnd type="triangle" w="med" len="med"/>
          </a:ln>
        </p:spPr>
      </p:cxnSp>
      <p:cxnSp>
        <p:nvCxnSpPr>
          <p:cNvPr id="361" name="Google Shape;361;p50"/>
          <p:cNvCxnSpPr/>
          <p:nvPr/>
        </p:nvCxnSpPr>
        <p:spPr>
          <a:xfrm>
            <a:off x="4526448" y="2571758"/>
            <a:ext cx="0" cy="451500"/>
          </a:xfrm>
          <a:prstGeom prst="straightConnector1">
            <a:avLst/>
          </a:prstGeom>
          <a:noFill/>
          <a:ln w="28575" cap="flat" cmpd="sng">
            <a:solidFill>
              <a:srgbClr val="000000"/>
            </a:solidFill>
            <a:prstDash val="solid"/>
            <a:round/>
            <a:headEnd type="none" w="med" len="med"/>
            <a:tailEnd type="triangle" w="med" len="med"/>
          </a:ln>
        </p:spPr>
      </p:cxnSp>
      <p:cxnSp>
        <p:nvCxnSpPr>
          <p:cNvPr id="362" name="Google Shape;362;p50"/>
          <p:cNvCxnSpPr>
            <a:stCxn id="358" idx="2"/>
          </p:cNvCxnSpPr>
          <p:nvPr/>
        </p:nvCxnSpPr>
        <p:spPr>
          <a:xfrm>
            <a:off x="4526448" y="3287611"/>
            <a:ext cx="0" cy="491400"/>
          </a:xfrm>
          <a:prstGeom prst="straightConnector1">
            <a:avLst/>
          </a:prstGeom>
          <a:noFill/>
          <a:ln w="28575" cap="flat" cmpd="sng">
            <a:solidFill>
              <a:srgbClr val="000000"/>
            </a:solidFill>
            <a:prstDash val="solid"/>
            <a:round/>
            <a:headEnd type="none" w="med" len="med"/>
            <a:tailEnd type="triangle" w="med" len="med"/>
          </a:ln>
        </p:spPr>
      </p:cxnSp>
      <p:sp>
        <p:nvSpPr>
          <p:cNvPr id="363" name="Google Shape;363;p50"/>
          <p:cNvSpPr/>
          <p:nvPr/>
        </p:nvSpPr>
        <p:spPr>
          <a:xfrm>
            <a:off x="3681474" y="2163570"/>
            <a:ext cx="1707000" cy="356700"/>
          </a:xfrm>
          <a:prstGeom prst="roundRect">
            <a:avLst>
              <a:gd name="adj" fmla="val 16667"/>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onsolas"/>
                <a:ea typeface="Consolas"/>
                <a:cs typeface="Consolas"/>
                <a:sym typeface="Consolas"/>
              </a:rPr>
              <a:t>onCreate()</a:t>
            </a:r>
            <a:endParaRPr sz="1800">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51"/>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Implement the onCreate() callback</a:t>
            </a:r>
            <a:endParaRPr/>
          </a:p>
        </p:txBody>
      </p:sp>
      <p:sp>
        <p:nvSpPr>
          <p:cNvPr id="369" name="Google Shape;369;p51"/>
          <p:cNvSpPr txBox="1">
            <a:spLocks noGrp="1"/>
          </p:cNvSpPr>
          <p:nvPr>
            <p:ph type="body" idx="1"/>
          </p:nvPr>
        </p:nvSpPr>
        <p:spPr>
          <a:xfrm>
            <a:off x="311700" y="1533475"/>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Called when the system creates your Activity</a:t>
            </a:r>
            <a:endParaRPr sz="1800"/>
          </a:p>
        </p:txBody>
      </p:sp>
      <p:sp>
        <p:nvSpPr>
          <p:cNvPr id="370" name="Google Shape;370;p5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
        <p:nvSpPr>
          <p:cNvPr id="371" name="Google Shape;371;p51"/>
          <p:cNvSpPr txBox="1"/>
          <p:nvPr/>
        </p:nvSpPr>
        <p:spPr>
          <a:xfrm>
            <a:off x="333600" y="2031225"/>
            <a:ext cx="8476800" cy="220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override</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fun</a:t>
            </a:r>
            <a:r>
              <a:rPr lang="en" sz="1800">
                <a:solidFill>
                  <a:srgbClr val="37474F"/>
                </a:solidFill>
                <a:latin typeface="Consolas"/>
                <a:ea typeface="Consolas"/>
                <a:cs typeface="Consolas"/>
                <a:sym typeface="Consolas"/>
              </a:rPr>
              <a:t> onCreate(savedInstanceState: Bundle?) {</a:t>
            </a: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super</a:t>
            </a:r>
            <a:r>
              <a:rPr lang="en" sz="1800">
                <a:solidFill>
                  <a:srgbClr val="37474F"/>
                </a:solidFill>
                <a:latin typeface="Consolas"/>
                <a:ea typeface="Consolas"/>
                <a:cs typeface="Consolas"/>
                <a:sym typeface="Consolas"/>
              </a:rPr>
              <a:t>.onCreate(savedInstanceState)</a:t>
            </a: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setContentView(R.layout.activity_main)</a:t>
            </a:r>
            <a:endParaRPr sz="1800">
              <a:solidFill>
                <a:srgbClr val="37474F"/>
              </a:solidFill>
              <a:latin typeface="Consolas"/>
              <a:ea typeface="Consolas"/>
              <a:cs typeface="Consolas"/>
              <a:sym typeface="Consolas"/>
            </a:endParaRPr>
          </a:p>
          <a:p>
            <a:pPr marL="0" lvl="0" indent="0" algn="l" rtl="0">
              <a:lnSpc>
                <a:spcPct val="15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endParaRPr sz="1800">
              <a:latin typeface="Consolas"/>
              <a:ea typeface="Consolas"/>
              <a:cs typeface="Consolas"/>
              <a:sym typeface="Consolas"/>
            </a:endParaRPr>
          </a:p>
          <a:p>
            <a:pPr marL="0" lvl="0" indent="0" algn="l" rtl="0">
              <a:spcBef>
                <a:spcPts val="0"/>
              </a:spcBef>
              <a:spcAft>
                <a:spcPts val="0"/>
              </a:spcAft>
              <a:buNone/>
            </a:pPr>
            <a:endParaRPr sz="1800">
              <a:latin typeface="Consolas"/>
              <a:ea typeface="Consolas"/>
              <a:cs typeface="Consolas"/>
              <a:sym typeface="Consola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52"/>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Layout inflation</a:t>
            </a:r>
            <a:endParaRPr/>
          </a:p>
        </p:txBody>
      </p:sp>
      <p:sp>
        <p:nvSpPr>
          <p:cNvPr id="377" name="Google Shape;377;p5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
        <p:nvSpPr>
          <p:cNvPr id="378" name="Google Shape;378;p52"/>
          <p:cNvSpPr/>
          <p:nvPr/>
        </p:nvSpPr>
        <p:spPr>
          <a:xfrm>
            <a:off x="401450" y="2227768"/>
            <a:ext cx="2031000" cy="892200"/>
          </a:xfrm>
          <a:prstGeom prst="rect">
            <a:avLst/>
          </a:prstGeom>
          <a:noFill/>
          <a:ln w="19050" cap="flat" cmpd="sng">
            <a:solidFill>
              <a:srgbClr val="D9D9D9"/>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800">
                <a:latin typeface="Roboto Condensed"/>
                <a:ea typeface="Roboto Condensed"/>
                <a:cs typeface="Roboto Condensed"/>
                <a:sym typeface="Roboto Condensed"/>
              </a:rPr>
              <a:t>Layout files</a:t>
            </a:r>
            <a:endParaRPr sz="1800">
              <a:latin typeface="Roboto Condensed"/>
              <a:ea typeface="Roboto Condensed"/>
              <a:cs typeface="Roboto Condensed"/>
              <a:sym typeface="Roboto Condensed"/>
            </a:endParaRPr>
          </a:p>
        </p:txBody>
      </p:sp>
      <p:sp>
        <p:nvSpPr>
          <p:cNvPr id="379" name="Google Shape;379;p52"/>
          <p:cNvSpPr/>
          <p:nvPr/>
        </p:nvSpPr>
        <p:spPr>
          <a:xfrm>
            <a:off x="509500" y="2740318"/>
            <a:ext cx="500700" cy="264600"/>
          </a:xfrm>
          <a:prstGeom prst="rect">
            <a:avLst/>
          </a:prstGeom>
          <a:solidFill>
            <a:srgbClr val="F3F3F3"/>
          </a:solidFill>
          <a:ln w="9525" cap="flat" cmpd="sng">
            <a:solidFill>
              <a:srgbClr val="D9D9D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t>layout1</a:t>
            </a:r>
            <a:endParaRPr sz="1000"/>
          </a:p>
        </p:txBody>
      </p:sp>
      <p:sp>
        <p:nvSpPr>
          <p:cNvPr id="380" name="Google Shape;380;p52"/>
          <p:cNvSpPr/>
          <p:nvPr/>
        </p:nvSpPr>
        <p:spPr>
          <a:xfrm>
            <a:off x="5599225" y="1660175"/>
            <a:ext cx="3093600" cy="2049900"/>
          </a:xfrm>
          <a:prstGeom prst="rect">
            <a:avLst/>
          </a:prstGeom>
          <a:solidFill>
            <a:srgbClr val="D6F0FF"/>
          </a:solidFill>
          <a:ln w="19050"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52"/>
          <p:cNvSpPr/>
          <p:nvPr/>
        </p:nvSpPr>
        <p:spPr>
          <a:xfrm>
            <a:off x="5819275" y="1880075"/>
            <a:ext cx="1106700" cy="314400"/>
          </a:xfrm>
          <a:prstGeom prst="rect">
            <a:avLst/>
          </a:prstGeom>
          <a:solidFill>
            <a:schemeClr val="lt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Condensed"/>
                <a:ea typeface="Roboto Condensed"/>
                <a:cs typeface="Roboto Condensed"/>
                <a:sym typeface="Roboto Condensed"/>
              </a:rPr>
              <a:t>ViewGroup</a:t>
            </a:r>
            <a:endParaRPr>
              <a:latin typeface="Roboto Condensed"/>
              <a:ea typeface="Roboto Condensed"/>
              <a:cs typeface="Roboto Condensed"/>
              <a:sym typeface="Roboto Condensed"/>
            </a:endParaRPr>
          </a:p>
        </p:txBody>
      </p:sp>
      <p:sp>
        <p:nvSpPr>
          <p:cNvPr id="382" name="Google Shape;382;p52"/>
          <p:cNvSpPr/>
          <p:nvPr/>
        </p:nvSpPr>
        <p:spPr>
          <a:xfrm>
            <a:off x="5844450" y="2527925"/>
            <a:ext cx="779700" cy="314400"/>
          </a:xfrm>
          <a:prstGeom prst="rect">
            <a:avLst/>
          </a:prstGeom>
          <a:solidFill>
            <a:schemeClr val="lt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Condensed"/>
                <a:ea typeface="Roboto Condensed"/>
                <a:cs typeface="Roboto Condensed"/>
                <a:sym typeface="Roboto Condensed"/>
              </a:rPr>
              <a:t>View1</a:t>
            </a:r>
            <a:endParaRPr>
              <a:latin typeface="Roboto Condensed"/>
              <a:ea typeface="Roboto Condensed"/>
              <a:cs typeface="Roboto Condensed"/>
              <a:sym typeface="Roboto Condensed"/>
            </a:endParaRPr>
          </a:p>
        </p:txBody>
      </p:sp>
      <p:sp>
        <p:nvSpPr>
          <p:cNvPr id="383" name="Google Shape;383;p52"/>
          <p:cNvSpPr/>
          <p:nvPr/>
        </p:nvSpPr>
        <p:spPr>
          <a:xfrm>
            <a:off x="7106800" y="2705225"/>
            <a:ext cx="1106700" cy="314400"/>
          </a:xfrm>
          <a:prstGeom prst="rect">
            <a:avLst/>
          </a:prstGeom>
          <a:solidFill>
            <a:schemeClr val="lt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Condensed"/>
                <a:ea typeface="Roboto Condensed"/>
                <a:cs typeface="Roboto Condensed"/>
                <a:sym typeface="Roboto Condensed"/>
              </a:rPr>
              <a:t>ViewGroup</a:t>
            </a:r>
            <a:endParaRPr>
              <a:latin typeface="Roboto Condensed"/>
              <a:ea typeface="Roboto Condensed"/>
              <a:cs typeface="Roboto Condensed"/>
              <a:sym typeface="Roboto Condensed"/>
            </a:endParaRPr>
          </a:p>
        </p:txBody>
      </p:sp>
      <p:sp>
        <p:nvSpPr>
          <p:cNvPr id="384" name="Google Shape;384;p52"/>
          <p:cNvSpPr/>
          <p:nvPr/>
        </p:nvSpPr>
        <p:spPr>
          <a:xfrm>
            <a:off x="6801725" y="3231850"/>
            <a:ext cx="779700" cy="314400"/>
          </a:xfrm>
          <a:prstGeom prst="rect">
            <a:avLst/>
          </a:prstGeom>
          <a:solidFill>
            <a:schemeClr val="lt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Condensed"/>
                <a:ea typeface="Roboto Condensed"/>
                <a:cs typeface="Roboto Condensed"/>
                <a:sym typeface="Roboto Condensed"/>
              </a:rPr>
              <a:t>View2</a:t>
            </a:r>
            <a:endParaRPr>
              <a:latin typeface="Roboto Condensed"/>
              <a:ea typeface="Roboto Condensed"/>
              <a:cs typeface="Roboto Condensed"/>
              <a:sym typeface="Roboto Condensed"/>
            </a:endParaRPr>
          </a:p>
        </p:txBody>
      </p:sp>
      <p:sp>
        <p:nvSpPr>
          <p:cNvPr id="385" name="Google Shape;385;p52"/>
          <p:cNvSpPr/>
          <p:nvPr/>
        </p:nvSpPr>
        <p:spPr>
          <a:xfrm>
            <a:off x="7738600" y="3231850"/>
            <a:ext cx="779700" cy="314400"/>
          </a:xfrm>
          <a:prstGeom prst="rect">
            <a:avLst/>
          </a:prstGeom>
          <a:solidFill>
            <a:schemeClr val="lt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Condensed"/>
                <a:ea typeface="Roboto Condensed"/>
                <a:cs typeface="Roboto Condensed"/>
                <a:sym typeface="Roboto Condensed"/>
              </a:rPr>
              <a:t>View3</a:t>
            </a:r>
            <a:endParaRPr>
              <a:latin typeface="Roboto Condensed"/>
              <a:ea typeface="Roboto Condensed"/>
              <a:cs typeface="Roboto Condensed"/>
              <a:sym typeface="Roboto Condensed"/>
            </a:endParaRPr>
          </a:p>
        </p:txBody>
      </p:sp>
      <p:sp>
        <p:nvSpPr>
          <p:cNvPr id="386" name="Google Shape;386;p52"/>
          <p:cNvSpPr txBox="1"/>
          <p:nvPr/>
        </p:nvSpPr>
        <p:spPr>
          <a:xfrm>
            <a:off x="5599325" y="1195975"/>
            <a:ext cx="30936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latin typeface="Roboto"/>
                <a:ea typeface="Roboto"/>
                <a:cs typeface="Roboto"/>
                <a:sym typeface="Roboto"/>
              </a:rPr>
              <a:t>Activity</a:t>
            </a:r>
            <a:endParaRPr sz="1800">
              <a:latin typeface="Roboto"/>
              <a:ea typeface="Roboto"/>
              <a:cs typeface="Roboto"/>
              <a:sym typeface="Roboto"/>
            </a:endParaRPr>
          </a:p>
        </p:txBody>
      </p:sp>
      <p:cxnSp>
        <p:nvCxnSpPr>
          <p:cNvPr id="387" name="Google Shape;387;p52"/>
          <p:cNvCxnSpPr/>
          <p:nvPr/>
        </p:nvCxnSpPr>
        <p:spPr>
          <a:xfrm flipH="1">
            <a:off x="6232350" y="2191850"/>
            <a:ext cx="200700" cy="338700"/>
          </a:xfrm>
          <a:prstGeom prst="straightConnector1">
            <a:avLst/>
          </a:prstGeom>
          <a:noFill/>
          <a:ln w="19050" cap="flat" cmpd="sng">
            <a:solidFill>
              <a:schemeClr val="dk2"/>
            </a:solidFill>
            <a:prstDash val="solid"/>
            <a:round/>
            <a:headEnd type="none" w="med" len="med"/>
            <a:tailEnd type="triangle" w="med" len="med"/>
          </a:ln>
        </p:spPr>
      </p:cxnSp>
      <p:cxnSp>
        <p:nvCxnSpPr>
          <p:cNvPr id="388" name="Google Shape;388;p52"/>
          <p:cNvCxnSpPr/>
          <p:nvPr/>
        </p:nvCxnSpPr>
        <p:spPr>
          <a:xfrm>
            <a:off x="6548062" y="2200625"/>
            <a:ext cx="673500" cy="503100"/>
          </a:xfrm>
          <a:prstGeom prst="straightConnector1">
            <a:avLst/>
          </a:prstGeom>
          <a:noFill/>
          <a:ln w="19050" cap="flat" cmpd="sng">
            <a:solidFill>
              <a:schemeClr val="dk2"/>
            </a:solidFill>
            <a:prstDash val="solid"/>
            <a:round/>
            <a:headEnd type="none" w="med" len="med"/>
            <a:tailEnd type="triangle" w="med" len="med"/>
          </a:ln>
        </p:spPr>
      </p:cxnSp>
      <p:cxnSp>
        <p:nvCxnSpPr>
          <p:cNvPr id="389" name="Google Shape;389;p52"/>
          <p:cNvCxnSpPr>
            <a:endCxn id="384" idx="0"/>
          </p:cNvCxnSpPr>
          <p:nvPr/>
        </p:nvCxnSpPr>
        <p:spPr>
          <a:xfrm flipH="1">
            <a:off x="7191575" y="3024550"/>
            <a:ext cx="306600" cy="207300"/>
          </a:xfrm>
          <a:prstGeom prst="straightConnector1">
            <a:avLst/>
          </a:prstGeom>
          <a:noFill/>
          <a:ln w="19050" cap="flat" cmpd="sng">
            <a:solidFill>
              <a:schemeClr val="dk2"/>
            </a:solidFill>
            <a:prstDash val="solid"/>
            <a:round/>
            <a:headEnd type="none" w="med" len="med"/>
            <a:tailEnd type="triangle" w="med" len="med"/>
          </a:ln>
        </p:spPr>
      </p:cxnSp>
      <p:cxnSp>
        <p:nvCxnSpPr>
          <p:cNvPr id="390" name="Google Shape;390;p52"/>
          <p:cNvCxnSpPr>
            <a:endCxn id="385" idx="0"/>
          </p:cNvCxnSpPr>
          <p:nvPr/>
        </p:nvCxnSpPr>
        <p:spPr>
          <a:xfrm>
            <a:off x="7869250" y="3024550"/>
            <a:ext cx="259200" cy="207300"/>
          </a:xfrm>
          <a:prstGeom prst="straightConnector1">
            <a:avLst/>
          </a:prstGeom>
          <a:noFill/>
          <a:ln w="19050" cap="flat" cmpd="sng">
            <a:solidFill>
              <a:schemeClr val="dk2"/>
            </a:solidFill>
            <a:prstDash val="solid"/>
            <a:round/>
            <a:headEnd type="none" w="med" len="med"/>
            <a:tailEnd type="triangle" w="med" len="med"/>
          </a:ln>
        </p:spPr>
      </p:cxnSp>
      <p:sp>
        <p:nvSpPr>
          <p:cNvPr id="391" name="Google Shape;391;p52"/>
          <p:cNvSpPr/>
          <p:nvPr/>
        </p:nvSpPr>
        <p:spPr>
          <a:xfrm>
            <a:off x="3219063" y="2412876"/>
            <a:ext cx="1647300" cy="522000"/>
          </a:xfrm>
          <a:prstGeom prst="ellipse">
            <a:avLst/>
          </a:prstGeom>
          <a:noFill/>
          <a:ln w="19050"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2" name="Google Shape;392;p52"/>
          <p:cNvCxnSpPr>
            <a:stCxn id="378" idx="3"/>
            <a:endCxn id="391" idx="2"/>
          </p:cNvCxnSpPr>
          <p:nvPr/>
        </p:nvCxnSpPr>
        <p:spPr>
          <a:xfrm>
            <a:off x="2432450" y="2673868"/>
            <a:ext cx="786600" cy="0"/>
          </a:xfrm>
          <a:prstGeom prst="straightConnector1">
            <a:avLst/>
          </a:prstGeom>
          <a:noFill/>
          <a:ln w="28575" cap="flat" cmpd="sng">
            <a:solidFill>
              <a:srgbClr val="000000"/>
            </a:solidFill>
            <a:prstDash val="solid"/>
            <a:round/>
            <a:headEnd type="none" w="med" len="med"/>
            <a:tailEnd type="triangle" w="med" len="med"/>
          </a:ln>
        </p:spPr>
      </p:cxnSp>
      <p:cxnSp>
        <p:nvCxnSpPr>
          <p:cNvPr id="393" name="Google Shape;393;p52"/>
          <p:cNvCxnSpPr>
            <a:stCxn id="391" idx="6"/>
            <a:endCxn id="380" idx="1"/>
          </p:cNvCxnSpPr>
          <p:nvPr/>
        </p:nvCxnSpPr>
        <p:spPr>
          <a:xfrm>
            <a:off x="4866363" y="2673876"/>
            <a:ext cx="732900" cy="11100"/>
          </a:xfrm>
          <a:prstGeom prst="straightConnector1">
            <a:avLst/>
          </a:prstGeom>
          <a:noFill/>
          <a:ln w="28575" cap="flat" cmpd="sng">
            <a:solidFill>
              <a:schemeClr val="dk2"/>
            </a:solidFill>
            <a:prstDash val="solid"/>
            <a:round/>
            <a:headEnd type="none" w="med" len="med"/>
            <a:tailEnd type="triangle" w="med" len="med"/>
          </a:ln>
        </p:spPr>
      </p:cxnSp>
      <p:sp>
        <p:nvSpPr>
          <p:cNvPr id="394" name="Google Shape;394;p52"/>
          <p:cNvSpPr txBox="1"/>
          <p:nvPr/>
        </p:nvSpPr>
        <p:spPr>
          <a:xfrm>
            <a:off x="3234850" y="2515775"/>
            <a:ext cx="1647300" cy="338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Condensed"/>
                <a:ea typeface="Roboto Condensed"/>
                <a:cs typeface="Roboto Condensed"/>
                <a:sym typeface="Roboto Condensed"/>
              </a:rPr>
              <a:t>LayoutInflater</a:t>
            </a:r>
            <a:endParaRPr sz="1800">
              <a:latin typeface="Roboto Condensed"/>
              <a:ea typeface="Roboto Condensed"/>
              <a:cs typeface="Roboto Condensed"/>
              <a:sym typeface="Roboto Condensed"/>
            </a:endParaRPr>
          </a:p>
        </p:txBody>
      </p:sp>
      <p:sp>
        <p:nvSpPr>
          <p:cNvPr id="395" name="Google Shape;395;p52"/>
          <p:cNvSpPr/>
          <p:nvPr/>
        </p:nvSpPr>
        <p:spPr>
          <a:xfrm>
            <a:off x="1152762" y="2740318"/>
            <a:ext cx="500700" cy="264600"/>
          </a:xfrm>
          <a:prstGeom prst="rect">
            <a:avLst/>
          </a:prstGeom>
          <a:solidFill>
            <a:srgbClr val="F3F3F3"/>
          </a:solidFill>
          <a:ln w="9525" cap="flat" cmpd="sng">
            <a:solidFill>
              <a:srgbClr val="D9D9D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t>layout2</a:t>
            </a:r>
            <a:endParaRPr sz="1000"/>
          </a:p>
        </p:txBody>
      </p:sp>
      <p:sp>
        <p:nvSpPr>
          <p:cNvPr id="396" name="Google Shape;396;p52"/>
          <p:cNvSpPr/>
          <p:nvPr/>
        </p:nvSpPr>
        <p:spPr>
          <a:xfrm>
            <a:off x="1804900" y="2740318"/>
            <a:ext cx="500700" cy="264600"/>
          </a:xfrm>
          <a:prstGeom prst="rect">
            <a:avLst/>
          </a:prstGeom>
          <a:solidFill>
            <a:srgbClr val="F3F3F3"/>
          </a:solidFill>
          <a:ln w="9525" cap="flat" cmpd="sng">
            <a:solidFill>
              <a:srgbClr val="D9D9D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t>layout3</a:t>
            </a:r>
            <a:endParaRPr sz="10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5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sp>
        <p:nvSpPr>
          <p:cNvPr id="402" name="Google Shape;402;p53"/>
          <p:cNvSpPr txBox="1"/>
          <p:nvPr/>
        </p:nvSpPr>
        <p:spPr>
          <a:xfrm>
            <a:off x="311700" y="778200"/>
            <a:ext cx="8520600" cy="2088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5200" b="1">
                <a:solidFill>
                  <a:srgbClr val="FAFAFA"/>
                </a:solidFill>
                <a:latin typeface="Roboto"/>
                <a:ea typeface="Roboto"/>
                <a:cs typeface="Roboto"/>
                <a:sym typeface="Roboto"/>
              </a:rPr>
              <a:t>Make an app interactive</a:t>
            </a:r>
            <a:endParaRPr sz="5200" b="1">
              <a:solidFill>
                <a:srgbClr val="FAFAFA"/>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4"/>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Define app behavior in Activity</a:t>
            </a:r>
            <a:endParaRPr/>
          </a:p>
        </p:txBody>
      </p:sp>
      <p:sp>
        <p:nvSpPr>
          <p:cNvPr id="408" name="Google Shape;408;p54"/>
          <p:cNvSpPr txBox="1">
            <a:spLocks noGrp="1"/>
          </p:cNvSpPr>
          <p:nvPr>
            <p:ph type="body" idx="1"/>
          </p:nvPr>
        </p:nvSpPr>
        <p:spPr>
          <a:xfrm>
            <a:off x="311700" y="993775"/>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Modify the Activity so the app responds to user input, such as a button tap.</a:t>
            </a:r>
            <a:endParaRPr sz="1800"/>
          </a:p>
        </p:txBody>
      </p:sp>
      <p:sp>
        <p:nvSpPr>
          <p:cNvPr id="409" name="Google Shape;409;p5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pic>
        <p:nvPicPr>
          <p:cNvPr id="410" name="Google Shape;410;p54"/>
          <p:cNvPicPr preferRelativeResize="0"/>
          <p:nvPr/>
        </p:nvPicPr>
        <p:blipFill>
          <a:blip r:embed="rId3">
            <a:alphaModFix/>
          </a:blip>
          <a:stretch>
            <a:fillRect/>
          </a:stretch>
        </p:blipFill>
        <p:spPr>
          <a:xfrm>
            <a:off x="406825" y="1505800"/>
            <a:ext cx="1688993" cy="3016704"/>
          </a:xfrm>
          <a:prstGeom prst="rect">
            <a:avLst/>
          </a:prstGeom>
          <a:noFill/>
          <a:ln w="9525" cap="flat" cmpd="sng">
            <a:solidFill>
              <a:srgbClr val="D9D9D9"/>
            </a:solidFill>
            <a:prstDash val="solid"/>
            <a:round/>
            <a:headEnd type="none" w="sm" len="sm"/>
            <a:tailEnd type="none" w="sm" len="sm"/>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55"/>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Modify a View dynamically</a:t>
            </a:r>
            <a:endParaRPr/>
          </a:p>
        </p:txBody>
      </p:sp>
      <p:sp>
        <p:nvSpPr>
          <p:cNvPr id="416" name="Google Shape;416;p55"/>
          <p:cNvSpPr txBox="1">
            <a:spLocks noGrp="1"/>
          </p:cNvSpPr>
          <p:nvPr>
            <p:ph type="body" idx="1"/>
          </p:nvPr>
        </p:nvSpPr>
        <p:spPr>
          <a:xfrm>
            <a:off x="311700" y="1424125"/>
            <a:ext cx="8520600" cy="280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t>Within </a:t>
            </a:r>
            <a:r>
              <a:rPr lang="en" sz="1800" dirty="0">
                <a:latin typeface="Courier New"/>
                <a:ea typeface="Courier New"/>
                <a:cs typeface="Courier New"/>
                <a:sym typeface="Courier New"/>
              </a:rPr>
              <a:t>MainActivity.kt</a:t>
            </a:r>
            <a:r>
              <a:rPr lang="en" sz="1800" dirty="0"/>
              <a:t>:</a:t>
            </a:r>
            <a:endParaRPr sz="1800" dirty="0"/>
          </a:p>
          <a:p>
            <a:pPr marL="0" lvl="0" indent="0" algn="l" rtl="0">
              <a:spcBef>
                <a:spcPts val="0"/>
              </a:spcBef>
              <a:spcAft>
                <a:spcPts val="0"/>
              </a:spcAft>
              <a:buClr>
                <a:schemeClr val="dk1"/>
              </a:buClr>
              <a:buSzPts val="1100"/>
              <a:buFont typeface="Arial"/>
              <a:buNone/>
            </a:pPr>
            <a:endParaRPr sz="1800" dirty="0"/>
          </a:p>
          <a:p>
            <a:pPr marL="0" lvl="0" indent="0" algn="l" rtl="0">
              <a:spcBef>
                <a:spcPts val="0"/>
              </a:spcBef>
              <a:spcAft>
                <a:spcPts val="0"/>
              </a:spcAft>
              <a:buNone/>
            </a:pPr>
            <a:r>
              <a:rPr lang="en" sz="1800" dirty="0"/>
              <a:t>Get a reference to the View in the view hierarchy:</a:t>
            </a:r>
            <a:endParaRPr sz="1800" dirty="0"/>
          </a:p>
          <a:p>
            <a:pPr marL="0" lvl="0" indent="0" algn="l" rtl="0">
              <a:spcBef>
                <a:spcPts val="0"/>
              </a:spcBef>
              <a:spcAft>
                <a:spcPts val="0"/>
              </a:spcAft>
              <a:buClr>
                <a:schemeClr val="dk1"/>
              </a:buClr>
              <a:buSzPts val="1100"/>
              <a:buFont typeface="Arial"/>
              <a:buNone/>
            </a:pPr>
            <a:r>
              <a:rPr lang="en" sz="1800" dirty="0">
                <a:latin typeface="Courier New"/>
                <a:ea typeface="Courier New"/>
                <a:cs typeface="Courier New"/>
                <a:sym typeface="Courier New"/>
              </a:rPr>
              <a:t>  </a:t>
            </a:r>
            <a:r>
              <a:rPr lang="en" sz="1800" dirty="0">
                <a:solidFill>
                  <a:srgbClr val="3F51B5"/>
                </a:solidFill>
                <a:latin typeface="Courier New"/>
                <a:ea typeface="Courier New"/>
                <a:cs typeface="Courier New"/>
                <a:sym typeface="Courier New"/>
              </a:rPr>
              <a:t>val</a:t>
            </a:r>
            <a:r>
              <a:rPr lang="en" sz="1800" dirty="0">
                <a:latin typeface="Courier New"/>
                <a:ea typeface="Courier New"/>
                <a:cs typeface="Courier New"/>
                <a:sym typeface="Courier New"/>
              </a:rPr>
              <a:t> resultTextView: TextView = findViewById(R.id.textView)</a:t>
            </a:r>
            <a:endParaRPr sz="1800" dirty="0">
              <a:latin typeface="Courier New"/>
              <a:ea typeface="Courier New"/>
              <a:cs typeface="Courier New"/>
              <a:sym typeface="Courier New"/>
            </a:endParaRPr>
          </a:p>
          <a:p>
            <a:pPr marL="0" lvl="0" indent="0" algn="l" rtl="0">
              <a:spcBef>
                <a:spcPts val="0"/>
              </a:spcBef>
              <a:spcAft>
                <a:spcPts val="0"/>
              </a:spcAft>
              <a:buNone/>
            </a:pPr>
            <a:endParaRPr sz="1800" dirty="0"/>
          </a:p>
          <a:p>
            <a:pPr marL="0" lvl="0" indent="0" algn="l" rtl="0">
              <a:spcBef>
                <a:spcPts val="0"/>
              </a:spcBef>
              <a:spcAft>
                <a:spcPts val="0"/>
              </a:spcAft>
              <a:buClr>
                <a:schemeClr val="dk1"/>
              </a:buClr>
              <a:buSzPts val="1100"/>
              <a:buFont typeface="Arial"/>
              <a:buNone/>
            </a:pPr>
            <a:r>
              <a:rPr lang="en" sz="1800" dirty="0"/>
              <a:t>Change properties or call methods on the View instance:</a:t>
            </a:r>
            <a:endParaRPr sz="1800" dirty="0"/>
          </a:p>
          <a:p>
            <a:pPr marL="0" lvl="0" indent="0" algn="l" rtl="0">
              <a:spcBef>
                <a:spcPts val="0"/>
              </a:spcBef>
              <a:spcAft>
                <a:spcPts val="0"/>
              </a:spcAft>
              <a:buNone/>
            </a:pPr>
            <a:r>
              <a:rPr lang="en" sz="1800" dirty="0">
                <a:latin typeface="Courier New"/>
                <a:ea typeface="Courier New"/>
                <a:cs typeface="Courier New"/>
                <a:sym typeface="Courier New"/>
              </a:rPr>
              <a:t>  resultTextView.text = </a:t>
            </a:r>
            <a:r>
              <a:rPr lang="en" sz="1800" dirty="0">
                <a:solidFill>
                  <a:srgbClr val="388E3C"/>
                </a:solidFill>
                <a:latin typeface="Courier New"/>
                <a:ea typeface="Courier New"/>
                <a:cs typeface="Courier New"/>
                <a:sym typeface="Courier New"/>
              </a:rPr>
              <a:t>"Goodbye!"</a:t>
            </a:r>
            <a:endParaRPr sz="1800" dirty="0">
              <a:solidFill>
                <a:srgbClr val="388E3C"/>
              </a:solidFill>
              <a:latin typeface="Courier New"/>
              <a:ea typeface="Courier New"/>
              <a:cs typeface="Courier New"/>
              <a:sym typeface="Courier New"/>
            </a:endParaRPr>
          </a:p>
        </p:txBody>
      </p:sp>
      <p:sp>
        <p:nvSpPr>
          <p:cNvPr id="417" name="Google Shape;417;p55"/>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cxnSp>
        <p:nvCxnSpPr>
          <p:cNvPr id="422" name="Google Shape;422;p56"/>
          <p:cNvCxnSpPr>
            <a:endCxn id="423" idx="0"/>
          </p:cNvCxnSpPr>
          <p:nvPr/>
        </p:nvCxnSpPr>
        <p:spPr>
          <a:xfrm flipH="1">
            <a:off x="3403275" y="3426775"/>
            <a:ext cx="889800" cy="534600"/>
          </a:xfrm>
          <a:prstGeom prst="straightConnector1">
            <a:avLst/>
          </a:prstGeom>
          <a:noFill/>
          <a:ln w="28575" cap="flat" cmpd="sng">
            <a:solidFill>
              <a:schemeClr val="dk2"/>
            </a:solidFill>
            <a:prstDash val="solid"/>
            <a:round/>
            <a:headEnd type="none" w="med" len="med"/>
            <a:tailEnd type="triangle" w="med" len="med"/>
          </a:ln>
        </p:spPr>
      </p:cxnSp>
      <p:cxnSp>
        <p:nvCxnSpPr>
          <p:cNvPr id="424" name="Google Shape;424;p56"/>
          <p:cNvCxnSpPr>
            <a:endCxn id="425" idx="0"/>
          </p:cNvCxnSpPr>
          <p:nvPr/>
        </p:nvCxnSpPr>
        <p:spPr>
          <a:xfrm>
            <a:off x="5079200" y="3433225"/>
            <a:ext cx="939900" cy="545700"/>
          </a:xfrm>
          <a:prstGeom prst="straightConnector1">
            <a:avLst/>
          </a:prstGeom>
          <a:noFill/>
          <a:ln w="28575" cap="flat" cmpd="sng">
            <a:solidFill>
              <a:schemeClr val="dk2"/>
            </a:solidFill>
            <a:prstDash val="solid"/>
            <a:round/>
            <a:headEnd type="none" w="med" len="med"/>
            <a:tailEnd type="triangle" w="med" len="med"/>
          </a:ln>
        </p:spPr>
      </p:cxnSp>
      <p:sp>
        <p:nvSpPr>
          <p:cNvPr id="426" name="Google Shape;426;p56"/>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Set up listeners for specific events</a:t>
            </a:r>
            <a:endParaRPr/>
          </a:p>
        </p:txBody>
      </p:sp>
      <p:sp>
        <p:nvSpPr>
          <p:cNvPr id="427" name="Google Shape;427;p5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428" name="Google Shape;428;p56"/>
          <p:cNvSpPr txBox="1"/>
          <p:nvPr/>
        </p:nvSpPr>
        <p:spPr>
          <a:xfrm>
            <a:off x="3025200" y="1207275"/>
            <a:ext cx="3093600" cy="490500"/>
          </a:xfrm>
          <a:prstGeom prst="rect">
            <a:avLst/>
          </a:prstGeom>
          <a:noFill/>
          <a:ln w="28575" cap="flat" cmpd="sng">
            <a:solidFill>
              <a:srgbClr val="3DDB8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Condensed"/>
                <a:ea typeface="Roboto Condensed"/>
                <a:cs typeface="Roboto Condensed"/>
                <a:sym typeface="Roboto Condensed"/>
              </a:rPr>
              <a:t>User interacts with a View</a:t>
            </a:r>
            <a:endParaRPr sz="1800">
              <a:latin typeface="Roboto Condensed"/>
              <a:ea typeface="Roboto Condensed"/>
              <a:cs typeface="Roboto Condensed"/>
              <a:sym typeface="Roboto Condensed"/>
            </a:endParaRPr>
          </a:p>
        </p:txBody>
      </p:sp>
      <p:sp>
        <p:nvSpPr>
          <p:cNvPr id="429" name="Google Shape;429;p56"/>
          <p:cNvSpPr txBox="1"/>
          <p:nvPr/>
        </p:nvSpPr>
        <p:spPr>
          <a:xfrm>
            <a:off x="3591150" y="2097750"/>
            <a:ext cx="1961700" cy="509400"/>
          </a:xfrm>
          <a:prstGeom prst="rect">
            <a:avLst/>
          </a:prstGeom>
          <a:noFill/>
          <a:ln w="28575" cap="flat" cmpd="sng">
            <a:solidFill>
              <a:srgbClr val="3DDB8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Condensed"/>
                <a:ea typeface="Roboto Condensed"/>
                <a:cs typeface="Roboto Condensed"/>
                <a:sym typeface="Roboto Condensed"/>
              </a:rPr>
              <a:t>An event is fired</a:t>
            </a:r>
            <a:endParaRPr sz="1800">
              <a:latin typeface="Roboto Condensed"/>
              <a:ea typeface="Roboto Condensed"/>
              <a:cs typeface="Roboto Condensed"/>
              <a:sym typeface="Roboto Condensed"/>
            </a:endParaRPr>
          </a:p>
        </p:txBody>
      </p:sp>
      <p:sp>
        <p:nvSpPr>
          <p:cNvPr id="430" name="Google Shape;430;p56"/>
          <p:cNvSpPr txBox="1"/>
          <p:nvPr/>
        </p:nvSpPr>
        <p:spPr>
          <a:xfrm>
            <a:off x="2789400" y="2911350"/>
            <a:ext cx="3565200" cy="509400"/>
          </a:xfrm>
          <a:prstGeom prst="rect">
            <a:avLst/>
          </a:prstGeom>
          <a:noFill/>
          <a:ln w="28575" cap="flat" cmpd="sng">
            <a:solidFill>
              <a:srgbClr val="3DDB8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Roboto Condensed"/>
                <a:ea typeface="Roboto Condensed"/>
                <a:cs typeface="Roboto Condensed"/>
                <a:sym typeface="Roboto Condensed"/>
              </a:rPr>
              <a:t>Did developer register a callback?</a:t>
            </a:r>
            <a:endParaRPr sz="1800">
              <a:latin typeface="Roboto Condensed"/>
              <a:ea typeface="Roboto Condensed"/>
              <a:cs typeface="Roboto Condensed"/>
              <a:sym typeface="Roboto Condensed"/>
            </a:endParaRPr>
          </a:p>
        </p:txBody>
      </p:sp>
      <p:sp>
        <p:nvSpPr>
          <p:cNvPr id="423" name="Google Shape;423;p56"/>
          <p:cNvSpPr txBox="1"/>
          <p:nvPr/>
        </p:nvSpPr>
        <p:spPr>
          <a:xfrm>
            <a:off x="2422425" y="3961375"/>
            <a:ext cx="1961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latin typeface="Roboto"/>
                <a:ea typeface="Roboto"/>
                <a:cs typeface="Roboto"/>
                <a:sym typeface="Roboto"/>
              </a:rPr>
              <a:t>Ignore the event</a:t>
            </a:r>
            <a:endParaRPr sz="1800">
              <a:latin typeface="Roboto"/>
              <a:ea typeface="Roboto"/>
              <a:cs typeface="Roboto"/>
              <a:sym typeface="Roboto"/>
            </a:endParaRPr>
          </a:p>
        </p:txBody>
      </p:sp>
      <p:sp>
        <p:nvSpPr>
          <p:cNvPr id="425" name="Google Shape;425;p56"/>
          <p:cNvSpPr txBox="1"/>
          <p:nvPr/>
        </p:nvSpPr>
        <p:spPr>
          <a:xfrm>
            <a:off x="4883450" y="3978925"/>
            <a:ext cx="2271300" cy="35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latin typeface="Roboto"/>
                <a:ea typeface="Roboto"/>
                <a:cs typeface="Roboto"/>
                <a:sym typeface="Roboto"/>
              </a:rPr>
              <a:t>Execute the callback</a:t>
            </a:r>
            <a:endParaRPr sz="1800">
              <a:latin typeface="Roboto"/>
              <a:ea typeface="Roboto"/>
              <a:cs typeface="Roboto"/>
              <a:sym typeface="Roboto"/>
            </a:endParaRPr>
          </a:p>
        </p:txBody>
      </p:sp>
      <p:cxnSp>
        <p:nvCxnSpPr>
          <p:cNvPr id="431" name="Google Shape;431;p56"/>
          <p:cNvCxnSpPr>
            <a:stCxn id="428" idx="2"/>
            <a:endCxn id="429" idx="0"/>
          </p:cNvCxnSpPr>
          <p:nvPr/>
        </p:nvCxnSpPr>
        <p:spPr>
          <a:xfrm>
            <a:off x="4572000" y="1697775"/>
            <a:ext cx="0" cy="399900"/>
          </a:xfrm>
          <a:prstGeom prst="straightConnector1">
            <a:avLst/>
          </a:prstGeom>
          <a:noFill/>
          <a:ln w="28575" cap="flat" cmpd="sng">
            <a:solidFill>
              <a:schemeClr val="dk2"/>
            </a:solidFill>
            <a:prstDash val="solid"/>
            <a:round/>
            <a:headEnd type="none" w="med" len="med"/>
            <a:tailEnd type="triangle" w="med" len="med"/>
          </a:ln>
        </p:spPr>
      </p:cxnSp>
      <p:cxnSp>
        <p:nvCxnSpPr>
          <p:cNvPr id="432" name="Google Shape;432;p56"/>
          <p:cNvCxnSpPr>
            <a:stCxn id="429" idx="2"/>
            <a:endCxn id="430" idx="0"/>
          </p:cNvCxnSpPr>
          <p:nvPr/>
        </p:nvCxnSpPr>
        <p:spPr>
          <a:xfrm>
            <a:off x="4572000" y="2607150"/>
            <a:ext cx="0" cy="304200"/>
          </a:xfrm>
          <a:prstGeom prst="straightConnector1">
            <a:avLst/>
          </a:prstGeom>
          <a:noFill/>
          <a:ln w="28575" cap="flat" cmpd="sng">
            <a:solidFill>
              <a:schemeClr val="dk2"/>
            </a:solidFill>
            <a:prstDash val="solid"/>
            <a:round/>
            <a:headEnd type="none" w="med" len="med"/>
            <a:tailEnd type="triangle" w="med" len="med"/>
          </a:ln>
        </p:spPr>
      </p:cxnSp>
      <p:sp>
        <p:nvSpPr>
          <p:cNvPr id="433" name="Google Shape;433;p56"/>
          <p:cNvSpPr txBox="1"/>
          <p:nvPr/>
        </p:nvSpPr>
        <p:spPr>
          <a:xfrm>
            <a:off x="3025200" y="3569925"/>
            <a:ext cx="459000" cy="304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Roboto"/>
                <a:ea typeface="Roboto"/>
                <a:cs typeface="Roboto"/>
                <a:sym typeface="Roboto"/>
              </a:rPr>
              <a:t>No</a:t>
            </a:r>
            <a:endParaRPr sz="1600">
              <a:latin typeface="Roboto"/>
              <a:ea typeface="Roboto"/>
              <a:cs typeface="Roboto"/>
              <a:sym typeface="Roboto"/>
            </a:endParaRPr>
          </a:p>
        </p:txBody>
      </p:sp>
      <p:sp>
        <p:nvSpPr>
          <p:cNvPr id="434" name="Google Shape;434;p56"/>
          <p:cNvSpPr txBox="1"/>
          <p:nvPr/>
        </p:nvSpPr>
        <p:spPr>
          <a:xfrm>
            <a:off x="5789851" y="3569925"/>
            <a:ext cx="548700" cy="304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Roboto"/>
                <a:ea typeface="Roboto"/>
                <a:cs typeface="Roboto"/>
                <a:sym typeface="Roboto"/>
              </a:rPr>
              <a:t>Yes</a:t>
            </a:r>
            <a:endParaRPr sz="1600">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57"/>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View.OnClickListener </a:t>
            </a:r>
            <a:endParaRPr/>
          </a:p>
        </p:txBody>
      </p:sp>
      <p:sp>
        <p:nvSpPr>
          <p:cNvPr id="440" name="Google Shape;440;p57"/>
          <p:cNvSpPr txBox="1">
            <a:spLocks noGrp="1"/>
          </p:cNvSpPr>
          <p:nvPr>
            <p:ph type="body" idx="1"/>
          </p:nvPr>
        </p:nvSpPr>
        <p:spPr>
          <a:xfrm>
            <a:off x="311700" y="1069975"/>
            <a:ext cx="8520600" cy="3276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class</a:t>
            </a:r>
            <a:r>
              <a:rPr lang="en" sz="1800">
                <a:latin typeface="Consolas"/>
                <a:ea typeface="Consolas"/>
                <a:cs typeface="Consolas"/>
                <a:sym typeface="Consolas"/>
              </a:rPr>
              <a:t> MainActivity : AppCompatActivity(), </a:t>
            </a:r>
            <a:r>
              <a:rPr lang="en" sz="1800" b="1">
                <a:latin typeface="Consolas"/>
                <a:ea typeface="Consolas"/>
                <a:cs typeface="Consolas"/>
                <a:sym typeface="Consolas"/>
              </a:rPr>
              <a:t>View.OnClickListener</a:t>
            </a:r>
            <a:r>
              <a:rPr lang="en" sz="1800">
                <a:latin typeface="Consolas"/>
                <a:ea typeface="Consolas"/>
                <a:cs typeface="Consolas"/>
                <a:sym typeface="Consolas"/>
              </a:rPr>
              <a:t> {</a:t>
            </a:r>
            <a:endParaRPr sz="1800">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endParaRPr sz="1800">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override fun</a:t>
            </a:r>
            <a:r>
              <a:rPr lang="en" sz="1800">
                <a:latin typeface="Consolas"/>
                <a:ea typeface="Consolas"/>
                <a:cs typeface="Consolas"/>
                <a:sym typeface="Consolas"/>
              </a:rPr>
              <a:t> onCreate(savedInstanceState: Bundle?) {</a:t>
            </a:r>
            <a:endParaRPr sz="1800">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a:t>
            </a:r>
            <a:endParaRPr sz="1800">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button: Button = findViewById(R.id.button)</a:t>
            </a:r>
            <a:endParaRPr sz="1800">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b="1">
                <a:latin typeface="Consolas"/>
                <a:ea typeface="Consolas"/>
                <a:cs typeface="Consolas"/>
                <a:sym typeface="Consolas"/>
              </a:rPr>
              <a:t>button.setOnClickListener(this)</a:t>
            </a:r>
            <a:endParaRPr sz="1800" b="1">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a:t>
            </a:r>
            <a:endParaRPr sz="1800">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endParaRPr sz="1800">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b="1">
                <a:solidFill>
                  <a:srgbClr val="3F51B5"/>
                </a:solidFill>
                <a:latin typeface="Consolas"/>
                <a:ea typeface="Consolas"/>
                <a:cs typeface="Consolas"/>
                <a:sym typeface="Consolas"/>
              </a:rPr>
              <a:t>override</a:t>
            </a:r>
            <a:r>
              <a:rPr lang="en" sz="1800" b="1">
                <a:latin typeface="Consolas"/>
                <a:ea typeface="Consolas"/>
                <a:cs typeface="Consolas"/>
                <a:sym typeface="Consolas"/>
              </a:rPr>
              <a:t> </a:t>
            </a:r>
            <a:r>
              <a:rPr lang="en" sz="1800" b="1">
                <a:solidFill>
                  <a:srgbClr val="3F51B5"/>
                </a:solidFill>
                <a:latin typeface="Consolas"/>
                <a:ea typeface="Consolas"/>
                <a:cs typeface="Consolas"/>
                <a:sym typeface="Consolas"/>
              </a:rPr>
              <a:t>fun</a:t>
            </a:r>
            <a:r>
              <a:rPr lang="en" sz="1800" b="1">
                <a:latin typeface="Consolas"/>
                <a:ea typeface="Consolas"/>
                <a:cs typeface="Consolas"/>
                <a:sym typeface="Consolas"/>
              </a:rPr>
              <a:t> onClick(v: View?) {</a:t>
            </a:r>
            <a:endParaRPr sz="1800" b="1">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TODO(</a:t>
            </a:r>
            <a:r>
              <a:rPr lang="en" sz="1800">
                <a:solidFill>
                  <a:srgbClr val="388E3C"/>
                </a:solidFill>
                <a:latin typeface="Consolas"/>
                <a:ea typeface="Consolas"/>
                <a:cs typeface="Consolas"/>
                <a:sym typeface="Consolas"/>
              </a:rPr>
              <a:t>"not implemented"</a:t>
            </a:r>
            <a:r>
              <a:rPr lang="en" sz="1800">
                <a:latin typeface="Consolas"/>
                <a:ea typeface="Consolas"/>
                <a:cs typeface="Consolas"/>
                <a:sym typeface="Consolas"/>
              </a:rPr>
              <a:t>)</a:t>
            </a:r>
            <a:endParaRPr sz="1800">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b="1">
                <a:latin typeface="Consolas"/>
                <a:ea typeface="Consolas"/>
                <a:cs typeface="Consolas"/>
                <a:sym typeface="Consolas"/>
              </a:rPr>
              <a:t>}</a:t>
            </a:r>
            <a:endParaRPr sz="1800" b="1">
              <a:latin typeface="Consolas"/>
              <a:ea typeface="Consolas"/>
              <a:cs typeface="Consolas"/>
              <a:sym typeface="Consolas"/>
            </a:endParaRPr>
          </a:p>
          <a:p>
            <a:pPr marL="0" lvl="0" indent="0" algn="l" rtl="0">
              <a:lnSpc>
                <a:spcPct val="100000"/>
              </a:lnSpc>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p:txBody>
      </p:sp>
      <p:sp>
        <p:nvSpPr>
          <p:cNvPr id="441" name="Google Shape;441;p57"/>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58"/>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SAM (single abstract method)</a:t>
            </a:r>
            <a:endParaRPr/>
          </a:p>
        </p:txBody>
      </p:sp>
      <p:sp>
        <p:nvSpPr>
          <p:cNvPr id="447" name="Google Shape;447;p58"/>
          <p:cNvSpPr txBox="1">
            <a:spLocks noGrp="1"/>
          </p:cNvSpPr>
          <p:nvPr>
            <p:ph type="body" idx="1"/>
          </p:nvPr>
        </p:nvSpPr>
        <p:spPr>
          <a:xfrm>
            <a:off x="311700" y="1063275"/>
            <a:ext cx="8520600" cy="137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t>Converts a function into an implementation of an interface</a:t>
            </a:r>
            <a:endParaRPr sz="1800"/>
          </a:p>
          <a:p>
            <a:pPr marL="0" lvl="0" indent="0" algn="l" rtl="0">
              <a:spcBef>
                <a:spcPts val="1000"/>
              </a:spcBef>
              <a:spcAft>
                <a:spcPts val="0"/>
              </a:spcAft>
              <a:buClr>
                <a:schemeClr val="dk1"/>
              </a:buClr>
              <a:buSzPts val="1100"/>
              <a:buFont typeface="Arial"/>
              <a:buNone/>
            </a:pPr>
            <a:r>
              <a:rPr lang="en" sz="1800" b="1"/>
              <a:t>Format:</a:t>
            </a:r>
            <a:r>
              <a:rPr lang="en" sz="1800"/>
              <a:t> </a:t>
            </a:r>
            <a:r>
              <a:rPr lang="en" sz="1800">
                <a:latin typeface="Courier New"/>
                <a:ea typeface="Courier New"/>
                <a:cs typeface="Courier New"/>
                <a:sym typeface="Courier New"/>
              </a:rPr>
              <a:t>InterfaceName { lambda body }</a:t>
            </a:r>
            <a:endParaRPr sz="1800">
              <a:latin typeface="Consolas"/>
              <a:ea typeface="Consolas"/>
              <a:cs typeface="Consolas"/>
              <a:sym typeface="Consolas"/>
            </a:endParaRPr>
          </a:p>
          <a:p>
            <a:pPr marL="0" lvl="0" indent="0" algn="l" rtl="0">
              <a:spcBef>
                <a:spcPts val="160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runnable = Runnable { println(</a:t>
            </a:r>
            <a:r>
              <a:rPr lang="en" sz="1800">
                <a:solidFill>
                  <a:srgbClr val="388E3C"/>
                </a:solidFill>
                <a:latin typeface="Consolas"/>
                <a:ea typeface="Consolas"/>
                <a:cs typeface="Consolas"/>
                <a:sym typeface="Consolas"/>
              </a:rPr>
              <a:t>"Hi there"</a:t>
            </a:r>
            <a:r>
              <a:rPr lang="en" sz="1800">
                <a:latin typeface="Consolas"/>
                <a:ea typeface="Consolas"/>
                <a:cs typeface="Consolas"/>
                <a:sym typeface="Consolas"/>
              </a:rPr>
              <a:t>) }</a:t>
            </a:r>
            <a:endParaRPr sz="1800">
              <a:latin typeface="Consolas"/>
              <a:ea typeface="Consolas"/>
              <a:cs typeface="Consolas"/>
              <a:sym typeface="Consolas"/>
            </a:endParaRPr>
          </a:p>
        </p:txBody>
      </p:sp>
      <p:sp>
        <p:nvSpPr>
          <p:cNvPr id="448" name="Google Shape;448;p5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449" name="Google Shape;449;p58"/>
          <p:cNvSpPr txBox="1"/>
          <p:nvPr/>
        </p:nvSpPr>
        <p:spPr>
          <a:xfrm>
            <a:off x="319350" y="2297140"/>
            <a:ext cx="8513100" cy="215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800">
                <a:solidFill>
                  <a:schemeClr val="dk1"/>
                </a:solidFill>
                <a:latin typeface="Roboto"/>
                <a:ea typeface="Roboto"/>
                <a:cs typeface="Roboto"/>
                <a:sym typeface="Roboto"/>
              </a:rPr>
              <a:t>is equivalent to</a:t>
            </a:r>
            <a:endParaRPr sz="1800">
              <a:solidFill>
                <a:schemeClr val="dk1"/>
              </a:solidFill>
              <a:latin typeface="Roboto"/>
              <a:ea typeface="Roboto"/>
              <a:cs typeface="Roboto"/>
              <a:sym typeface="Roboto"/>
            </a:endParaRPr>
          </a:p>
          <a:p>
            <a:pPr marL="0" lvl="0" indent="0" algn="l" rtl="0">
              <a:spcBef>
                <a:spcPts val="1000"/>
              </a:spcBef>
              <a:spcAft>
                <a:spcPts val="0"/>
              </a:spcAft>
              <a:buClr>
                <a:schemeClr val="dk1"/>
              </a:buClr>
              <a:buSzPts val="1100"/>
              <a:buFont typeface="Arial"/>
              <a:buNone/>
            </a:pPr>
            <a:r>
              <a:rPr lang="en" sz="1800">
                <a:solidFill>
                  <a:schemeClr val="dk1"/>
                </a:solidFill>
                <a:latin typeface="Courier New"/>
                <a:ea typeface="Courier New"/>
                <a:cs typeface="Courier New"/>
                <a:sym typeface="Courier New"/>
              </a:rPr>
              <a:t>  </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runnable = (</a:t>
            </a:r>
            <a:r>
              <a:rPr lang="en" sz="1800">
                <a:solidFill>
                  <a:srgbClr val="3F51B5"/>
                </a:solidFill>
                <a:latin typeface="Consolas"/>
                <a:ea typeface="Consolas"/>
                <a:cs typeface="Consolas"/>
                <a:sym typeface="Consolas"/>
              </a:rPr>
              <a:t>object</a:t>
            </a:r>
            <a:r>
              <a:rPr lang="en" sz="1800">
                <a:solidFill>
                  <a:srgbClr val="37474F"/>
                </a:solidFill>
                <a:latin typeface="Consolas"/>
                <a:ea typeface="Consolas"/>
                <a:cs typeface="Consolas"/>
                <a:sym typeface="Consolas"/>
              </a:rPr>
              <a:t>: Runnable {</a:t>
            </a: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override</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fun</a:t>
            </a:r>
            <a:r>
              <a:rPr lang="en" sz="1800">
                <a:solidFill>
                  <a:srgbClr val="37474F"/>
                </a:solidFill>
                <a:latin typeface="Consolas"/>
                <a:ea typeface="Consolas"/>
                <a:cs typeface="Consolas"/>
                <a:sym typeface="Consolas"/>
              </a:rPr>
              <a:t> run() {</a:t>
            </a: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println(</a:t>
            </a:r>
            <a:r>
              <a:rPr lang="en" sz="1800">
                <a:solidFill>
                  <a:srgbClr val="388E3C"/>
                </a:solidFill>
                <a:latin typeface="Consolas"/>
                <a:ea typeface="Consolas"/>
                <a:cs typeface="Consolas"/>
                <a:sym typeface="Consolas"/>
              </a:rPr>
              <a:t>"Hi there"</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endParaRPr sz="1800">
              <a:solidFill>
                <a:srgbClr val="3F51B5"/>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endParaRPr sz="1800">
              <a:solidFill>
                <a:schemeClr val="dk1"/>
              </a:solidFill>
              <a:latin typeface="Courier New"/>
              <a:ea typeface="Courier New"/>
              <a:cs typeface="Courier New"/>
              <a:sym typeface="Courier New"/>
            </a:endParaRPr>
          </a:p>
          <a:p>
            <a:pPr marL="0" lvl="0" indent="0" algn="l"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9"/>
                                        </p:tgtEl>
                                        <p:attrNameLst>
                                          <p:attrName>style.visibility</p:attrName>
                                        </p:attrNameLst>
                                      </p:cBhvr>
                                      <p:to>
                                        <p:strVal val="visible"/>
                                      </p:to>
                                    </p:set>
                                    <p:animEffect transition="in" filter="fade">
                                      <p:cBhvr>
                                        <p:cTn id="7" dur="1000"/>
                                        <p:tgtEl>
                                          <p:spTgt spid="4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59"/>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View.OnClickListener as a SAM</a:t>
            </a:r>
            <a:endParaRPr/>
          </a:p>
        </p:txBody>
      </p:sp>
      <p:sp>
        <p:nvSpPr>
          <p:cNvPr id="455" name="Google Shape;455;p59"/>
          <p:cNvSpPr txBox="1">
            <a:spLocks noGrp="1"/>
          </p:cNvSpPr>
          <p:nvPr>
            <p:ph type="body" idx="1"/>
          </p:nvPr>
        </p:nvSpPr>
        <p:spPr>
          <a:xfrm>
            <a:off x="311700" y="1228675"/>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A more concise way to declare a click listener</a:t>
            </a:r>
            <a:endParaRPr sz="1800"/>
          </a:p>
        </p:txBody>
      </p:sp>
      <p:sp>
        <p:nvSpPr>
          <p:cNvPr id="456" name="Google Shape;456;p59"/>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457" name="Google Shape;457;p59"/>
          <p:cNvSpPr txBox="1"/>
          <p:nvPr/>
        </p:nvSpPr>
        <p:spPr>
          <a:xfrm>
            <a:off x="311700" y="1726425"/>
            <a:ext cx="8492700" cy="211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class</a:t>
            </a:r>
            <a:r>
              <a:rPr lang="en" sz="1800">
                <a:solidFill>
                  <a:srgbClr val="37474F"/>
                </a:solidFill>
                <a:latin typeface="Consolas"/>
                <a:ea typeface="Consolas"/>
                <a:cs typeface="Consolas"/>
                <a:sym typeface="Consolas"/>
              </a:rPr>
              <a:t> MainActivity : AppCompatActivity() {</a:t>
            </a: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override</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fun</a:t>
            </a:r>
            <a:r>
              <a:rPr lang="en" sz="1800">
                <a:solidFill>
                  <a:srgbClr val="37474F"/>
                </a:solidFill>
                <a:latin typeface="Consolas"/>
                <a:ea typeface="Consolas"/>
                <a:cs typeface="Consolas"/>
                <a:sym typeface="Consolas"/>
              </a:rPr>
              <a:t> onCreate(savedInstanceState: Bundle?) {</a:t>
            </a: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button: Button = findViewById(R.id.button)</a:t>
            </a: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button.setOnClickListener(</a:t>
            </a:r>
            <a:r>
              <a:rPr lang="en" sz="1800" b="1">
                <a:solidFill>
                  <a:srgbClr val="37474F"/>
                </a:solidFill>
                <a:latin typeface="Consolas"/>
                <a:ea typeface="Consolas"/>
                <a:cs typeface="Consolas"/>
                <a:sym typeface="Consolas"/>
              </a:rPr>
              <a:t>{ view -&gt; </a:t>
            </a:r>
            <a:r>
              <a:rPr lang="en" sz="1800" b="1">
                <a:solidFill>
                  <a:srgbClr val="D81B60"/>
                </a:solidFill>
                <a:latin typeface="Consolas"/>
                <a:ea typeface="Consolas"/>
                <a:cs typeface="Consolas"/>
                <a:sym typeface="Consolas"/>
              </a:rPr>
              <a:t>/* do something*/</a:t>
            </a:r>
            <a:r>
              <a:rPr lang="en" sz="1800" b="1">
                <a:solidFill>
                  <a:srgbClr val="37474F"/>
                </a:solidFill>
                <a:latin typeface="Consolas"/>
                <a:ea typeface="Consolas"/>
                <a:cs typeface="Consolas"/>
                <a:sym typeface="Consolas"/>
              </a:rPr>
              <a:t> }</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marL="0" lvl="0" indent="0" algn="l" rtl="0">
              <a:lnSpc>
                <a:spcPct val="15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endParaRPr sz="1800">
              <a:latin typeface="Consolas"/>
              <a:ea typeface="Consolas"/>
              <a:cs typeface="Consolas"/>
              <a:sym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60"/>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Late initialization</a:t>
            </a:r>
            <a:endParaRPr/>
          </a:p>
        </p:txBody>
      </p:sp>
      <p:sp>
        <p:nvSpPr>
          <p:cNvPr id="463" name="Google Shape;463;p60"/>
          <p:cNvSpPr txBox="1">
            <a:spLocks noGrp="1"/>
          </p:cNvSpPr>
          <p:nvPr>
            <p:ph type="body" idx="1"/>
          </p:nvPr>
        </p:nvSpPr>
        <p:spPr>
          <a:xfrm>
            <a:off x="311700" y="1511425"/>
            <a:ext cx="8520600" cy="2497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800">
                <a:solidFill>
                  <a:srgbClr val="3F51B5"/>
                </a:solidFill>
                <a:latin typeface="Consolas"/>
                <a:ea typeface="Consolas"/>
                <a:cs typeface="Consolas"/>
                <a:sym typeface="Consolas"/>
              </a:rPr>
              <a:t>class</a:t>
            </a:r>
            <a:r>
              <a:rPr lang="en" sz="1800">
                <a:solidFill>
                  <a:srgbClr val="37474F"/>
                </a:solidFill>
                <a:latin typeface="Consolas"/>
                <a:ea typeface="Consolas"/>
                <a:cs typeface="Consolas"/>
                <a:sym typeface="Consolas"/>
              </a:rPr>
              <a:t> Student(</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id: String) {</a:t>
            </a: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a:t>
            </a:r>
            <a:r>
              <a:rPr lang="en" sz="1800" b="1">
                <a:solidFill>
                  <a:srgbClr val="3F51B5"/>
                </a:solidFill>
                <a:latin typeface="Consolas"/>
                <a:ea typeface="Consolas"/>
                <a:cs typeface="Consolas"/>
                <a:sym typeface="Consolas"/>
              </a:rPr>
              <a:t>lateinit</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var</a:t>
            </a:r>
            <a:r>
              <a:rPr lang="en" sz="1800">
                <a:solidFill>
                  <a:srgbClr val="37474F"/>
                </a:solidFill>
                <a:latin typeface="Consolas"/>
                <a:ea typeface="Consolas"/>
                <a:cs typeface="Consolas"/>
                <a:sym typeface="Consolas"/>
              </a:rPr>
              <a:t> records: HashSet&lt;Any&gt;</a:t>
            </a: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init</a:t>
            </a: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a:t>
            </a:r>
            <a:r>
              <a:rPr lang="en" sz="1800">
                <a:solidFill>
                  <a:srgbClr val="D81B60"/>
                </a:solidFill>
                <a:latin typeface="Consolas"/>
                <a:ea typeface="Consolas"/>
                <a:cs typeface="Consolas"/>
                <a:sym typeface="Consolas"/>
              </a:rPr>
              <a:t>// retrieve records given an id</a:t>
            </a: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marL="0" lvl="0" indent="0" algn="l" rtl="0">
              <a:lnSpc>
                <a:spcPct val="150000"/>
              </a:lnSpc>
              <a:spcBef>
                <a:spcPts val="0"/>
              </a:spcBef>
              <a:spcAft>
                <a:spcPts val="0"/>
              </a:spcAft>
              <a:buNone/>
            </a:pP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p:txBody>
      </p:sp>
      <p:sp>
        <p:nvSpPr>
          <p:cNvPr id="464" name="Google Shape;464;p6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61"/>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Lateinit example in Activity</a:t>
            </a:r>
            <a:endParaRPr/>
          </a:p>
        </p:txBody>
      </p:sp>
      <p:sp>
        <p:nvSpPr>
          <p:cNvPr id="470" name="Google Shape;470;p61"/>
          <p:cNvSpPr txBox="1">
            <a:spLocks noGrp="1"/>
          </p:cNvSpPr>
          <p:nvPr>
            <p:ph type="body" idx="1"/>
          </p:nvPr>
        </p:nvSpPr>
        <p:spPr>
          <a:xfrm>
            <a:off x="311700" y="1457275"/>
            <a:ext cx="8520600" cy="3193800"/>
          </a:xfrm>
          <a:prstGeom prst="rect">
            <a:avLst/>
          </a:prstGeom>
        </p:spPr>
        <p:txBody>
          <a:bodyPr spcFirstLastPara="1" wrap="square" lIns="91425" tIns="91425" rIns="91425" bIns="91425" anchor="t" anchorCtr="0">
            <a:noAutofit/>
          </a:bodyPr>
          <a:lstStyle/>
          <a:p>
            <a:pPr marL="0" marR="360045" lvl="0" indent="0" algn="l" rtl="0">
              <a:lnSpc>
                <a:spcPct val="100000"/>
              </a:lnSpc>
              <a:spcBef>
                <a:spcPts val="0"/>
              </a:spcBef>
              <a:spcAft>
                <a:spcPts val="0"/>
              </a:spcAft>
              <a:buNone/>
            </a:pPr>
            <a:r>
              <a:rPr lang="en" sz="1800">
                <a:solidFill>
                  <a:srgbClr val="3F51B5"/>
                </a:solidFill>
                <a:latin typeface="Consolas"/>
                <a:ea typeface="Consolas"/>
                <a:cs typeface="Consolas"/>
                <a:sym typeface="Consolas"/>
              </a:rPr>
              <a:t>class</a:t>
            </a:r>
            <a:r>
              <a:rPr lang="en" sz="1800">
                <a:solidFill>
                  <a:srgbClr val="37474F"/>
                </a:solidFill>
                <a:latin typeface="Consolas"/>
                <a:ea typeface="Consolas"/>
                <a:cs typeface="Consolas"/>
                <a:sym typeface="Consolas"/>
              </a:rPr>
              <a:t> MainActivity : AppCompatActivity() {</a:t>
            </a:r>
            <a:endParaRPr sz="1800">
              <a:solidFill>
                <a:srgbClr val="37474F"/>
              </a:solidFill>
              <a:latin typeface="Consolas"/>
              <a:ea typeface="Consolas"/>
              <a:cs typeface="Consolas"/>
              <a:sym typeface="Consolas"/>
            </a:endParaRPr>
          </a:p>
          <a:p>
            <a:pPr marL="0" marR="360045" lvl="0" indent="0" algn="l" rtl="0">
              <a:lnSpc>
                <a:spcPct val="100000"/>
              </a:lnSpc>
              <a:spcBef>
                <a:spcPts val="0"/>
              </a:spcBef>
              <a:spcAft>
                <a:spcPts val="0"/>
              </a:spcAft>
              <a:buNone/>
            </a:pPr>
            <a:endParaRPr sz="1800">
              <a:solidFill>
                <a:srgbClr val="37474F"/>
              </a:solidFill>
              <a:latin typeface="Consolas"/>
              <a:ea typeface="Consolas"/>
              <a:cs typeface="Consolas"/>
              <a:sym typeface="Consolas"/>
            </a:endParaRPr>
          </a:p>
          <a:p>
            <a:pPr marL="0" marR="360045"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a:t>
            </a:r>
            <a:r>
              <a:rPr lang="en" sz="1800" b="1">
                <a:solidFill>
                  <a:srgbClr val="3F51B5"/>
                </a:solidFill>
                <a:latin typeface="Consolas"/>
                <a:ea typeface="Consolas"/>
                <a:cs typeface="Consolas"/>
                <a:sym typeface="Consolas"/>
              </a:rPr>
              <a:t>lateinit</a:t>
            </a:r>
            <a:r>
              <a:rPr lang="en" sz="1800" b="1">
                <a:solidFill>
                  <a:srgbClr val="37474F"/>
                </a:solidFill>
                <a:latin typeface="Consolas"/>
                <a:ea typeface="Consolas"/>
                <a:cs typeface="Consolas"/>
                <a:sym typeface="Consolas"/>
              </a:rPr>
              <a:t> </a:t>
            </a:r>
            <a:r>
              <a:rPr lang="en" sz="1800" b="1">
                <a:solidFill>
                  <a:srgbClr val="3F51B5"/>
                </a:solidFill>
                <a:latin typeface="Consolas"/>
                <a:ea typeface="Consolas"/>
                <a:cs typeface="Consolas"/>
                <a:sym typeface="Consolas"/>
              </a:rPr>
              <a:t>var</a:t>
            </a:r>
            <a:r>
              <a:rPr lang="en" sz="1800" b="1">
                <a:solidFill>
                  <a:srgbClr val="37474F"/>
                </a:solidFill>
                <a:latin typeface="Consolas"/>
                <a:ea typeface="Consolas"/>
                <a:cs typeface="Consolas"/>
                <a:sym typeface="Consolas"/>
              </a:rPr>
              <a:t> result: TextView</a:t>
            </a:r>
            <a:endParaRPr sz="1800" b="1">
              <a:solidFill>
                <a:srgbClr val="37474F"/>
              </a:solidFill>
              <a:latin typeface="Consolas"/>
              <a:ea typeface="Consolas"/>
              <a:cs typeface="Consolas"/>
              <a:sym typeface="Consolas"/>
            </a:endParaRPr>
          </a:p>
          <a:p>
            <a:pPr marL="0" marR="360045" lvl="0" indent="0" algn="l" rtl="0">
              <a:lnSpc>
                <a:spcPct val="100000"/>
              </a:lnSpc>
              <a:spcBef>
                <a:spcPts val="0"/>
              </a:spcBef>
              <a:spcAft>
                <a:spcPts val="0"/>
              </a:spcAft>
              <a:buNone/>
            </a:pPr>
            <a:endParaRPr sz="1800">
              <a:solidFill>
                <a:srgbClr val="37474F"/>
              </a:solidFill>
              <a:latin typeface="Consolas"/>
              <a:ea typeface="Consolas"/>
              <a:cs typeface="Consolas"/>
              <a:sym typeface="Consolas"/>
            </a:endParaRPr>
          </a:p>
          <a:p>
            <a:pPr marL="0" marR="360045"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override</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fun</a:t>
            </a:r>
            <a:r>
              <a:rPr lang="en" sz="1800">
                <a:solidFill>
                  <a:srgbClr val="37474F"/>
                </a:solidFill>
                <a:latin typeface="Consolas"/>
                <a:ea typeface="Consolas"/>
                <a:cs typeface="Consolas"/>
                <a:sym typeface="Consolas"/>
              </a:rPr>
              <a:t> onCreate(savedInstanceState: Bundle?) {</a:t>
            </a:r>
            <a:endParaRPr sz="1800">
              <a:solidFill>
                <a:srgbClr val="37474F"/>
              </a:solidFill>
              <a:latin typeface="Consolas"/>
              <a:ea typeface="Consolas"/>
              <a:cs typeface="Consolas"/>
              <a:sym typeface="Consolas"/>
            </a:endParaRPr>
          </a:p>
          <a:p>
            <a:pPr marL="0" marR="360045"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marL="0" marR="360045"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a:t>
            </a:r>
            <a:r>
              <a:rPr lang="en" sz="1800" b="1">
                <a:solidFill>
                  <a:srgbClr val="37474F"/>
                </a:solidFill>
                <a:latin typeface="Consolas"/>
                <a:ea typeface="Consolas"/>
                <a:cs typeface="Consolas"/>
                <a:sym typeface="Consolas"/>
              </a:rPr>
              <a:t>result</a:t>
            </a:r>
            <a:r>
              <a:rPr lang="en" sz="1800">
                <a:solidFill>
                  <a:srgbClr val="37474F"/>
                </a:solidFill>
                <a:latin typeface="Consolas"/>
                <a:ea typeface="Consolas"/>
                <a:cs typeface="Consolas"/>
                <a:sym typeface="Consolas"/>
              </a:rPr>
              <a:t> = findViewById(R.id.result_text_view)</a:t>
            </a:r>
            <a:endParaRPr sz="1800">
              <a:solidFill>
                <a:srgbClr val="37474F"/>
              </a:solidFill>
              <a:latin typeface="Consolas"/>
              <a:ea typeface="Consolas"/>
              <a:cs typeface="Consolas"/>
              <a:sym typeface="Consolas"/>
            </a:endParaRPr>
          </a:p>
          <a:p>
            <a:pPr marL="0" marR="360045"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marL="0" lvl="0" indent="0" algn="l" rtl="0">
              <a:lnSpc>
                <a:spcPct val="15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marL="0" marR="360045" lvl="0" indent="0" algn="l" rtl="0">
              <a:lnSpc>
                <a:spcPct val="100000"/>
              </a:lnSpc>
              <a:spcBef>
                <a:spcPts val="0"/>
              </a:spcBef>
              <a:spcAft>
                <a:spcPts val="0"/>
              </a:spcAft>
              <a:buNone/>
            </a:pPr>
            <a:endParaRPr sz="1800">
              <a:solidFill>
                <a:schemeClr val="dk1"/>
              </a:solidFill>
              <a:highlight>
                <a:srgbClr val="FFFFFF"/>
              </a:highlight>
              <a:latin typeface="Consolas"/>
              <a:ea typeface="Consolas"/>
              <a:cs typeface="Consolas"/>
              <a:sym typeface="Consolas"/>
            </a:endParaRPr>
          </a:p>
        </p:txBody>
      </p:sp>
      <p:sp>
        <p:nvSpPr>
          <p:cNvPr id="471" name="Google Shape;471;p6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6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sp>
        <p:nvSpPr>
          <p:cNvPr id="477" name="Google Shape;477;p62"/>
          <p:cNvSpPr txBox="1"/>
          <p:nvPr/>
        </p:nvSpPr>
        <p:spPr>
          <a:xfrm>
            <a:off x="311700" y="1159200"/>
            <a:ext cx="8520600" cy="2088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5200" b="1">
                <a:solidFill>
                  <a:srgbClr val="FAFAFA"/>
                </a:solidFill>
                <a:latin typeface="Roboto"/>
                <a:ea typeface="Roboto"/>
                <a:cs typeface="Roboto"/>
                <a:sym typeface="Roboto"/>
              </a:rPr>
              <a:t>Gradle: Building an </a:t>
            </a:r>
            <a:endParaRPr sz="5200" b="1">
              <a:solidFill>
                <a:srgbClr val="FAFAFA"/>
              </a:solidFill>
              <a:latin typeface="Roboto"/>
              <a:ea typeface="Roboto"/>
              <a:cs typeface="Roboto"/>
              <a:sym typeface="Roboto"/>
            </a:endParaRPr>
          </a:p>
          <a:p>
            <a:pPr marL="0" lvl="0" indent="0" algn="ctr" rtl="0">
              <a:spcBef>
                <a:spcPts val="0"/>
              </a:spcBef>
              <a:spcAft>
                <a:spcPts val="0"/>
              </a:spcAft>
              <a:buNone/>
            </a:pPr>
            <a:r>
              <a:rPr lang="en" sz="5200" b="1">
                <a:solidFill>
                  <a:srgbClr val="FAFAFA"/>
                </a:solidFill>
                <a:latin typeface="Roboto"/>
                <a:ea typeface="Roboto"/>
                <a:cs typeface="Roboto"/>
                <a:sym typeface="Roboto"/>
              </a:rPr>
              <a:t>Android app</a:t>
            </a:r>
            <a:endParaRPr sz="5200" b="1">
              <a:solidFill>
                <a:srgbClr val="FAFAFA"/>
              </a:solidFill>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63"/>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Gradle?</a:t>
            </a:r>
            <a:endParaRPr/>
          </a:p>
        </p:txBody>
      </p:sp>
      <p:sp>
        <p:nvSpPr>
          <p:cNvPr id="483" name="Google Shape;483;p63"/>
          <p:cNvSpPr txBox="1">
            <a:spLocks noGrp="1"/>
          </p:cNvSpPr>
          <p:nvPr>
            <p:ph type="body" idx="1"/>
          </p:nvPr>
        </p:nvSpPr>
        <p:spPr>
          <a:xfrm>
            <a:off x="311700" y="1228675"/>
            <a:ext cx="8520600" cy="3193800"/>
          </a:xfrm>
          <a:prstGeom prst="rect">
            <a:avLst/>
          </a:prstGeom>
        </p:spPr>
        <p:txBody>
          <a:bodyPr spcFirstLastPara="1" wrap="square" lIns="91425" tIns="91425" rIns="91425" bIns="91425" anchor="t" anchorCtr="0">
            <a:noAutofit/>
          </a:bodyPr>
          <a:lstStyle/>
          <a:p>
            <a:pPr marL="457200" lvl="0" indent="-368300" algn="l" rtl="0">
              <a:spcBef>
                <a:spcPts val="0"/>
              </a:spcBef>
              <a:spcAft>
                <a:spcPts val="0"/>
              </a:spcAft>
              <a:buSzPts val="2200"/>
              <a:buChar char="●"/>
            </a:pPr>
            <a:r>
              <a:rPr lang="en" sz="2200"/>
              <a:t>Builds automation system </a:t>
            </a:r>
            <a:endParaRPr sz="2200"/>
          </a:p>
          <a:p>
            <a:pPr marL="457200" lvl="0" indent="-368300" algn="l" rtl="0">
              <a:spcBef>
                <a:spcPts val="1000"/>
              </a:spcBef>
              <a:spcAft>
                <a:spcPts val="0"/>
              </a:spcAft>
              <a:buSzPts val="2200"/>
              <a:buChar char="●"/>
            </a:pPr>
            <a:r>
              <a:rPr lang="en" sz="2200"/>
              <a:t>Manages the build cycle via a series of tasks (for example, compiles Kotlin sources, runs tests, installs app to device) </a:t>
            </a:r>
            <a:endParaRPr sz="2200"/>
          </a:p>
          <a:p>
            <a:pPr marL="457200" lvl="0" indent="-368300" algn="l" rtl="0">
              <a:spcBef>
                <a:spcPts val="1000"/>
              </a:spcBef>
              <a:spcAft>
                <a:spcPts val="0"/>
              </a:spcAft>
              <a:buSzPts val="2200"/>
              <a:buChar char="●"/>
            </a:pPr>
            <a:r>
              <a:rPr lang="en" sz="2200"/>
              <a:t>Determines the proper order of tasks to run</a:t>
            </a:r>
            <a:endParaRPr sz="2200"/>
          </a:p>
          <a:p>
            <a:pPr marL="457200" lvl="0" indent="-368300" algn="l" rtl="0">
              <a:spcBef>
                <a:spcPts val="1000"/>
              </a:spcBef>
              <a:spcAft>
                <a:spcPts val="1000"/>
              </a:spcAft>
              <a:buSzPts val="2200"/>
              <a:buChar char="●"/>
            </a:pPr>
            <a:r>
              <a:rPr lang="en" sz="2200"/>
              <a:t>Manages dependencies between projects and third-party libraries</a:t>
            </a:r>
            <a:endParaRPr sz="2200"/>
          </a:p>
        </p:txBody>
      </p:sp>
      <p:sp>
        <p:nvSpPr>
          <p:cNvPr id="484" name="Google Shape;484;p6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64"/>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Gradle build file</a:t>
            </a:r>
            <a:endParaRPr/>
          </a:p>
        </p:txBody>
      </p:sp>
      <p:sp>
        <p:nvSpPr>
          <p:cNvPr id="490" name="Google Shape;490;p64"/>
          <p:cNvSpPr txBox="1">
            <a:spLocks noGrp="1"/>
          </p:cNvSpPr>
          <p:nvPr>
            <p:ph type="body" idx="1"/>
          </p:nvPr>
        </p:nvSpPr>
        <p:spPr>
          <a:xfrm>
            <a:off x="311700" y="1577975"/>
            <a:ext cx="8520600" cy="2692200"/>
          </a:xfrm>
          <a:prstGeom prst="rect">
            <a:avLst/>
          </a:prstGeom>
        </p:spPr>
        <p:txBody>
          <a:bodyPr spcFirstLastPara="1" wrap="square" lIns="91425" tIns="91425" rIns="91425" bIns="91425" anchor="t" anchorCtr="0">
            <a:noAutofit/>
          </a:bodyPr>
          <a:lstStyle/>
          <a:p>
            <a:pPr marL="457200" lvl="0" indent="-368300" algn="l" rtl="0">
              <a:spcBef>
                <a:spcPts val="0"/>
              </a:spcBef>
              <a:spcAft>
                <a:spcPts val="0"/>
              </a:spcAft>
              <a:buSzPts val="2200"/>
              <a:buChar char="●"/>
            </a:pPr>
            <a:r>
              <a:rPr lang="en" sz="2200"/>
              <a:t>Declare plugins </a:t>
            </a:r>
            <a:endParaRPr sz="2200"/>
          </a:p>
          <a:p>
            <a:pPr marL="457200" lvl="0" indent="-368300" algn="l" rtl="0">
              <a:spcBef>
                <a:spcPts val="1000"/>
              </a:spcBef>
              <a:spcAft>
                <a:spcPts val="0"/>
              </a:spcAft>
              <a:buSzPts val="2200"/>
              <a:buChar char="●"/>
            </a:pPr>
            <a:r>
              <a:rPr lang="en" sz="2200"/>
              <a:t>Define Android properties </a:t>
            </a:r>
            <a:endParaRPr sz="2200"/>
          </a:p>
          <a:p>
            <a:pPr marL="457200" lvl="0" indent="-368300" algn="l" rtl="0">
              <a:spcBef>
                <a:spcPts val="1000"/>
              </a:spcBef>
              <a:spcAft>
                <a:spcPts val="0"/>
              </a:spcAft>
              <a:buSzPts val="2200"/>
              <a:buChar char="●"/>
            </a:pPr>
            <a:r>
              <a:rPr lang="en" sz="2200"/>
              <a:t>Handle dependencies </a:t>
            </a:r>
            <a:endParaRPr sz="2200"/>
          </a:p>
          <a:p>
            <a:pPr marL="457200" lvl="0" indent="-368300" algn="l" rtl="0">
              <a:spcBef>
                <a:spcPts val="1000"/>
              </a:spcBef>
              <a:spcAft>
                <a:spcPts val="1000"/>
              </a:spcAft>
              <a:buSzPts val="2200"/>
              <a:buChar char="●"/>
            </a:pPr>
            <a:r>
              <a:rPr lang="en" sz="2200"/>
              <a:t>Connect to repositories</a:t>
            </a:r>
            <a:endParaRPr sz="2200"/>
          </a:p>
        </p:txBody>
      </p:sp>
      <p:sp>
        <p:nvSpPr>
          <p:cNvPr id="491" name="Google Shape;491;p6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66"/>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Android configuration</a:t>
            </a:r>
            <a:endParaRPr/>
          </a:p>
        </p:txBody>
      </p:sp>
      <p:sp>
        <p:nvSpPr>
          <p:cNvPr id="504" name="Google Shape;504;p66"/>
          <p:cNvSpPr txBox="1">
            <a:spLocks noGrp="1"/>
          </p:cNvSpPr>
          <p:nvPr>
            <p:ph type="body" idx="1"/>
          </p:nvPr>
        </p:nvSpPr>
        <p:spPr>
          <a:xfrm>
            <a:off x="311700" y="1304875"/>
            <a:ext cx="8520600" cy="3193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android {</a:t>
            </a: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compileSdkVersion </a:t>
            </a:r>
            <a:r>
              <a:rPr lang="en" sz="1800">
                <a:solidFill>
                  <a:srgbClr val="C53929"/>
                </a:solidFill>
                <a:latin typeface="Consolas"/>
                <a:ea typeface="Consolas"/>
                <a:cs typeface="Consolas"/>
                <a:sym typeface="Consolas"/>
              </a:rPr>
              <a:t>30</a:t>
            </a: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buildToolsVersion </a:t>
            </a:r>
            <a:r>
              <a:rPr lang="en" sz="1800">
                <a:solidFill>
                  <a:srgbClr val="388E3C"/>
                </a:solidFill>
                <a:latin typeface="Consolas"/>
                <a:ea typeface="Consolas"/>
                <a:cs typeface="Consolas"/>
                <a:sym typeface="Consolas"/>
              </a:rPr>
              <a:t>"30.0.2"</a:t>
            </a: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defaultConfig {</a:t>
            </a: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applicationId </a:t>
            </a:r>
            <a:r>
              <a:rPr lang="en" sz="1800">
                <a:solidFill>
                  <a:srgbClr val="388E3C"/>
                </a:solidFill>
                <a:latin typeface="Consolas"/>
                <a:ea typeface="Consolas"/>
                <a:cs typeface="Consolas"/>
                <a:sym typeface="Consolas"/>
              </a:rPr>
              <a:t>"com.example.sample"</a:t>
            </a: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minSdkVersion </a:t>
            </a:r>
            <a:r>
              <a:rPr lang="en" sz="1800">
                <a:solidFill>
                  <a:srgbClr val="C53929"/>
                </a:solidFill>
                <a:latin typeface="Consolas"/>
                <a:ea typeface="Consolas"/>
                <a:cs typeface="Consolas"/>
                <a:sym typeface="Consolas"/>
              </a:rPr>
              <a:t>19</a:t>
            </a: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targetSdkVersion </a:t>
            </a:r>
            <a:r>
              <a:rPr lang="en" sz="1800">
                <a:solidFill>
                  <a:srgbClr val="C53929"/>
                </a:solidFill>
                <a:latin typeface="Consolas"/>
                <a:ea typeface="Consolas"/>
                <a:cs typeface="Consolas"/>
                <a:sym typeface="Consolas"/>
              </a:rPr>
              <a:t>30</a:t>
            </a:r>
            <a:endParaRPr sz="1800">
              <a:solidFill>
                <a:srgbClr val="37474F"/>
              </a:solidFill>
              <a:latin typeface="Consolas"/>
              <a:ea typeface="Consolas"/>
              <a:cs typeface="Consolas"/>
              <a:sym typeface="Consolas"/>
            </a:endParaRPr>
          </a:p>
          <a:p>
            <a:pPr marL="0" lvl="0" indent="0" algn="l" rtl="0">
              <a:lnSpc>
                <a:spcPct val="100000"/>
              </a:lnSpc>
              <a:spcBef>
                <a:spcPts val="0"/>
              </a:spcBef>
              <a:spcAft>
                <a:spcPts val="0"/>
              </a:spcAft>
              <a:buNone/>
            </a:pP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marL="0" lvl="0" indent="0" algn="l" rtl="0">
              <a:lnSpc>
                <a:spcPct val="150000"/>
              </a:lnSpc>
              <a:spcBef>
                <a:spcPts val="0"/>
              </a:spcBef>
              <a:spcAft>
                <a:spcPts val="0"/>
              </a:spcAft>
              <a:buNone/>
            </a:pP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p:txBody>
      </p:sp>
      <p:sp>
        <p:nvSpPr>
          <p:cNvPr id="505" name="Google Shape;505;p6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8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50</a:t>
            </a:fld>
            <a:endParaRPr/>
          </a:p>
        </p:txBody>
      </p:sp>
      <p:sp>
        <p:nvSpPr>
          <p:cNvPr id="624" name="Google Shape;624;p82"/>
          <p:cNvSpPr txBox="1"/>
          <p:nvPr/>
        </p:nvSpPr>
        <p:spPr>
          <a:xfrm>
            <a:off x="311700" y="778200"/>
            <a:ext cx="8520600" cy="2088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5200" b="1">
                <a:solidFill>
                  <a:srgbClr val="FAFAFA"/>
                </a:solidFill>
                <a:latin typeface="Roboto"/>
                <a:ea typeface="Roboto"/>
                <a:cs typeface="Roboto"/>
                <a:sym typeface="Roboto"/>
              </a:rPr>
              <a:t>Summary</a:t>
            </a:r>
            <a:endParaRPr sz="5200" b="1">
              <a:solidFill>
                <a:srgbClr val="FAFAFA"/>
              </a:solidFill>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83"/>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a:t>
            </a:r>
            <a:endParaRPr/>
          </a:p>
        </p:txBody>
      </p:sp>
      <p:sp>
        <p:nvSpPr>
          <p:cNvPr id="630" name="Google Shape;630;p83"/>
          <p:cNvSpPr txBox="1">
            <a:spLocks noGrp="1"/>
          </p:cNvSpPr>
          <p:nvPr>
            <p:ph type="body" idx="1"/>
          </p:nvPr>
        </p:nvSpPr>
        <p:spPr>
          <a:xfrm>
            <a:off x="327300" y="1590150"/>
            <a:ext cx="8489400" cy="30258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Clr>
                <a:srgbClr val="1C4587"/>
              </a:buClr>
              <a:buSzPts val="2000"/>
              <a:buChar char="●"/>
            </a:pPr>
            <a:r>
              <a:rPr lang="en" sz="2000">
                <a:solidFill>
                  <a:srgbClr val="1C4587"/>
                </a:solidFill>
              </a:rPr>
              <a:t>U</a:t>
            </a:r>
            <a:r>
              <a:rPr lang="en" sz="2000">
                <a:solidFill>
                  <a:srgbClr val="1C4587"/>
                </a:solidFill>
                <a:uFill>
                  <a:noFill/>
                </a:uFill>
                <a:hlinkClick r:id="rId3" action="ppaction://hlinksldjump">
                  <a:extLst>
                    <a:ext uri="{A12FA001-AC4F-418D-AE19-62706E023703}">
                      <ahyp:hlinkClr xmlns:ahyp="http://schemas.microsoft.com/office/drawing/2018/hyperlinkcolor" val="tx"/>
                    </a:ext>
                  </a:extLst>
                </a:hlinkClick>
              </a:rPr>
              <a:t>se Views and </a:t>
            </a:r>
            <a:r>
              <a:rPr lang="en" sz="2000">
                <a:solidFill>
                  <a:srgbClr val="1C4587"/>
                </a:solidFill>
                <a:uFill>
                  <a:noFill/>
                </a:uFill>
                <a:latin typeface="Courier New"/>
                <a:ea typeface="Courier New"/>
                <a:cs typeface="Courier New"/>
                <a:sym typeface="Courier New"/>
                <a:hlinkClick r:id="rId3" action="ppaction://hlinksldjump">
                  <a:extLst>
                    <a:ext uri="{A12FA001-AC4F-418D-AE19-62706E023703}">
                      <ahyp:hlinkClr xmlns:ahyp="http://schemas.microsoft.com/office/drawing/2018/hyperlinkcolor" val="tx"/>
                    </a:ext>
                  </a:extLst>
                </a:hlinkClick>
              </a:rPr>
              <a:t>ViewGroups</a:t>
            </a:r>
            <a:r>
              <a:rPr lang="en" sz="2000">
                <a:solidFill>
                  <a:srgbClr val="1C4587"/>
                </a:solidFill>
                <a:uFill>
                  <a:noFill/>
                </a:uFill>
                <a:hlinkClick r:id="rId3" action="ppaction://hlinksldjump">
                  <a:extLst>
                    <a:ext uri="{A12FA001-AC4F-418D-AE19-62706E023703}">
                      <ahyp:hlinkClr xmlns:ahyp="http://schemas.microsoft.com/office/drawing/2018/hyperlinkcolor" val="tx"/>
                    </a:ext>
                  </a:extLst>
                </a:hlinkClick>
              </a:rPr>
              <a:t> to build the user interface of your app</a:t>
            </a:r>
            <a:endParaRPr sz="2000">
              <a:solidFill>
                <a:srgbClr val="1C4587"/>
              </a:solidFill>
            </a:endParaRPr>
          </a:p>
          <a:p>
            <a:pPr marL="457200" lvl="0" indent="-355600" algn="l" rtl="0">
              <a:spcBef>
                <a:spcPts val="600"/>
              </a:spcBef>
              <a:spcAft>
                <a:spcPts val="0"/>
              </a:spcAft>
              <a:buClr>
                <a:srgbClr val="1C4587"/>
              </a:buClr>
              <a:buSzPts val="2000"/>
              <a:buChar char="●"/>
            </a:pPr>
            <a:r>
              <a:rPr lang="en" sz="2000">
                <a:solidFill>
                  <a:srgbClr val="1C4587"/>
                </a:solidFill>
              </a:rPr>
              <a:t>A</a:t>
            </a:r>
            <a:r>
              <a:rPr lang="en" sz="2000">
                <a:solidFill>
                  <a:srgbClr val="1C4587"/>
                </a:solidFill>
                <a:uFill>
                  <a:noFill/>
                </a:uFill>
                <a:hlinkClick r:id="rId4" action="ppaction://hlinksldjump">
                  <a:extLst>
                    <a:ext uri="{A12FA001-AC4F-418D-AE19-62706E023703}">
                      <ahyp:hlinkClr xmlns:ahyp="http://schemas.microsoft.com/office/drawing/2018/hyperlinkcolor" val="tx"/>
                    </a:ext>
                  </a:extLst>
                </a:hlinkClick>
              </a:rPr>
              <a:t>ccess resources in your app from </a:t>
            </a:r>
            <a:r>
              <a:rPr lang="en" sz="2000">
                <a:solidFill>
                  <a:srgbClr val="1C4587"/>
                </a:solidFill>
                <a:uFill>
                  <a:noFill/>
                </a:uFill>
                <a:latin typeface="Courier New"/>
                <a:ea typeface="Courier New"/>
                <a:cs typeface="Courier New"/>
                <a:sym typeface="Courier New"/>
                <a:hlinkClick r:id="rId4" action="ppaction://hlinksldjump">
                  <a:extLst>
                    <a:ext uri="{A12FA001-AC4F-418D-AE19-62706E023703}">
                      <ahyp:hlinkClr xmlns:ahyp="http://schemas.microsoft.com/office/drawing/2018/hyperlinkcolor" val="tx"/>
                    </a:ext>
                  </a:extLst>
                </a:hlinkClick>
              </a:rPr>
              <a:t>R.&lt;resource_type&gt;.&lt;resource_name&gt;</a:t>
            </a:r>
            <a:endParaRPr sz="2000">
              <a:solidFill>
                <a:srgbClr val="1C4587"/>
              </a:solidFill>
            </a:endParaRPr>
          </a:p>
          <a:p>
            <a:pPr marL="457200" lvl="0" indent="-355600" algn="l" rtl="0">
              <a:spcBef>
                <a:spcPts val="600"/>
              </a:spcBef>
              <a:spcAft>
                <a:spcPts val="0"/>
              </a:spcAft>
              <a:buClr>
                <a:srgbClr val="1C4587"/>
              </a:buClr>
              <a:buSzPts val="2000"/>
              <a:buChar char="●"/>
            </a:pPr>
            <a:r>
              <a:rPr lang="en" sz="2000">
                <a:solidFill>
                  <a:srgbClr val="1C4587"/>
                </a:solidFill>
              </a:rPr>
              <a:t>D</a:t>
            </a:r>
            <a:r>
              <a:rPr lang="en" sz="2000">
                <a:solidFill>
                  <a:srgbClr val="1C4587"/>
                </a:solidFill>
                <a:uFill>
                  <a:noFill/>
                </a:uFill>
                <a:hlinkClick r:id="rId5" action="ppaction://hlinksldjump">
                  <a:extLst>
                    <a:ext uri="{A12FA001-AC4F-418D-AE19-62706E023703}">
                      <ahyp:hlinkClr xmlns:ahyp="http://schemas.microsoft.com/office/drawing/2018/hyperlinkcolor" val="tx"/>
                    </a:ext>
                  </a:extLst>
                </a:hlinkClick>
              </a:rPr>
              <a:t>efine app behavior in the Activity (for example, register </a:t>
            </a:r>
            <a:r>
              <a:rPr lang="en" sz="2000">
                <a:solidFill>
                  <a:srgbClr val="1C4587"/>
                </a:solidFill>
                <a:uFill>
                  <a:noFill/>
                </a:uFill>
                <a:latin typeface="Courier New"/>
                <a:ea typeface="Courier New"/>
                <a:cs typeface="Courier New"/>
                <a:sym typeface="Courier New"/>
                <a:hlinkClick r:id="rId5" action="ppaction://hlinksldjump">
                  <a:extLst>
                    <a:ext uri="{A12FA001-AC4F-418D-AE19-62706E023703}">
                      <ahyp:hlinkClr xmlns:ahyp="http://schemas.microsoft.com/office/drawing/2018/hyperlinkcolor" val="tx"/>
                    </a:ext>
                  </a:extLst>
                </a:hlinkClick>
              </a:rPr>
              <a:t>OnClickListener</a:t>
            </a:r>
            <a:r>
              <a:rPr lang="en" sz="2000">
                <a:solidFill>
                  <a:srgbClr val="1C4587"/>
                </a:solidFill>
                <a:uFill>
                  <a:noFill/>
                </a:uFill>
                <a:hlinkClick r:id="rId5" action="ppaction://hlinksldjump">
                  <a:extLst>
                    <a:ext uri="{A12FA001-AC4F-418D-AE19-62706E023703}">
                      <ahyp:hlinkClr xmlns:ahyp="http://schemas.microsoft.com/office/drawing/2018/hyperlinkcolor" val="tx"/>
                    </a:ext>
                  </a:extLst>
                </a:hlinkClick>
              </a:rPr>
              <a:t>)</a:t>
            </a:r>
            <a:endParaRPr sz="2000">
              <a:solidFill>
                <a:srgbClr val="1C4587"/>
              </a:solidFill>
            </a:endParaRPr>
          </a:p>
          <a:p>
            <a:pPr marL="457200" lvl="0" indent="-355600" algn="l" rtl="0">
              <a:spcBef>
                <a:spcPts val="600"/>
              </a:spcBef>
              <a:spcAft>
                <a:spcPts val="0"/>
              </a:spcAft>
              <a:buClr>
                <a:srgbClr val="1C4587"/>
              </a:buClr>
              <a:buSzPts val="2000"/>
              <a:buChar char="●"/>
            </a:pPr>
            <a:r>
              <a:rPr lang="en" sz="2000">
                <a:solidFill>
                  <a:srgbClr val="1C4587"/>
                </a:solidFill>
              </a:rPr>
              <a:t>Use </a:t>
            </a:r>
            <a:r>
              <a:rPr lang="en" sz="2000">
                <a:solidFill>
                  <a:srgbClr val="1C4587"/>
                </a:solidFill>
                <a:uFill>
                  <a:noFill/>
                </a:uFill>
                <a:hlinkClick r:id="rId6" action="ppaction://hlinksldjump">
                  <a:extLst>
                    <a:ext uri="{A12FA001-AC4F-418D-AE19-62706E023703}">
                      <ahyp:hlinkClr xmlns:ahyp="http://schemas.microsoft.com/office/drawing/2018/hyperlinkcolor" val="tx"/>
                    </a:ext>
                  </a:extLst>
                </a:hlinkClick>
              </a:rPr>
              <a:t>Gradle as the build system to build your app</a:t>
            </a:r>
            <a:endParaRPr sz="2000">
              <a:solidFill>
                <a:srgbClr val="1C4587"/>
              </a:solidFill>
            </a:endParaRPr>
          </a:p>
          <a:p>
            <a:pPr marL="457200" lvl="0" indent="-355600" algn="l" rtl="0">
              <a:spcBef>
                <a:spcPts val="600"/>
              </a:spcBef>
              <a:spcAft>
                <a:spcPts val="600"/>
              </a:spcAft>
              <a:buClr>
                <a:srgbClr val="1C4587"/>
              </a:buClr>
              <a:buSzPts val="2000"/>
              <a:buChar char="●"/>
            </a:pPr>
            <a:r>
              <a:rPr lang="en" sz="2000">
                <a:solidFill>
                  <a:srgbClr val="1C4587"/>
                </a:solidFill>
                <a:uFill>
                  <a:noFill/>
                </a:uFill>
                <a:hlinkClick r:id="" action="ppaction://noaction">
                  <a:extLst>
                    <a:ext uri="{A12FA001-AC4F-418D-AE19-62706E023703}">
                      <ahyp:hlinkClr xmlns:ahyp="http://schemas.microsoft.com/office/drawing/2018/hyperlinkcolor" val="tx"/>
                    </a:ext>
                  </a:extLst>
                </a:hlinkClick>
              </a:rPr>
              <a:t>Follow best practices to make your apps more accessible</a:t>
            </a:r>
            <a:endParaRPr sz="2000">
              <a:solidFill>
                <a:srgbClr val="1C4587"/>
              </a:solidFill>
            </a:endParaRPr>
          </a:p>
        </p:txBody>
      </p:sp>
      <p:sp>
        <p:nvSpPr>
          <p:cNvPr id="631" name="Google Shape;631;p8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sp>
        <p:nvSpPr>
          <p:cNvPr id="632" name="Google Shape;632;p83"/>
          <p:cNvSpPr txBox="1"/>
          <p:nvPr/>
        </p:nvSpPr>
        <p:spPr>
          <a:xfrm>
            <a:off x="250900" y="1095500"/>
            <a:ext cx="4663800" cy="36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Roboto"/>
                <a:ea typeface="Roboto"/>
                <a:cs typeface="Roboto"/>
                <a:sym typeface="Roboto"/>
              </a:rPr>
              <a:t>In Lesson 4, you learned how to:</a:t>
            </a:r>
            <a:endParaRPr sz="2000">
              <a:latin typeface="Roboto"/>
              <a:ea typeface="Roboto"/>
              <a:cs typeface="Roboto"/>
              <a:sym typeface="Roboto"/>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84"/>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Learn more</a:t>
            </a:r>
            <a:endParaRPr/>
          </a:p>
        </p:txBody>
      </p:sp>
      <p:sp>
        <p:nvSpPr>
          <p:cNvPr id="638" name="Google Shape;638;p84"/>
          <p:cNvSpPr txBox="1">
            <a:spLocks noGrp="1"/>
          </p:cNvSpPr>
          <p:nvPr>
            <p:ph type="body" idx="1"/>
          </p:nvPr>
        </p:nvSpPr>
        <p:spPr>
          <a:xfrm>
            <a:off x="342900" y="1151225"/>
            <a:ext cx="8489400" cy="34080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Char char="●"/>
            </a:pPr>
            <a:r>
              <a:rPr lang="en" sz="2000" u="sng">
                <a:solidFill>
                  <a:schemeClr val="hlink"/>
                </a:solidFill>
                <a:hlinkClick r:id="rId3"/>
              </a:rPr>
              <a:t>Layouts</a:t>
            </a:r>
            <a:endParaRPr sz="2000">
              <a:solidFill>
                <a:schemeClr val="dk1"/>
              </a:solidFill>
            </a:endParaRPr>
          </a:p>
          <a:p>
            <a:pPr marL="457200" lvl="0" indent="-355600" algn="l" rtl="0">
              <a:lnSpc>
                <a:spcPct val="115000"/>
              </a:lnSpc>
              <a:spcBef>
                <a:spcPts val="0"/>
              </a:spcBef>
              <a:spcAft>
                <a:spcPts val="0"/>
              </a:spcAft>
              <a:buSzPts val="2000"/>
              <a:buChar char="●"/>
            </a:pPr>
            <a:r>
              <a:rPr lang="en" sz="2000" u="sng">
                <a:solidFill>
                  <a:schemeClr val="hlink"/>
                </a:solidFill>
                <a:hlinkClick r:id="rId4"/>
              </a:rPr>
              <a:t>LinearLayout</a:t>
            </a:r>
            <a:endParaRPr sz="2000">
              <a:solidFill>
                <a:schemeClr val="dk1"/>
              </a:solidFill>
            </a:endParaRPr>
          </a:p>
          <a:p>
            <a:pPr marL="457200" lvl="0" indent="-355600" algn="l" rtl="0">
              <a:lnSpc>
                <a:spcPct val="115000"/>
              </a:lnSpc>
              <a:spcBef>
                <a:spcPts val="0"/>
              </a:spcBef>
              <a:spcAft>
                <a:spcPts val="0"/>
              </a:spcAft>
              <a:buSzPts val="2000"/>
              <a:buChar char="●"/>
            </a:pPr>
            <a:r>
              <a:rPr lang="en" sz="2000" u="sng">
                <a:solidFill>
                  <a:schemeClr val="hlink"/>
                </a:solidFill>
                <a:hlinkClick r:id="rId5"/>
              </a:rPr>
              <a:t>Input events overview</a:t>
            </a:r>
            <a:endParaRPr sz="2000">
              <a:solidFill>
                <a:schemeClr val="dk1"/>
              </a:solidFill>
            </a:endParaRPr>
          </a:p>
          <a:p>
            <a:pPr marL="457200" lvl="0" indent="-355600" algn="l" rtl="0">
              <a:lnSpc>
                <a:spcPct val="115000"/>
              </a:lnSpc>
              <a:spcBef>
                <a:spcPts val="0"/>
              </a:spcBef>
              <a:spcAft>
                <a:spcPts val="0"/>
              </a:spcAft>
              <a:buSzPts val="2000"/>
              <a:buChar char="●"/>
            </a:pPr>
            <a:r>
              <a:rPr lang="en" sz="2000" u="sng">
                <a:solidFill>
                  <a:schemeClr val="hlink"/>
                </a:solidFill>
                <a:hlinkClick r:id="rId6"/>
              </a:rPr>
              <a:t>View</a:t>
            </a:r>
            <a:endParaRPr sz="2000">
              <a:solidFill>
                <a:schemeClr val="dk1"/>
              </a:solidFill>
            </a:endParaRPr>
          </a:p>
          <a:p>
            <a:pPr marL="457200" lvl="0" indent="-355600" algn="l" rtl="0">
              <a:lnSpc>
                <a:spcPct val="115000"/>
              </a:lnSpc>
              <a:spcBef>
                <a:spcPts val="0"/>
              </a:spcBef>
              <a:spcAft>
                <a:spcPts val="0"/>
              </a:spcAft>
              <a:buSzPts val="2000"/>
              <a:buChar char="●"/>
            </a:pPr>
            <a:r>
              <a:rPr lang="en" sz="2000" u="sng">
                <a:solidFill>
                  <a:schemeClr val="hlink"/>
                </a:solidFill>
                <a:hlinkClick r:id="rId7"/>
              </a:rPr>
              <a:t>ViewGroup</a:t>
            </a:r>
            <a:endParaRPr sz="2000"/>
          </a:p>
        </p:txBody>
      </p:sp>
      <p:sp>
        <p:nvSpPr>
          <p:cNvPr id="639" name="Google Shape;639;p8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85"/>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Pathway</a:t>
            </a:r>
            <a:endParaRPr/>
          </a:p>
        </p:txBody>
      </p:sp>
      <p:sp>
        <p:nvSpPr>
          <p:cNvPr id="645" name="Google Shape;645;p85"/>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646" name="Google Shape;646;p85"/>
          <p:cNvSpPr txBox="1">
            <a:spLocks noGrp="1"/>
          </p:cNvSpPr>
          <p:nvPr>
            <p:ph type="body" idx="1"/>
          </p:nvPr>
        </p:nvSpPr>
        <p:spPr>
          <a:xfrm>
            <a:off x="311711" y="1490519"/>
            <a:ext cx="8520600" cy="89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500"/>
              <a:t>Practice what you’ve learned by</a:t>
            </a:r>
            <a:br>
              <a:rPr lang="en" sz="2500"/>
            </a:br>
            <a:r>
              <a:rPr lang="en" sz="2500"/>
              <a:t>completing the pathway:</a:t>
            </a:r>
            <a:endParaRPr sz="2500"/>
          </a:p>
          <a:p>
            <a:pPr marL="0" lvl="0" indent="0" algn="l" rtl="0">
              <a:lnSpc>
                <a:spcPct val="115000"/>
              </a:lnSpc>
              <a:spcBef>
                <a:spcPts val="1000"/>
              </a:spcBef>
              <a:spcAft>
                <a:spcPts val="1000"/>
              </a:spcAft>
              <a:buNone/>
            </a:pPr>
            <a:r>
              <a:rPr lang="en" sz="2500" u="sng">
                <a:solidFill>
                  <a:schemeClr val="hlink"/>
                </a:solidFill>
                <a:hlinkClick r:id="rId3"/>
              </a:rPr>
              <a:t>Lesson 4: Build your first Android app</a:t>
            </a:r>
            <a:endParaRPr sz="2500">
              <a:solidFill>
                <a:schemeClr val="dk1"/>
              </a:solidFill>
            </a:endParaRPr>
          </a:p>
        </p:txBody>
      </p:sp>
      <p:pic>
        <p:nvPicPr>
          <p:cNvPr id="647" name="Google Shape;647;p85"/>
          <p:cNvPicPr preferRelativeResize="0"/>
          <p:nvPr/>
        </p:nvPicPr>
        <p:blipFill rotWithShape="1">
          <a:blip r:embed="rId4">
            <a:alphaModFix/>
          </a:blip>
          <a:srcRect l="12797" t="12879" r="12273" b="13226"/>
          <a:stretch/>
        </p:blipFill>
        <p:spPr>
          <a:xfrm>
            <a:off x="5771650" y="1382495"/>
            <a:ext cx="2755850" cy="27179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4713</Words>
  <Application>Microsoft Office PowerPoint</Application>
  <PresentationFormat>On-screen Show (16:9)</PresentationFormat>
  <Paragraphs>515</Paragraphs>
  <Slides>53</Slides>
  <Notes>53</Notes>
  <HiddenSlides>0</HiddenSlides>
  <MMClips>0</MMClips>
  <ScaleCrop>false</ScaleCrop>
  <HeadingPairs>
    <vt:vector size="4" baseType="variant">
      <vt:variant>
        <vt:lpstr>Theme</vt:lpstr>
      </vt:variant>
      <vt:variant>
        <vt:i4>2</vt:i4>
      </vt:variant>
      <vt:variant>
        <vt:lpstr>Slide Titles</vt:lpstr>
      </vt:variant>
      <vt:variant>
        <vt:i4>53</vt:i4>
      </vt:variant>
    </vt:vector>
  </HeadingPairs>
  <TitlesOfParts>
    <vt:vector size="55" baseType="lpstr">
      <vt:lpstr>Simple Light</vt:lpstr>
      <vt:lpstr>GDT master</vt:lpstr>
      <vt:lpstr>PowerPoint Presentation</vt:lpstr>
      <vt:lpstr>About this lesson</vt:lpstr>
      <vt:lpstr>Android Studio</vt:lpstr>
      <vt:lpstr>PowerPoint Presentation</vt:lpstr>
      <vt:lpstr>Open Android Studio</vt:lpstr>
      <vt:lpstr>Create new project</vt:lpstr>
      <vt:lpstr>Enter your project details</vt:lpstr>
      <vt:lpstr>Android releases and API levels</vt:lpstr>
      <vt:lpstr>Choose API levels for your app</vt:lpstr>
      <vt:lpstr>Tour of Android Studio</vt:lpstr>
      <vt:lpstr>Run your app</vt:lpstr>
      <vt:lpstr>Android Virtual Device (AVD) Manager</vt:lpstr>
      <vt:lpstr>PowerPoint Presentation</vt:lpstr>
      <vt:lpstr>Anatomy of a basic app project</vt:lpstr>
      <vt:lpstr>Android app project structure</vt:lpstr>
      <vt:lpstr>Browse files in Android Studio</vt:lpstr>
      <vt:lpstr>PowerPoint Presentation</vt:lpstr>
      <vt:lpstr>Views</vt:lpstr>
      <vt:lpstr>Layout Editor</vt:lpstr>
      <vt:lpstr>XML Layouts</vt:lpstr>
      <vt:lpstr>XML for a TextView</vt:lpstr>
      <vt:lpstr>Size of a View</vt:lpstr>
      <vt:lpstr>ViewGroups</vt:lpstr>
      <vt:lpstr>FrameLayout example</vt:lpstr>
      <vt:lpstr>LinearLayout example</vt:lpstr>
      <vt:lpstr>View hierarchy</vt:lpstr>
      <vt:lpstr>App resources</vt:lpstr>
      <vt:lpstr>Common resource directories</vt:lpstr>
      <vt:lpstr>Resource IDs</vt:lpstr>
      <vt:lpstr>Resource IDs for views</vt:lpstr>
      <vt:lpstr>PowerPoint Presentation</vt:lpstr>
      <vt:lpstr>What’s an Activity?</vt:lpstr>
      <vt:lpstr>MainActivity.kt</vt:lpstr>
      <vt:lpstr>How an Activity runs</vt:lpstr>
      <vt:lpstr>Implement the onCreate() callback</vt:lpstr>
      <vt:lpstr>Layout inflation</vt:lpstr>
      <vt:lpstr>PowerPoint Presentation</vt:lpstr>
      <vt:lpstr>Define app behavior in Activity</vt:lpstr>
      <vt:lpstr>Modify a View dynamically</vt:lpstr>
      <vt:lpstr>Set up listeners for specific events</vt:lpstr>
      <vt:lpstr>View.OnClickListener </vt:lpstr>
      <vt:lpstr>SAM (single abstract method)</vt:lpstr>
      <vt:lpstr>View.OnClickListener as a SAM</vt:lpstr>
      <vt:lpstr>Late initialization</vt:lpstr>
      <vt:lpstr>Lateinit example in Activity</vt:lpstr>
      <vt:lpstr>PowerPoint Presentation</vt:lpstr>
      <vt:lpstr>What is Gradle?</vt:lpstr>
      <vt:lpstr>Gradle build file</vt:lpstr>
      <vt:lpstr>Android configuration</vt:lpstr>
      <vt:lpstr>PowerPoint Presentation</vt:lpstr>
      <vt:lpstr>Summary</vt:lpstr>
      <vt:lpstr>Learn more</vt:lpstr>
      <vt:lpstr>Pathway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acord</dc:creator>
  <cp:lastModifiedBy>Anthony Cordio</cp:lastModifiedBy>
  <cp:revision>2</cp:revision>
  <dcterms:modified xsi:type="dcterms:W3CDTF">2026-03-08T18:09:47Z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a1855b2-0a05-4494-a903-f3f23f3f98e0_Enabled">
    <vt:lpwstr>true</vt:lpwstr>
  </property>
  <property fmtid="{D5CDD505-2E9C-101B-9397-08002B2CF9AE}" pid="3" name="MSIP_Label_fa1855b2-0a05-4494-a903-f3f23f3f98e0_SetDate">
    <vt:lpwstr>2023-03-29T04:00:53Z</vt:lpwstr>
  </property>
  <property fmtid="{D5CDD505-2E9C-101B-9397-08002B2CF9AE}" pid="4" name="MSIP_Label_fa1855b2-0a05-4494-a903-f3f23f3f98e0_Method">
    <vt:lpwstr>Standard</vt:lpwstr>
  </property>
  <property fmtid="{D5CDD505-2E9C-101B-9397-08002B2CF9AE}" pid="5" name="MSIP_Label_fa1855b2-0a05-4494-a903-f3f23f3f98e0_Name">
    <vt:lpwstr>defa4170-0d19-0005-0004-bc88714345d2</vt:lpwstr>
  </property>
  <property fmtid="{D5CDD505-2E9C-101B-9397-08002B2CF9AE}" pid="6" name="MSIP_Label_fa1855b2-0a05-4494-a903-f3f23f3f98e0_SiteId">
    <vt:lpwstr>6f60f0b3-5f06-4e09-9715-989dba8cc7d8</vt:lpwstr>
  </property>
  <property fmtid="{D5CDD505-2E9C-101B-9397-08002B2CF9AE}" pid="7" name="MSIP_Label_fa1855b2-0a05-4494-a903-f3f23f3f98e0_ActionId">
    <vt:lpwstr>2fc5810e-6fc1-45d7-8b31-5db956d385f3</vt:lpwstr>
  </property>
  <property fmtid="{D5CDD505-2E9C-101B-9397-08002B2CF9AE}" pid="8" name="MSIP_Label_fa1855b2-0a05-4494-a903-f3f23f3f98e0_ContentBits">
    <vt:lpwstr>0</vt:lpwstr>
  </property>
</Properties>
</file>