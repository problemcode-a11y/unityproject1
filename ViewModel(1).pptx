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8" r:id="rId1"/>
  </p:sldMasterIdLst>
  <p:sldIdLst>
    <p:sldId id="256" r:id="rId2"/>
    <p:sldId id="257" r:id="rId3"/>
    <p:sldId id="263" r:id="rId4"/>
    <p:sldId id="264" r:id="rId5"/>
    <p:sldId id="262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49" d="100"/>
          <a:sy n="49" d="100"/>
        </p:scale>
        <p:origin x="82" y="2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9EA1E-98C4-4A2E-AAC3-800E357DC9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904" y="1517904"/>
            <a:ext cx="9144000" cy="2798064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96B1FA-5AE6-4D57-B37B-4AA0216007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17904" y="4572000"/>
            <a:ext cx="9144000" cy="1527048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F49B66-DBC3-45EE-A6E1-DE10A6C18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3F9AFA87-1417-4992-ABD9-27C3BC8CC883}" type="datetimeFigureOut">
              <a:rPr lang="en-US" smtClean="0"/>
              <a:pPr algn="r"/>
              <a:t>3/8/2026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1085F0-1967-4B4F-9824-58E9F2E05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AEDEE5-31B5-4868-8C16-47FF43E27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879801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C5BB2-C09C-49B0-BAFA-DE1801CD3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47C21-944D-47FE-9519-A255188371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7CE36D-6B7B-4D5E-831E-34A4286D6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2AD668-6E19-425C-88F7-AF4220662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05C53-CF7C-4936-9E35-1BEBD6836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154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46C78-A717-4E1F-A742-FD5AECA03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91440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1270D-CCAE-4437-A0C0-052D111DF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17904" y="4572000"/>
            <a:ext cx="91440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9F006A-7EEE-4DB0-8F92-D34C0D46C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3F2ED-2B0E-44A9-8603-286CA0634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D801C-6B4E-40B6-9D6E-558192264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130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446AA-9418-4C3E-901B-8E2806122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97482-2CA6-4707-976E-6FD4B57BFE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17904" y="2980944"/>
            <a:ext cx="4334256" cy="31181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909652-DD12-479C-B639-9452CBA8C0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6792" y="2980944"/>
            <a:ext cx="4334256" cy="31181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0EC7A6-AFB1-4989-A0B4-B422D5B2C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3/8/2026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D2117C-B497-4647-A66B-1887750FB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E8C7AF-5092-416B-B61C-F41D3C573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4713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90CDE0-3FEB-42A0-8BCC-7DADE7D4A6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17905" y="2944368"/>
            <a:ext cx="4334256" cy="606026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778B8B-E9A3-44BE-85A6-3E316659A9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17904" y="3644987"/>
            <a:ext cx="4334256" cy="24496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BF1BCA-A435-4779-A6FE-15207141F5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36792" y="2944368"/>
            <a:ext cx="4334256" cy="606026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9B1923-9749-49E3-88FA-75C326E671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36792" y="3644987"/>
            <a:ext cx="4334256" cy="24496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3A70F0-5AFA-4C5A-812B-220C6A38D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6AF721-83FE-4B57-B910-C395D23FD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6A5893-52F1-44A1-AE8E-CF094DB41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9D22302-83E3-4E22-93DF-1E5D463B6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22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D85A6-A4E6-4160-BE43-8146A9894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A24A80-0792-4B3B-BB5A-8B2BD9109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26116E-7A6D-485F-9FA2-25F94D4F4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09ADCC-C5F2-4D90-B153-93DF55858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714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862271-51F6-4122-9709-D279042F8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2CFE08-03FE-487B-8963-9FAD3049C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935A50-18AE-4CB1-BB10-1CBDD8A7C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618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1F683-796D-458C-9B32-A385D604D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3145536" cy="1792224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B1F0BD-641B-4148-BCB3-2704218C80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0952" y="1517904"/>
            <a:ext cx="5330952" cy="458114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28C843-B846-4456-9720-71B7D4FF40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17904" y="3483864"/>
            <a:ext cx="3145536" cy="2615184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3A3A03-31BD-4E7E-879A-A1C718497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A39078-7D38-4851-A363-B6BC179A5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1FF25E-A25D-47AA-94EB-580A74F01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800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E83B4-9B31-4F73-9767-163636522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3145536" cy="1792224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7CFC30-8163-47A0-A97F-3F2C3A3BE7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49240" y="764032"/>
            <a:ext cx="6089904" cy="5330952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F1B390-0C23-466E-987C-26420A5F09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17904" y="3483864"/>
            <a:ext cx="3145536" cy="2615184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C9CA7C-B9D0-4A72-8061-1E02AA15F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3EFC84-C9FE-4BFA-9B4E-4516A1362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01A469-3EFC-4F94-8482-378582E1C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283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F9454-6F74-46A8-B299-4AF451BFB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F55CA9-A0BD-4609-9307-BAF987B262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5E4293-851E-4FA2-BFF2-B646A4236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907F5-F26D-4A91-8D70-AB54F8B43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8ACBD8-D942-449E-A2B8-358CD1365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542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A50897-0C2E-420B-9A38-A8D5C1D727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450317" y="1517904"/>
            <a:ext cx="2220731" cy="454678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DB2173-32A5-4677-A08F-DAB8FD430D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17904" y="1517904"/>
            <a:ext cx="6562553" cy="454678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DB124D-B801-4A6A-9DAF-EBC1B98FE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DAF8DF-2544-45A5-B62B-BB7948FCC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AC232D-131E-4BE6-8E2E-BAF5A3084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138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B1D84C-7934-4E5B-B6E4-A1D6EC299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9144000" cy="13441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6A990F-40AC-447A-964A-840C94A64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17904" y="2971800"/>
            <a:ext cx="9144000" cy="31272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D832A1-FFBA-48B6-B2D0-E5414F1283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5672" y="6400800"/>
            <a:ext cx="18653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3F9AFA87-1417-4992-ABD9-27C3BC8CC883}" type="datetimeFigureOut">
              <a:rPr lang="en-US" smtClean="0"/>
              <a:pPr algn="r"/>
              <a:t>3/8/2026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933EC1-4EE2-4453-841C-CFDFE70894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EBA78-E732-44EF-BA0B-FC42F79313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9648" y="6400800"/>
            <a:ext cx="5303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>
                <a:solidFill>
                  <a:schemeClr val="tx1"/>
                </a:solidFill>
              </a:defRPr>
            </a:lvl1pPr>
          </a:lstStyle>
          <a:p>
            <a:fld id="{CB1E4CB7-CB13-4810-BF18-BE31AFC64F93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9306479-8C4D-4E4A-A330-DFC80A8A01BE}"/>
              </a:ext>
            </a:extLst>
          </p:cNvPr>
          <p:cNvSpPr/>
          <p:nvPr/>
        </p:nvSpPr>
        <p:spPr>
          <a:xfrm>
            <a:off x="0" y="0"/>
            <a:ext cx="12192000" cy="6105524"/>
          </a:xfrm>
          <a:custGeom>
            <a:avLst/>
            <a:gdLst>
              <a:gd name="connsiteX0" fmla="*/ 0 w 12192000"/>
              <a:gd name="connsiteY0" fmla="*/ 0 h 6105524"/>
              <a:gd name="connsiteX1" fmla="*/ 12192000 w 12192000"/>
              <a:gd name="connsiteY1" fmla="*/ 0 h 6105524"/>
              <a:gd name="connsiteX2" fmla="*/ 12192000 w 12192000"/>
              <a:gd name="connsiteY2" fmla="*/ 6105524 h 6105524"/>
              <a:gd name="connsiteX3" fmla="*/ 11435080 w 12192000"/>
              <a:gd name="connsiteY3" fmla="*/ 6105524 h 6105524"/>
              <a:gd name="connsiteX4" fmla="*/ 11435080 w 12192000"/>
              <a:gd name="connsiteY4" fmla="*/ 771523 h 6105524"/>
              <a:gd name="connsiteX5" fmla="*/ 767080 w 12192000"/>
              <a:gd name="connsiteY5" fmla="*/ 771523 h 6105524"/>
              <a:gd name="connsiteX6" fmla="*/ 767080 w 12192000"/>
              <a:gd name="connsiteY6" fmla="*/ 6105524 h 6105524"/>
              <a:gd name="connsiteX7" fmla="*/ 0 w 12192000"/>
              <a:gd name="connsiteY7" fmla="*/ 6105524 h 6105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105524">
                <a:moveTo>
                  <a:pt x="0" y="0"/>
                </a:moveTo>
                <a:lnTo>
                  <a:pt x="12192000" y="0"/>
                </a:lnTo>
                <a:lnTo>
                  <a:pt x="12192000" y="6105524"/>
                </a:lnTo>
                <a:lnTo>
                  <a:pt x="11435080" y="6105524"/>
                </a:lnTo>
                <a:lnTo>
                  <a:pt x="11435080" y="771523"/>
                </a:lnTo>
                <a:lnTo>
                  <a:pt x="767080" y="771523"/>
                </a:lnTo>
                <a:lnTo>
                  <a:pt x="767080" y="6105524"/>
                </a:lnTo>
                <a:lnTo>
                  <a:pt x="0" y="6105524"/>
                </a:lnTo>
                <a:close/>
              </a:path>
            </a:pathLst>
          </a:cu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118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</p:sldLayoutIdLs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42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5760" indent="-365760" algn="l" defTabSz="914400" rtl="0" eaLnBrk="1" latinLnBrk="0" hangingPunct="1">
        <a:lnSpc>
          <a:spcPct val="105000"/>
        </a:lnSpc>
        <a:spcBef>
          <a:spcPts val="900"/>
        </a:spcBef>
        <a:buClr>
          <a:schemeClr val="accent5"/>
        </a:buClr>
        <a:buFont typeface="Avenir Next LT Pro" panose="020B0504020202020204" pitchFamily="34" charset="0"/>
        <a:buChar char="+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indent="0" algn="l" defTabSz="914400" rtl="0" eaLnBrk="1" latinLnBrk="0" hangingPunct="1">
        <a:lnSpc>
          <a:spcPct val="105000"/>
        </a:lnSpc>
        <a:spcBef>
          <a:spcPts val="900"/>
        </a:spcBef>
        <a:buFont typeface="Arial" panose="020B0604020202020204" pitchFamily="34" charset="0"/>
        <a:buNone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40080" indent="-274320" algn="l" defTabSz="914400" rtl="0" eaLnBrk="1" latinLnBrk="0" hangingPunct="1">
        <a:lnSpc>
          <a:spcPct val="105000"/>
        </a:lnSpc>
        <a:spcBef>
          <a:spcPts val="600"/>
        </a:spcBef>
        <a:buClr>
          <a:schemeClr val="accent5"/>
        </a:buClr>
        <a:buFont typeface="Avenir Next LT Pro" panose="020B0504020202020204" pitchFamily="34" charset="0"/>
        <a:buChar char="+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640080" indent="0" algn="l" defTabSz="914400" rtl="0" eaLnBrk="1" latinLnBrk="0" hangingPunct="1">
        <a:lnSpc>
          <a:spcPct val="105000"/>
        </a:lnSpc>
        <a:spcBef>
          <a:spcPts val="600"/>
        </a:spcBef>
        <a:buFontTx/>
        <a:buNone/>
        <a:defRPr sz="1800" i="1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886968" indent="-274320" algn="l" defTabSz="914400" rtl="0" eaLnBrk="1" latinLnBrk="0" hangingPunct="1">
        <a:lnSpc>
          <a:spcPct val="105000"/>
        </a:lnSpc>
        <a:spcBef>
          <a:spcPts val="600"/>
        </a:spcBef>
        <a:buClr>
          <a:schemeClr val="accent5"/>
        </a:buClr>
        <a:buFont typeface="Avenir Next LT Pro" panose="020B0504020202020204" pitchFamily="34" charset="0"/>
        <a:buChar char="+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45BA4C-9B54-4496-821F-9E0985CA9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AC8E0D-2A8E-E841-83B2-25AE0BBD98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47980" y="1030406"/>
            <a:ext cx="5498752" cy="3506879"/>
          </a:xfrm>
        </p:spPr>
        <p:txBody>
          <a:bodyPr anchor="ctr">
            <a:normAutofit fontScale="90000"/>
          </a:bodyPr>
          <a:lstStyle/>
          <a:p>
            <a:pPr algn="l"/>
            <a:r>
              <a:rPr lang="en-US" dirty="0"/>
              <a:t>Android app architecture with </a:t>
            </a:r>
            <a:r>
              <a:rPr lang="en-US" dirty="0" err="1"/>
              <a:t>ViewModel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71F278-C4B0-E4B0-0607-20958728EF4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836" r="26910"/>
          <a:stretch/>
        </p:blipFill>
        <p:spPr>
          <a:xfrm>
            <a:off x="20" y="10"/>
            <a:ext cx="5404493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611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8">
            <a:extLst>
              <a:ext uri="{FF2B5EF4-FFF2-40B4-BE49-F238E27FC236}">
                <a16:creationId xmlns:a16="http://schemas.microsoft.com/office/drawing/2014/main" id="{84136905-015B-4510-B514-027CBA846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36CD0F97-2E5B-4E84-8544-EB24DED104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Rectangle 12">
            <a:extLst>
              <a:ext uri="{FF2B5EF4-FFF2-40B4-BE49-F238E27FC236}">
                <a16:creationId xmlns:a16="http://schemas.microsoft.com/office/drawing/2014/main" id="{3B272257-593A-402F-88FA-F1DECD9E3F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12192000" cy="6095999"/>
          </a:xfrm>
          <a:prstGeom prst="rect">
            <a:avLst/>
          </a:prstGeom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FA0CE4-D30D-1443-9491-20FB26DA5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3102" y="1414678"/>
            <a:ext cx="10865795" cy="811790"/>
          </a:xfrm>
        </p:spPr>
        <p:txBody>
          <a:bodyPr>
            <a:normAutofit/>
          </a:bodyPr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DC438-2F92-A047-BDCF-903D905016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826" y="1801087"/>
            <a:ext cx="10963071" cy="401782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Show problems with non-modular approach of combined UI &amp; Data when configuration change occurs</a:t>
            </a:r>
          </a:p>
          <a:p>
            <a:r>
              <a:rPr lang="en-US" dirty="0"/>
              <a:t>Show Activity </a:t>
            </a:r>
            <a:r>
              <a:rPr lang="en-US" dirty="0" err="1"/>
              <a:t>LifeCycle</a:t>
            </a:r>
            <a:r>
              <a:rPr lang="en-US" dirty="0"/>
              <a:t> States</a:t>
            </a:r>
          </a:p>
          <a:p>
            <a:r>
              <a:rPr lang="en-US" dirty="0" err="1"/>
              <a:t>ViewModel</a:t>
            </a:r>
            <a:r>
              <a:rPr lang="en-US" dirty="0"/>
              <a:t> Characteristics</a:t>
            </a:r>
          </a:p>
          <a:p>
            <a:r>
              <a:rPr lang="en-US" dirty="0"/>
              <a:t>Change design to use Model-View-Controller (MVC)</a:t>
            </a:r>
          </a:p>
          <a:p>
            <a:r>
              <a:rPr lang="en-US" dirty="0"/>
              <a:t>Show </a:t>
            </a:r>
            <a:r>
              <a:rPr lang="en-US" dirty="0" err="1"/>
              <a:t>ViewModels</a:t>
            </a:r>
            <a:r>
              <a:rPr lang="en-US" dirty="0"/>
              <a:t> usage with </a:t>
            </a:r>
            <a:r>
              <a:rPr lang="en-US" dirty="0" err="1"/>
              <a:t>ViewModelProvider</a:t>
            </a:r>
            <a:r>
              <a:rPr lang="en-US" dirty="0"/>
              <a:t> class  </a:t>
            </a:r>
          </a:p>
          <a:p>
            <a:r>
              <a:rPr lang="en-US" dirty="0"/>
              <a:t>Display </a:t>
            </a:r>
            <a:r>
              <a:rPr lang="en-US" dirty="0" err="1"/>
              <a:t>ViewModel</a:t>
            </a:r>
            <a:r>
              <a:rPr lang="en-US" dirty="0"/>
              <a:t> Scope  </a:t>
            </a:r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476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49306479-8C4D-4E4A-A330-DFC80A8A01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105524"/>
          </a:xfrm>
          <a:custGeom>
            <a:avLst/>
            <a:gdLst>
              <a:gd name="connsiteX0" fmla="*/ 0 w 12192000"/>
              <a:gd name="connsiteY0" fmla="*/ 0 h 6105524"/>
              <a:gd name="connsiteX1" fmla="*/ 12192000 w 12192000"/>
              <a:gd name="connsiteY1" fmla="*/ 0 h 6105524"/>
              <a:gd name="connsiteX2" fmla="*/ 12192000 w 12192000"/>
              <a:gd name="connsiteY2" fmla="*/ 6105524 h 6105524"/>
              <a:gd name="connsiteX3" fmla="*/ 11435080 w 12192000"/>
              <a:gd name="connsiteY3" fmla="*/ 6105524 h 6105524"/>
              <a:gd name="connsiteX4" fmla="*/ 11435080 w 12192000"/>
              <a:gd name="connsiteY4" fmla="*/ 771523 h 6105524"/>
              <a:gd name="connsiteX5" fmla="*/ 767080 w 12192000"/>
              <a:gd name="connsiteY5" fmla="*/ 771523 h 6105524"/>
              <a:gd name="connsiteX6" fmla="*/ 767080 w 12192000"/>
              <a:gd name="connsiteY6" fmla="*/ 6105524 h 6105524"/>
              <a:gd name="connsiteX7" fmla="*/ 0 w 12192000"/>
              <a:gd name="connsiteY7" fmla="*/ 6105524 h 6105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105524">
                <a:moveTo>
                  <a:pt x="0" y="0"/>
                </a:moveTo>
                <a:lnTo>
                  <a:pt x="12192000" y="0"/>
                </a:lnTo>
                <a:lnTo>
                  <a:pt x="12192000" y="6105524"/>
                </a:lnTo>
                <a:lnTo>
                  <a:pt x="11435080" y="6105524"/>
                </a:lnTo>
                <a:lnTo>
                  <a:pt x="11435080" y="771523"/>
                </a:lnTo>
                <a:lnTo>
                  <a:pt x="767080" y="771523"/>
                </a:lnTo>
                <a:lnTo>
                  <a:pt x="767080" y="6105524"/>
                </a:lnTo>
                <a:lnTo>
                  <a:pt x="0" y="6105524"/>
                </a:lnTo>
                <a:close/>
              </a:path>
            </a:pathLst>
          </a:cu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9B45BA4C-9B54-4496-821F-9E0985CA9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5E1BB9D-FAFF-4C3E-9E44-13F8FBABCD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47C897C6-901F-410E-B2AC-162ED94B01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2000" y="762000"/>
            <a:ext cx="10668000" cy="5334000"/>
          </a:xfrm>
          <a:prstGeom prst="rect">
            <a:avLst/>
          </a:prstGeom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FA0CE4-D30D-1443-9491-20FB26DA5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3" y="1461686"/>
            <a:ext cx="4680595" cy="285316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000"/>
              <a:t>Activity LifeCycle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E385F9-E6B9-E930-A764-2C6651D058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8498" y="961929"/>
            <a:ext cx="4798452" cy="4934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576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8">
            <a:extLst>
              <a:ext uri="{FF2B5EF4-FFF2-40B4-BE49-F238E27FC236}">
                <a16:creationId xmlns:a16="http://schemas.microsoft.com/office/drawing/2014/main" id="{84136905-015B-4510-B514-027CBA846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36CD0F97-2E5B-4E84-8544-EB24DED104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Rectangle 12">
            <a:extLst>
              <a:ext uri="{FF2B5EF4-FFF2-40B4-BE49-F238E27FC236}">
                <a16:creationId xmlns:a16="http://schemas.microsoft.com/office/drawing/2014/main" id="{3B272257-593A-402F-88FA-F1DECD9E3F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12192000" cy="6095999"/>
          </a:xfrm>
          <a:prstGeom prst="rect">
            <a:avLst/>
          </a:prstGeom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FA0CE4-D30D-1443-9491-20FB26DA5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3102" y="1414678"/>
            <a:ext cx="10865795" cy="811790"/>
          </a:xfrm>
        </p:spPr>
        <p:txBody>
          <a:bodyPr>
            <a:normAutofit/>
          </a:bodyPr>
          <a:lstStyle/>
          <a:p>
            <a:r>
              <a:rPr lang="en-US" dirty="0" err="1"/>
              <a:t>ViewModel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DC438-2F92-A047-BDCF-903D905016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826" y="1801087"/>
            <a:ext cx="10963071" cy="401782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Store and manage UI-related data</a:t>
            </a:r>
          </a:p>
          <a:p>
            <a:r>
              <a:rPr lang="en-US" dirty="0"/>
              <a:t>Lifecycle conscious</a:t>
            </a:r>
          </a:p>
          <a:p>
            <a:r>
              <a:rPr lang="en-US" dirty="0"/>
              <a:t>Modularity</a:t>
            </a:r>
          </a:p>
          <a:p>
            <a:r>
              <a:rPr lang="en-US" dirty="0"/>
              <a:t>Survive configuration changes</a:t>
            </a:r>
          </a:p>
          <a:p>
            <a:pPr lvl="1"/>
            <a:r>
              <a:rPr lang="en-US" dirty="0"/>
              <a:t>	Restore data</a:t>
            </a:r>
          </a:p>
          <a:p>
            <a:pPr lvl="1"/>
            <a:r>
              <a:rPr lang="en-US" dirty="0"/>
              <a:t>	Asynchronous call delegation</a:t>
            </a:r>
          </a:p>
          <a:p>
            <a:pPr lvl="1"/>
            <a:r>
              <a:rPr lang="en-US" sz="2600" dirty="0"/>
              <a:t>Modularity, leak safety, testability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78325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8">
            <a:extLst>
              <a:ext uri="{FF2B5EF4-FFF2-40B4-BE49-F238E27FC236}">
                <a16:creationId xmlns:a16="http://schemas.microsoft.com/office/drawing/2014/main" id="{84136905-015B-4510-B514-027CBA846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36CD0F97-2E5B-4E84-8544-EB24DED104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Rectangle 12">
            <a:extLst>
              <a:ext uri="{FF2B5EF4-FFF2-40B4-BE49-F238E27FC236}">
                <a16:creationId xmlns:a16="http://schemas.microsoft.com/office/drawing/2014/main" id="{3B272257-593A-402F-88FA-F1DECD9E3F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12192000" cy="6095999"/>
          </a:xfrm>
          <a:prstGeom prst="rect">
            <a:avLst/>
          </a:prstGeom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FA0CE4-D30D-1443-9491-20FB26DA5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1940" y="1517650"/>
            <a:ext cx="5998059" cy="1344613"/>
          </a:xfrm>
        </p:spPr>
        <p:txBody>
          <a:bodyPr>
            <a:normAutofit/>
          </a:bodyPr>
          <a:lstStyle/>
          <a:p>
            <a:r>
              <a:rPr lang="en-US" dirty="0"/>
              <a:t>Modern architecture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ECD6E2-6A36-2541-AAE6-503BAEC7DA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335963"/>
            <a:ext cx="3892291" cy="294806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DC438-2F92-A047-BDCF-903D905016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1940" y="2970213"/>
            <a:ext cx="5998059" cy="3125787"/>
          </a:xfrm>
        </p:spPr>
        <p:txBody>
          <a:bodyPr>
            <a:normAutofit/>
          </a:bodyPr>
          <a:lstStyle/>
          <a:p>
            <a:r>
              <a:rPr lang="en-US" dirty="0"/>
              <a:t>One activity – different screens</a:t>
            </a:r>
          </a:p>
          <a:p>
            <a:r>
              <a:rPr lang="en-US" dirty="0" err="1"/>
              <a:t>ViewModel</a:t>
            </a:r>
            <a:r>
              <a:rPr lang="en-US" dirty="0"/>
              <a:t> component </a:t>
            </a:r>
          </a:p>
          <a:p>
            <a:pPr lvl="1"/>
            <a:r>
              <a:rPr lang="en-US" dirty="0"/>
              <a:t>Separate UI related data model from code which manages the UI</a:t>
            </a:r>
          </a:p>
          <a:p>
            <a:pPr lvl="1"/>
            <a:r>
              <a:rPr lang="en-US" dirty="0"/>
              <a:t>UI controllers and </a:t>
            </a:r>
            <a:r>
              <a:rPr lang="en-US" dirty="0" err="1"/>
              <a:t>ViewModel</a:t>
            </a:r>
            <a:r>
              <a:rPr lang="en-US" dirty="0"/>
              <a:t> instances to manage data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3520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6962A-9BE2-FA9D-CA90-D5A90988A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ViewModel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44C02-B57C-E7B5-D33E-F0BE8934B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Reference to the </a:t>
            </a:r>
            <a:r>
              <a:rPr lang="en-US" dirty="0" err="1"/>
              <a:t>ViewModels</a:t>
            </a:r>
            <a:r>
              <a:rPr lang="en-US" dirty="0"/>
              <a:t> are used for data using an instance of the </a:t>
            </a:r>
            <a:r>
              <a:rPr lang="en-US" dirty="0" err="1"/>
              <a:t>ViewModelProvider</a:t>
            </a:r>
            <a:r>
              <a:rPr lang="en-US" dirty="0"/>
              <a:t> class</a:t>
            </a:r>
          </a:p>
          <a:p>
            <a:pPr marL="0" indent="0">
              <a:buNone/>
            </a:pPr>
            <a:r>
              <a:rPr lang="en-US" sz="2000" dirty="0"/>
              <a:t>      </a:t>
            </a:r>
            <a:r>
              <a:rPr lang="en-US" sz="2000" dirty="0" err="1"/>
              <a:t>val</a:t>
            </a:r>
            <a:r>
              <a:rPr lang="en-US" sz="2000" dirty="0"/>
              <a:t> </a:t>
            </a:r>
            <a:r>
              <a:rPr lang="en-US" sz="2000" dirty="0" err="1"/>
              <a:t>viewModel</a:t>
            </a:r>
            <a:r>
              <a:rPr lang="en-US" sz="2000" dirty="0"/>
              <a:t> = </a:t>
            </a:r>
            <a:r>
              <a:rPr lang="en-US" sz="2000" dirty="0" err="1"/>
              <a:t>ViewModelProvider</a:t>
            </a:r>
            <a:r>
              <a:rPr lang="en-US" sz="2000" dirty="0"/>
              <a:t>(this).get(</a:t>
            </a:r>
            <a:r>
              <a:rPr lang="en-US" sz="2000" dirty="0" err="1"/>
              <a:t>MyViewModel</a:t>
            </a:r>
            <a:r>
              <a:rPr lang="en-US" sz="2000" dirty="0"/>
              <a:t>::</a:t>
            </a:r>
            <a:r>
              <a:rPr lang="en-US" sz="2000" dirty="0" err="1"/>
              <a:t>class.java</a:t>
            </a:r>
            <a:r>
              <a:rPr lang="en-US" sz="2000" dirty="0"/>
              <a:t>)</a:t>
            </a:r>
          </a:p>
          <a:p>
            <a:r>
              <a:rPr lang="en-US" dirty="0"/>
              <a:t>Use </a:t>
            </a:r>
            <a:r>
              <a:rPr lang="en-US" dirty="0" err="1"/>
              <a:t>viewModel</a:t>
            </a:r>
            <a:r>
              <a:rPr lang="en-US" dirty="0"/>
              <a:t> to access data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72647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iagram&#10;&#10;Description automatically generated">
            <a:extLst>
              <a:ext uri="{FF2B5EF4-FFF2-40B4-BE49-F238E27FC236}">
                <a16:creationId xmlns:a16="http://schemas.microsoft.com/office/drawing/2014/main" id="{4A19723B-EBFE-20C0-D38A-748701FB0C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166" y="710726"/>
            <a:ext cx="10703668" cy="5378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873100"/>
      </p:ext>
    </p:extLst>
  </p:cSld>
  <p:clrMapOvr>
    <a:masterClrMapping/>
  </p:clrMapOvr>
</p:sld>
</file>

<file path=ppt/theme/theme1.xml><?xml version="1.0" encoding="utf-8"?>
<a:theme xmlns:a="http://schemas.openxmlformats.org/drawingml/2006/main" name="PrismaticVTI">
  <a:themeElements>
    <a:clrScheme name="AnalogousFromDarkSeedLeftStep">
      <a:dk1>
        <a:srgbClr val="000000"/>
      </a:dk1>
      <a:lt1>
        <a:srgbClr val="FFFFFF"/>
      </a:lt1>
      <a:dk2>
        <a:srgbClr val="1B2F31"/>
      </a:dk2>
      <a:lt2>
        <a:srgbClr val="F2F3F0"/>
      </a:lt2>
      <a:accent1>
        <a:srgbClr val="8041CF"/>
      </a:accent1>
      <a:accent2>
        <a:srgbClr val="4B47C5"/>
      </a:accent2>
      <a:accent3>
        <a:srgbClr val="4178CF"/>
      </a:accent3>
      <a:accent4>
        <a:srgbClr val="2FA2BD"/>
      </a:accent4>
      <a:accent5>
        <a:srgbClr val="3CC1A3"/>
      </a:accent5>
      <a:accent6>
        <a:srgbClr val="2FBD62"/>
      </a:accent6>
      <a:hlink>
        <a:srgbClr val="339B95"/>
      </a:hlink>
      <a:folHlink>
        <a:srgbClr val="7F7F7F"/>
      </a:folHlink>
    </a:clrScheme>
    <a:fontScheme name="Custom 166">
      <a:majorFont>
        <a:latin typeface="Aharoni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ismaticVTI" id="{DA44D624-A564-4DE8-8446-0CD5C485C979}" vid="{8B2B1550-B69C-4156-BAEC-B2E559F94BD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531</TotalTime>
  <Words>135</Words>
  <Application>Microsoft Office PowerPoint</Application>
  <PresentationFormat>Widescreen</PresentationFormat>
  <Paragraphs>29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PrismaticVTI</vt:lpstr>
      <vt:lpstr>Android app architecture with ViewModel</vt:lpstr>
      <vt:lpstr>Objectives</vt:lpstr>
      <vt:lpstr>Activity LifeCycle</vt:lpstr>
      <vt:lpstr>ViewModel</vt:lpstr>
      <vt:lpstr>Modern architecture</vt:lpstr>
      <vt:lpstr>ViewModel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Android app architecture with Jetpack</dc:title>
  <dc:creator>Praveenkumar Khethavath</dc:creator>
  <cp:lastModifiedBy>Anthony Cordio</cp:lastModifiedBy>
  <cp:revision>12</cp:revision>
  <dcterms:created xsi:type="dcterms:W3CDTF">2022-05-04T21:53:44Z</dcterms:created>
  <dcterms:modified xsi:type="dcterms:W3CDTF">2026-03-08T18:20:11Z</dcterms:modified>
</cp:coreProperties>
</file>