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82" r:id="rId11"/>
    <p:sldId id="284" r:id="rId12"/>
    <p:sldId id="283" r:id="rId13"/>
    <p:sldId id="267" r:id="rId14"/>
    <p:sldId id="269" r:id="rId15"/>
    <p:sldId id="285" r:id="rId16"/>
    <p:sldId id="286" r:id="rId17"/>
    <p:sldId id="268" r:id="rId18"/>
    <p:sldId id="287" r:id="rId19"/>
    <p:sldId id="270" r:id="rId20"/>
    <p:sldId id="271" r:id="rId21"/>
    <p:sldId id="288" r:id="rId22"/>
    <p:sldId id="272" r:id="rId23"/>
    <p:sldId id="273" r:id="rId24"/>
    <p:sldId id="289" r:id="rId25"/>
    <p:sldId id="290" r:id="rId26"/>
    <p:sldId id="291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ACB63A-20E7-0F1F-32DD-D2BE5B776B9F}" v="3" dt="2024-09-15T13:05:44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/>
    <p:restoredTop sz="94762"/>
  </p:normalViewPr>
  <p:slideViewPr>
    <p:cSldViewPr snapToGrid="0" snapToObjects="1">
      <p:cViewPr varScale="1">
        <p:scale>
          <a:sx n="108" d="100"/>
          <a:sy n="108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1-22T18:03:20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1640 46 24575,'-13'-3'0,"2"0"0,-4-1 0,1 0 0,-5-1 0,-2 2 0,-8-1 0,-4 4 0,-15-2 0,-5 0 0,-6 0 0,-8 0 0,9 0 0,-15-1 0,17 1 0,-7-1 0,20 2 0,1 1 0,11 0 0,0 0 0,6 0 0,0 0 0,2 0 0,2 0 0,0 0 0,2 0 0,1 1 0,0-1 0,-4 1 0,3 0 0,-7-1 0,4 2 0,-9-1 0,6 1 0,-9-1 0,4 1 0,-2-2 0,-1 1 0,8-1 0,-2 1 0,9-1 0,-4 1 0,3-1 0,-7-1 0,4 1 0,-3-1 0,7 1 0,-3-1 0,5 1 0,-5-1 0,-3 1 0,3 0 0,-3 0 0,7 0 0,1 0 0,7 0 0,3 0 0,2 0 0,2 0 0,-2 0 0,0 0 0,1 0 0,0 0 0,1 0 0,0 0 0,0 0 0,-2 0 0,2 0 0,-2 0 0,1 0 0,2 0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1-22T18:03:22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1 24575,'-6'0'0,"-2"0"0,-1 1 0,-5 2 0,0 2 0,-5 3 0,2 1 0,-8 4 0,-1-1 0,-7 4 0,8-2 0,3 0 0,12-2 0,4-3 0,2 1 0,0-1 0,-2 1 0,0 0 0,1 0 0,0-2 0,-3 1 0,1 1 0,-5 1 0,3 0 0,-2-2 0,4 0 0,0-3 0,1 0 0,1-1 0,0-2 0,2 0 0,4-3 0,4 1 0,4 1 0,10 3 0,1 2 0,14 7 0,4 1 0,3 2 0,-2-2 0,-16-6 0,-10-4 0,-9-3 0,-2-1 0,2 3 0,0-2 0,2 3 0,0-3 0,-1 2 0,0-2 0,-1 0 0,1 1 0,1 1 0,-1-1 0,2 2 0,0 0 0,-1 2 0,1-1 0,-4-1 0,1 1 0,-3 2 0,3 5 0,2 6 0,1 3 0,3 3 0,-2-5 0,-1-3 0,-3-6 0,0-2 0,-2-3 0,0-1 0,-1-3 0,-1 0 0,0 0 0,0 1 0,0-1 0,0 0 0,0-1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1-22T18:18:23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1409 0 24575,'-8'0'0,"-4"2"0,0-2 0,-6 2 0,2-2 0,-4 3 0,3-2 0,-1 3 0,-7-2 0,-1 2 0,-17 0 0,3-2 0,-9 1 0,11 0 0,-2-2 0,8 0 0,-9-1 0,10 1 0,-3 1 0,7 0 0,-4 0 0,3 1 0,-5-2 0,7 1 0,2 0 0,9 0 0,0 1 0,3 0 0,-11 2 0,-5-2 0,-14 3 0,3-3 0,-12 1 0,13-1 0,-6-1 0,16 1 0,-3-1 0,10 0 0,-1 1 0,8-2 0,4 0 0,5 0 0,-2 0 0,-4 1 0,-9 1 0,-10-2 0,2 1 0,-2-2 0,14 1 0,7 2 0,6 2 0,3 5 0,-1 0 0,0 8 0,-3 3 0,0 6 0,-1 1 0,0 9 0,0-5 0,0 8 0,-2-11 0,1 3 0,0-7 0,-2 2 0,3-7 0,-2 2 0,1-6 0,1 0 0,0-4 0,2-1 0,-1-2 0,0 3 0,1-2 0,0 4 0,1-5 0,0 1 0,0-2 0,2 3 0,-2 2 0,2 3 0,-1-2 0,0-3 0,0-4 0,0-3 0,1-2 0,0 0 0,1 3 0,0 0 0,-1 4 0,0-3 0,0 1 0,0-3 0,0 0 0,0 0 0,0 1 0,-1 7 0,0 0 0,-1 2 0,0-2 0,1-6 0,1-2 0,-1-2 0,1 0 0,-2 3 0,1 1 0,-1 2 0,0-1 0,1 0 0,1-3 0,0-1 0,0-1 0,0 1 0,0-2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1-22T18:18:25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24575,'4'9'0,"1"0"0,2 1 0,0 1 0,0 1 0,0 3 0,2 2 0,-2 3 0,4 1 0,-3-2 0,1-1 0,-4-8 0,0-1 0,-3-6 0,-2 2 0,2 1 0,-1 3 0,1-1 0,-1-1 0,1-1 0,-2-2 0,1 0 0,0-1 0,0 0 0,0 0 0,1 1 0,-1 2 0,1 3 0,-1 3 0,1 3 0,-1-3 0,0-2 0,0-5 0,2-7 0,2-4 0,1-4 0,4-1 0,-1 1 0,4-4 0,2-1 0,2-4 0,4 2 0,8-6 0,11-1 0,6 0 0,6-1 0,-18 8 0,-9 5 0,-18 7 0,-5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5:09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0 772 24575,'46'-29'0,"0"4"0,-2-12 0,-16 16 0,43-26 0,-37 19 0,38-14 0,-20 3 0,3 9 0,-11-1 0,15 3 0,-15 1 0,6 0 0,1-4 0,-8 9 0,4-11 0,0-2 0,7-1 0,-11 5 0,-6 0 0,-12 3 0,1 1 0,-12 4 0,5-1 0,-10 11 0,-1 2 0,-5 3 0,-3 4 0,0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5:42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24575,'62'-5'0,"10"-6"0,-8-7 0,29-8 0,7-1 0,-42 11 0,-1 0 0,32-5 0,1 0 0,-20 5 0,-8 3 0,2 4 0,-2-1 0,1 0 0,17 0 0,16 6 0,3 2 0,-48-2 0,1 1-327,18 0 0,9 2 0,-14 0 327,-2 1 0,6 0 0,1 0 0,4 0 0,-4 0 0,-2 0-525,-6 0 525,-6 0 0,8 0 0,26 2 0,-1 1 0,-34 0 0,0 0 0,32 1 0,2 3 0,-30 4 0,-3-1 0,-6-2 0,1-1 0,22 5 0,-1 2 0,-19-1 0,0 0 0,19 7 0,-2 0 0,17 8 0,-19-8 0,-5-2 0,-18-6 0,30 5 0,-23-8 0,0-1 0,17 5 0,3-5 0,-1 0 0,-7-3 0,24 3 0,2-1 0,-13-5 477,1 4 0,6-1-477,-22-5 0,-2 0 0,-9 0 0,0 0 0,16 0 0,-3 0 0,7 0 552,-8 0-552,5 0 0,13 0 0,-14 0 0,12 0 0,-18 0 0,-11 0 0,28 0 0,-25 0 0,13 0 0,-20 0 0,30 0 0,-26 0 0,20 0 0,-37 0 0,3 0 0,-16 0 0,8 0 0,-19 0 0,3 0 0,-8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5:4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24575,'35'0'0,"39"11"0,12-3-621,-31 0 1,1 1 620,32-2 0,-32-4 0,3 0-1021,6-3 1,3 0 1020,12 0 0,4 0 0,8 0 0,1 0-672,1 0 1,1 0 671,5 0 0,0 0 0,-4 0 0,8 0 0,-14 0 0,12 0 0,1 0 0,-8 0 0,-11-1 0,-5 1 0,5 1-756,10 0 0,10 0 0,-2 1 0,-12 1 756,-18-1 0,-8 1 0,0 1 0,30 7 0,0 1-616,5 1 0,0 0 616,-12 2 0,3 2 0,-5 2 0,7 2 0,-6-1 0,6-1 0,-1 0 0,-15 0 0,5 2 0,0-2 0,5-1 0,1-2 0,-6-1 0,3-2 0,-2 1 0,-6 1 0,3 1 0,-9-2 608,-17-7 0,-1 0-608,35 8 0,0 0 0,-32-7 0,0-1 453,33 3 0,-2-2-453,11-2 0,-22-6 0,2 0 0,-21 1 0,0-2 0,18-4 0,-6 0 3159,-3-3-3159,18-15 0,-27 9 0,1 0 0,36-8 0,-34 5 0,-4 2 0,-1 2 2387,0-2-2387,19-1 0,-21 4 0,13-3 1123,-25 5-1123,0 0 90,25-8-90,-24 6 0,12-10 0,-26 12 0,-9-2 0,3 3 0,-8 1 0,3 3 0,-7-2 0,2 3 0,-3 0 0,0-3 0,-4 2 0,-1 1 0,-3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5:4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120 121 24575,'0'20'0,"0"-10"0,0 50 0,0-20 0,0 54 0,0-54 0,0 12 0,-7-24 0,5-2 0,-6 7 0,8-7 0,0 0 0,0-3 0,0-3 0,0-4 0,0-4 0,0 12 0,0-6 0,0 7 0,0-4 0,0 10 0,0-7 0,0 6 0,0-14 0,4-3 0,-3-1 0,6 0 0,-3 0 0,4 0 0,0-1 0,-1-3 0,-2-1 0,5 4 0,-5-2 0,9 5 0,2-5 0,-3-2 0,6-3 0,-10-1 0,7-2 0,9 2 0,-1 1 0,12-3 0,52 8 0,-45-8 0,50 3 0,-64-4 0,10 0 0,20 0 0,-18 0 0,17-8 0,-25 1 0,9-11 0,-6 3 0,10 1 0,40-32 0,-38 32 0,32-25 0,-53 38 0,-2-3 0,-1 4 0,5 0 0,-11 0 0,4 0 0,10 0 0,-16 0 0,11 0 0,-20 0 0,4 0 0,-6-4 0,2-3 0,-7-10 0,0 0 0,0-3 0,0-7 0,-4-28 0,-1 8 0,-5-18 0,0 25 0,0 5 0,0-16 0,0 18 0,1-12 0,-1 17 0,-10-23 0,8 23 0,-9-17 0,9 21 0,6 9 0,-5-4 0,10 11 0,-5 0 0,1 1 0,-2-1 0,-1 4 0,0-7 0,0 9 0,3-9 0,-2 10 0,0-9 0,-2 8 0,-6-5 0,6 4 0,-27-2 0,14 1 0,-21-4 0,9 7 0,5-8 0,-10 8 0,-2-3 0,-1 0 0,-34 2 0,34-2 0,-40 4 0,37 0 0,-11-5 0,9 4 0,7-8 0,5 8 0,-23-12 0,29 11 0,-18-6 0,30 8 0,-10 0 0,7 0 0,-3 0 0,-4 0 0,16 0 0,-16 0 0,14 0 0,-4 0 0,-14 0 0,10 0 0,-6 0 0,8 0 0,9 0 0,-5 0 0,14 3 0,2 2 0,10 6 0,-6-3 0,5 3 0,-1 13 0,0-8 0,-1 13 0,-4-5 0,-4-5 0,0 1 0,4-8 0,-4-4 0,4-1 0,-4 1 0,0-1 0,0 1 0,0 6 0,0-4 0,3 1 0,1-8 0,1-3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5:3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24575,'8'0'0,"-1"0"0,1 0 0,10-4 0,-3 3 0,4-2 0,-3 3 0,0-4 0,2 3 0,7-7 0,-7 7 0,9-7 0,-5 7 0,6-8 0,-5 8 0,16-3 0,-13 4 0,14 0 0,-13 0 0,19 0 0,-14 0 0,19 0 0,-22 0 0,25 0 0,-22 0 0,11 0 0,-17 0 0,-8 0 0,4 0 0,-5 0 0,-8 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5:3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24575,'3'0'0,"3"0"0,16 0 0,30 0 0,-11 0 0,30 0 0,-29 0 0,28 0 0,1 0 0,-1 0 0,-5 0 0,17 0 0,-31 0 0,26 0 0,-38 0 0,-10 0 0,10 0 0,-3 0 0,-6 0 0,0 0 0,-18 0 0,7 0 0,-10 0 0,2 0 0,-7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6:0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24575,'79'0'0,"1"0"0,-1 0 0,1 0 0,15-1 0,12 0 0,0 0 0,-9 0 0,-20 0 0,-14 1 0,-4-1 0,20-2 0,17-2 0,-4-1 0,-30 1 0,-25 2 0,40-12 0,-42 15 0,-18 0 0,18 0 0,-14 0 0,8 0 0,12 0 0,-4 0 0,8 0 0,-17 0 0,22 0 0,-19 0 0,9 0 0,-19 0 0,9 0 0,-15 0 0,10 0 0,-18 0 0,-1 0 0,1 0 0,-4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6:31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24575,'7'0'0,"3"0"0,16 0 0,-5 0 0,1-4 0,-5 3 0,-1-3 0,1 4 0,5-4 0,-4-1 0,8-4 0,22-12 0,-14 4 0,13-5 0,-25 9 0,-5 4 0,3 1 0,8 3 0,-2 2 0,2 3 0,-12 3 0,3 1 0,13 12 0,-11-10 0,9 9 0,-16-11 0,0 0 0,1 3 0,-3-6 0,-5 6 0,12-3 0,-5 4 0,6 0 0,-8 0 0,3 0 0,-6 0 0,6 0 0,-7-4 0,0 3 0,-1-6 0,1 5 0,-4-5 0,-1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6:3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24575,'7'0'0,"4"0"0,-2 0 0,2 0 0,-4 0 0,1 0 0,0 0 0,-1 0 0,1 0 0,13 0 0,-10 0 0,14 0 0,-12 0 0,11 0 0,0 0 0,1 0 0,14 4 0,30 2 0,-19 3 0,21-3 0,-44-2 0,-4-1 0,4-2 0,-9 7 0,3-7 0,-4 2 0,3 1 0,-7-3 0,-2 5 0,-4-5 0,7 3 0,4-4 0,1 0 0,1 0 0,-8 0 0,5 0 0,15 0 0,-7 0 0,21 0 0,-21 0 0,11 0 0,-21 0 0,8 0 0,-14 0 0,6 0 0,-7 0 0,7 0 0,-2 0 0,4 0 0,5-4 0,1 3 0,12-7 0,-11 3 0,6 0 0,-18 1 0,8 4 0,-7-4 0,3 4 0,-1-4 0,-3 4 0,0 0 0,-4-4 0,-5 0 0,-3-4 0,0 4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6:3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24575,'28'0'0,"5"0"0,8 0 0,1 0 0,4 0 0,-6 0 0,-5 0 0,-2 0 0,-10 0 0,6 0 0,-10 4 0,1 0 0,0 8 0,-3-7 0,18 2 0,-15-7 0,17 0 0,-26 0 0,12 0 0,-11 0 0,4 0 0,-1 0 0,-3 0 0,-1 0 0,-3 0 0,-1 0 0,1 0 0,-1 0 0,8 0 0,-6 0 0,2-3 0,-7 2 0,-4-3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6:4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24575,'47'0'0,"-15"0"0,39-4 0,-29 3 0,0-3 0,-9 4 0,-10 0 0,28 0 0,-22 0 0,29 0 0,-29 0 0,10 0 0,20 0 0,8 0 0,-3 0 0,18 0 0,-43 0 0,10-5 0,3-2 0,28-7 0,6-5 0,-10 1 0,-20 2 0,0 4 0,23-14 0,-26 8 0,11-3 0,-29 7 0,-2 4 0,-10 1 0,-5 1 0,-7 3 0,0-2 0,-6 6 0,2-2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7:3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24575,'15'0'0,"-1"0"0,6 0 0,2 0 0,-9 0 0,28 0 0,-23 0 0,23 0 0,-27 0 0,22 3 0,-19-2 0,16 7 0,-17-7 0,1 2 0,3 1 0,-6-3 0,5 3 0,-10-4 0,7 4 0,4-3 0,-5 2 0,8-3 0,-10 0 0,-1 4 0,12-4 0,-14 4 0,13 0 0,-10-3 0,4 2 0,15-3 0,-12 0 0,12 0 0,-15 0 0,15 0 0,-16 0 0,15 0 0,-22 0 0,3 0 0,3 0 0,-6 0 0,6 0 0,-7 0 0,-1 0 0,-2-3 0,-2 2 0,-3-2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5:19:0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24575,'13'17'0,"23"20"0,-14-19 0,18 14 0,-23-24 0,0 1 0,0-5 0,12 0 0,-9-4 0,14 0 0,9 0 0,-5 0 0,23-8 0,-25 2 0,0-7 0,-2 7 0,-10 3 0,7 3 0,-5 0 0,17 0 0,-11 0 0,16 0 0,-20-5 0,14 0 0,-4 0 0,1 1 0,-4 4 0,-20 0 0,8 0 0,-10 0 0,19-8 0,-16 6 0,23-9 0,-25 10 0,11-3 0,-1 4 0,-10 0 0,10 0 0,-11 0 0,14 0 0,-11 0 0,6 0 0,-14 0 0,0 0 0,3-3 0,-3 2 0,3-2 0,-3 3 0,13 0 0,-5 0 0,7 0 0,-12 0 0,1 0 0,-3-4 0,2 3 0,-3-2 0,0 3 0,-1 0 0,1 0 0,-1 0 0,1 0 0,0 0 0,-1 0 0,1 0 0,3 0 0,2 0 0,-1 0 0,6 0 0,-9 3 0,23 1 0,-21 1 0,14-2 0,-7-3 0,-8 0 0,8 0 0,-11 0 0,1 0 0,0 0 0,-1 0 0,1 0 0,-4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F7E72-C44A-924D-8139-935927262AB2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03653-E473-FB40-A848-23E504F47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2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03653-E473-FB40-A848-23E504F4724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1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ABA9F-6220-2C4C-ADC2-24735E1BC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9A676-7452-174A-B8A7-6B4E8672A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2566C-D976-7743-A2F8-87A0BC25B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A86C8-813A-084C-BAE7-DF12BEC2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D2EB4-B715-D44C-B7EC-0D202EA6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21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BD60-0CDA-D542-98FE-E166F7CC4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8A19-1B8B-314B-A58C-F761C4FC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BFF29-23AA-5241-A75E-95A9B5B4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B449B-C2A4-554E-8384-B6A9AC80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DD618-3079-5740-9E9C-B1339A97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25A4-4CD0-4D40-B3E1-8EB454B7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EC76F-DEC3-3145-B2EE-7D75522F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A95BD-565F-DD47-9C64-69B026414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4BC78-5848-9C47-B5AF-91A79D04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7EFD7-97C8-AC4D-8276-735EAB60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0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ED1D-B340-A44B-A4B6-6F318659D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10EE8-D8FE-B04E-9EBE-47D083A389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9AA4D-F8A1-0D49-A79D-021EAF004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6EB17-8DBE-6B49-BBE1-4F952A5F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5026D-BBDF-CC44-B9E5-C35D11FC2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7737-5861-8943-A2A3-9A6C5234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3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1E1E3-C2F8-8A4F-93E3-754244AF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8C5D7-27BA-0343-A867-F1FAD456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44A68-C802-4945-9833-2BB51B5F6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D81856-8B9A-CE49-8633-478E6D2D0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0DD1D-CD1B-5844-B0FE-BE44F3D56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B1D0B-9735-674A-B129-E637DDC3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1B400-2FE0-2049-85CC-F9392E8B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B7C90-BDD0-2D41-8606-EB32731F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82BC-B659-294E-953A-20AF03D9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59E45C-DC57-2141-8466-BCFF3B45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4E8E5-A628-5C4E-B8E3-6682985F0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65F0F-E578-4F4E-9058-E9C8A7A4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6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29FD7-30F0-4847-9D05-D85F0FCB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D17FE1-9CA0-3C4D-A3D3-4B37B42D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6A510-2BA5-1A48-BC2A-7D75F284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3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8E0D-4724-DE47-B858-1B4C7CFD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C745A-DF11-544C-B1C3-DC3C7A281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30D3D-5323-7345-9D7E-4B12C5744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BE94D-C6B1-534B-9C57-F6ED73A5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698E3-F282-EA4A-8AF8-41C1C4FF8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1C43A-1699-5349-B896-4EAEEE12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6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8EC69-5FF7-2140-B931-EAE225DD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1D4AE-CC0E-0348-90E4-5FDACD72F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4E364-F142-4A44-8B5F-0BAE7813D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35FA6-69E6-C548-940A-960EE6FC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0FFCF-6BA5-5844-92DD-BF256430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D4910-9CCC-FE4C-A646-22B816D1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2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D317-058C-C64C-B7B3-FAF32A2A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5D108-66D5-A741-950E-5B3D30654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9EAAE-4D84-6447-8B24-586DA16F4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BAE77-A670-1743-8ABE-A2EA5D04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B6030-DA1E-C44C-A0AC-CACBE5BC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5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BD58EC-389E-F74D-868B-ED8380D3E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4930A-9F90-7048-BED0-10940B1E4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8006E-78FF-354F-BF87-DF0577DD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3B2D0-579D-3845-9E1A-601614AC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8E451-DF23-8244-9EB3-64C45091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0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CF580-6907-3842-81CA-A85AF198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7D308-CEBA-664D-BB5B-B85CB8CB6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37D60-8A2E-8E4D-B2AC-DCE13E683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4ADA3-845C-2E4F-B8C4-8DE6A85A95F1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225D0-ADCA-B145-904D-76FFCF224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FC452-7BF8-2E4F-AFDC-423D886CE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F0877-CB09-CA4D-960A-AEAE3D58E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7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creativecommons.org/licenses/by-sa/3.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pngimg.com/download/26175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en.wikipedia.org/wiki/Kotlin_(programming_language)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kotlinlang.org/" TargetMode="External"/><Relationship Id="rId2" Type="http://schemas.openxmlformats.org/officeDocument/2006/relationships/hyperlink" Target="https://www.jetbrains.com/idea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23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" Type="http://schemas.openxmlformats.org/officeDocument/2006/relationships/image" Target="../media/image16.png"/><Relationship Id="rId21" Type="http://schemas.openxmlformats.org/officeDocument/2006/relationships/image" Target="../media/image27.png"/><Relationship Id="rId7" Type="http://schemas.openxmlformats.org/officeDocument/2006/relationships/image" Target="../media/image20.png"/><Relationship Id="rId12" Type="http://schemas.openxmlformats.org/officeDocument/2006/relationships/customXml" Target="../ink/ink7.xml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2" Type="http://schemas.openxmlformats.org/officeDocument/2006/relationships/image" Target="../media/image4.png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24" Type="http://schemas.openxmlformats.org/officeDocument/2006/relationships/customXml" Target="../ink/ink13.xml"/><Relationship Id="rId5" Type="http://schemas.openxmlformats.org/officeDocument/2006/relationships/image" Target="../media/image18.png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28" Type="http://schemas.openxmlformats.org/officeDocument/2006/relationships/customXml" Target="../ink/ink15.xml"/><Relationship Id="rId10" Type="http://schemas.openxmlformats.org/officeDocument/2006/relationships/customXml" Target="../ink/ink6.xml"/><Relationship Id="rId19" Type="http://schemas.openxmlformats.org/officeDocument/2006/relationships/image" Target="../media/image26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customXml" Target="../ink/ink1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16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434194B-EB56-4062-98C6-CB72F287E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0022124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3746DB1-35A8-422F-9955-4F8E75DBB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C03E087-0493-4845-A2C6-133DC9651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5676" y="3753492"/>
            <a:ext cx="5946202" cy="838831"/>
          </a:xfrm>
        </p:spPr>
        <p:txBody>
          <a:bodyPr anchor="b">
            <a:normAutofit/>
          </a:bodyPr>
          <a:lstStyle/>
          <a:p>
            <a:pPr algn="r"/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9BE2E-08CC-6148-AC39-5C45C3846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5299" y="4592325"/>
            <a:ext cx="5946579" cy="1514185"/>
          </a:xfrm>
        </p:spPr>
        <p:txBody>
          <a:bodyPr anchor="t">
            <a:normAutofit/>
          </a:bodyPr>
          <a:lstStyle/>
          <a:p>
            <a:pPr algn="r"/>
            <a:r>
              <a:rPr lang="en-US" sz="4000">
                <a:solidFill>
                  <a:srgbClr val="000000"/>
                </a:solidFill>
              </a:rPr>
              <a:t>Kotlin Programming</a:t>
            </a:r>
          </a:p>
        </p:txBody>
      </p:sp>
      <p:sp>
        <p:nvSpPr>
          <p:cNvPr id="33" name="Freeform 57">
            <a:extLst>
              <a:ext uri="{FF2B5EF4-FFF2-40B4-BE49-F238E27FC236}">
                <a16:creationId xmlns:a16="http://schemas.microsoft.com/office/drawing/2014/main" id="{B817D9AD-5E85-4E85-AC3E-43E24FA91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580219"/>
            <a:ext cx="4383459" cy="5287256"/>
          </a:xfrm>
          <a:custGeom>
            <a:avLst/>
            <a:gdLst>
              <a:gd name="connsiteX0" fmla="*/ 1504462 w 4383459"/>
              <a:gd name="connsiteY0" fmla="*/ 0 h 5287256"/>
              <a:gd name="connsiteX1" fmla="*/ 4383459 w 4383459"/>
              <a:gd name="connsiteY1" fmla="*/ 2878997 h 5287256"/>
              <a:gd name="connsiteX2" fmla="*/ 3114137 w 4383459"/>
              <a:gd name="connsiteY2" fmla="*/ 5266307 h 5287256"/>
              <a:gd name="connsiteX3" fmla="*/ 3079653 w 4383459"/>
              <a:gd name="connsiteY3" fmla="*/ 5287256 h 5287256"/>
              <a:gd name="connsiteX4" fmla="*/ 0 w 4383459"/>
              <a:gd name="connsiteY4" fmla="*/ 5287256 h 5287256"/>
              <a:gd name="connsiteX5" fmla="*/ 0 w 4383459"/>
              <a:gd name="connsiteY5" fmla="*/ 427769 h 5287256"/>
              <a:gd name="connsiteX6" fmla="*/ 132161 w 4383459"/>
              <a:gd name="connsiteY6" fmla="*/ 347480 h 5287256"/>
              <a:gd name="connsiteX7" fmla="*/ 1504462 w 4383459"/>
              <a:gd name="connsiteY7" fmla="*/ 0 h 5287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83459" h="5287256">
                <a:moveTo>
                  <a:pt x="1504462" y="0"/>
                </a:moveTo>
                <a:cubicBezTo>
                  <a:pt x="3094488" y="0"/>
                  <a:pt x="4383459" y="1288971"/>
                  <a:pt x="4383459" y="2878997"/>
                </a:cubicBezTo>
                <a:cubicBezTo>
                  <a:pt x="4383459" y="3872763"/>
                  <a:pt x="3879955" y="4748930"/>
                  <a:pt x="3114137" y="5266307"/>
                </a:cubicBezTo>
                <a:lnTo>
                  <a:pt x="3079653" y="5287256"/>
                </a:lnTo>
                <a:lnTo>
                  <a:pt x="0" y="5287256"/>
                </a:lnTo>
                <a:lnTo>
                  <a:pt x="0" y="427769"/>
                </a:lnTo>
                <a:lnTo>
                  <a:pt x="132161" y="347480"/>
                </a:lnTo>
                <a:cubicBezTo>
                  <a:pt x="540096" y="125876"/>
                  <a:pt x="1007579" y="0"/>
                  <a:pt x="1504462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0810290-E788-4DE3-B716-DBE58CC6A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2946" y="0"/>
            <a:ext cx="4185112" cy="3170097"/>
          </a:xfrm>
          <a:custGeom>
            <a:avLst/>
            <a:gdLst>
              <a:gd name="connsiteX0" fmla="*/ 301225 w 4185112"/>
              <a:gd name="connsiteY0" fmla="*/ 0 h 3170097"/>
              <a:gd name="connsiteX1" fmla="*/ 3883887 w 4185112"/>
              <a:gd name="connsiteY1" fmla="*/ 0 h 3170097"/>
              <a:gd name="connsiteX2" fmla="*/ 3932552 w 4185112"/>
              <a:gd name="connsiteY2" fmla="*/ 80105 h 3170097"/>
              <a:gd name="connsiteX3" fmla="*/ 4185112 w 4185112"/>
              <a:gd name="connsiteY3" fmla="*/ 1077541 h 3170097"/>
              <a:gd name="connsiteX4" fmla="*/ 2092556 w 4185112"/>
              <a:gd name="connsiteY4" fmla="*/ 3170097 h 3170097"/>
              <a:gd name="connsiteX5" fmla="*/ 0 w 4185112"/>
              <a:gd name="connsiteY5" fmla="*/ 1077541 h 3170097"/>
              <a:gd name="connsiteX6" fmla="*/ 252561 w 4185112"/>
              <a:gd name="connsiteY6" fmla="*/ 80105 h 3170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85112" h="3170097">
                <a:moveTo>
                  <a:pt x="301225" y="0"/>
                </a:moveTo>
                <a:lnTo>
                  <a:pt x="3883887" y="0"/>
                </a:lnTo>
                <a:lnTo>
                  <a:pt x="3932552" y="80105"/>
                </a:lnTo>
                <a:cubicBezTo>
                  <a:pt x="4093621" y="376606"/>
                  <a:pt x="4185112" y="716389"/>
                  <a:pt x="4185112" y="1077541"/>
                </a:cubicBezTo>
                <a:cubicBezTo>
                  <a:pt x="4185112" y="2233228"/>
                  <a:pt x="3248243" y="3170097"/>
                  <a:pt x="2092556" y="3170097"/>
                </a:cubicBezTo>
                <a:cubicBezTo>
                  <a:pt x="936869" y="3170097"/>
                  <a:pt x="0" y="2233228"/>
                  <a:pt x="0" y="1077541"/>
                </a:cubicBezTo>
                <a:cubicBezTo>
                  <a:pt x="0" y="716389"/>
                  <a:pt x="91491" y="376606"/>
                  <a:pt x="252561" y="80105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F01AFB0F-1D4D-9E45-8EB8-63C0B709C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62290" y="228600"/>
            <a:ext cx="2066859" cy="2066859"/>
          </a:xfrm>
          <a:prstGeom prst="rect">
            <a:avLst/>
          </a:prstGeom>
        </p:spPr>
      </p:pic>
      <p:pic>
        <p:nvPicPr>
          <p:cNvPr id="23" name="Picture 22" descr="A picture containing clock&#10;&#10;Description automatically generated">
            <a:extLst>
              <a:ext uri="{FF2B5EF4-FFF2-40B4-BE49-F238E27FC236}">
                <a16:creationId xmlns:a16="http://schemas.microsoft.com/office/drawing/2014/main" id="{755C31A4-9AFA-5542-BC02-F4F1CCBF02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36097" y="2617797"/>
            <a:ext cx="3137605" cy="36059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86817D-1D79-324E-A72D-ACDCFBB1EB77}"/>
              </a:ext>
            </a:extLst>
          </p:cNvPr>
          <p:cNvSpPr txBox="1"/>
          <p:nvPr/>
        </p:nvSpPr>
        <p:spPr>
          <a:xfrm>
            <a:off x="9884958" y="665794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en.wikipedia.org/wiki/Kotlin_(programming_languag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7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171B7C-4529-5840-8896-4EF4643A6080}"/>
              </a:ext>
            </a:extLst>
          </p:cNvPr>
          <p:cNvSpPr txBox="1"/>
          <p:nvPr/>
        </p:nvSpPr>
        <p:spPr>
          <a:xfrm>
            <a:off x="1153836" y="6023647"/>
            <a:ext cx="231986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6" tooltip="http://pngimg.com/download/2617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8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983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52EFB-B5DF-A845-A21A-5EAF9711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Overview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57D9A9F9-D3A0-B846-9A85-7654D219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 dirty="0"/>
              <a:t>Kotlin – open source programming language</a:t>
            </a:r>
          </a:p>
          <a:p>
            <a:r>
              <a:rPr lang="en-US" sz="2000" dirty="0"/>
              <a:t>Created by JetBrains</a:t>
            </a:r>
          </a:p>
          <a:p>
            <a:r>
              <a:rPr lang="en-US" sz="2000" dirty="0"/>
              <a:t>JVM language</a:t>
            </a:r>
          </a:p>
          <a:p>
            <a:pPr lvl="1"/>
            <a:r>
              <a:rPr lang="en-US" sz="2000" dirty="0"/>
              <a:t>Can call java code and vice versa</a:t>
            </a:r>
          </a:p>
          <a:p>
            <a:r>
              <a:rPr lang="en-US" sz="2000" dirty="0"/>
              <a:t>Official Android programming language</a:t>
            </a:r>
          </a:p>
          <a:p>
            <a:r>
              <a:rPr lang="en-US" sz="2000" dirty="0"/>
              <a:t>IDE : </a:t>
            </a:r>
            <a:r>
              <a:rPr lang="en-US" sz="2000" dirty="0">
                <a:hlinkClick r:id="rId2"/>
              </a:rPr>
              <a:t>IntelliJ IDEA </a:t>
            </a:r>
            <a:r>
              <a:rPr lang="en-US" sz="2000" dirty="0"/>
              <a:t>(Community Edition) </a:t>
            </a:r>
          </a:p>
          <a:p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https://play.kotlinlang.org</a:t>
            </a:r>
            <a:r>
              <a:rPr lang="en-US" sz="2000" dirty="0"/>
              <a:t>:</a:t>
            </a:r>
          </a:p>
          <a:p>
            <a:r>
              <a:rPr lang="en-US" sz="2000" dirty="0"/>
              <a:t>Semi-colons not required.</a:t>
            </a:r>
          </a:p>
          <a:p>
            <a:pPr lvl="1"/>
            <a:r>
              <a:rPr lang="en-US" sz="2000" dirty="0"/>
              <a:t>Required only when multiple statements are used in same line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7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AA049B-EB16-A945-8B94-51B7C225E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First Kotlin application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C810F0B-67E3-B943-BF35-67379264F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338" y="2350701"/>
            <a:ext cx="7228338" cy="45072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E00284-D225-794A-8F23-53DB77698A3A}"/>
              </a:ext>
            </a:extLst>
          </p:cNvPr>
          <p:cNvSpPr txBox="1"/>
          <p:nvPr/>
        </p:nvSpPr>
        <p:spPr>
          <a:xfrm>
            <a:off x="8963619" y="4787602"/>
            <a:ext cx="3228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Click here to create new project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860207-3E03-F649-A24B-1B581C0C39A3}"/>
              </a:ext>
            </a:extLst>
          </p:cNvPr>
          <p:cNvGrpSpPr/>
          <p:nvPr/>
        </p:nvGrpSpPr>
        <p:grpSpPr>
          <a:xfrm>
            <a:off x="8283898" y="4913172"/>
            <a:ext cx="657000" cy="210240"/>
            <a:chOff x="8283898" y="4913172"/>
            <a:chExt cx="65700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33F6055-ABE5-8945-BA3C-264300E11906}"/>
                    </a:ext>
                  </a:extLst>
                </p14:cNvPr>
                <p14:cNvContentPartPr/>
                <p14:nvPr/>
              </p14:nvContentPartPr>
              <p14:xfrm>
                <a:off x="8350138" y="4998852"/>
                <a:ext cx="590760" cy="16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33F6055-ABE5-8945-BA3C-264300E1190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41138" y="4990212"/>
                  <a:ext cx="608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6067087-7BAE-8B4F-BEE8-C4E0BD21BB0F}"/>
                    </a:ext>
                  </a:extLst>
                </p14:cNvPr>
                <p14:cNvContentPartPr/>
                <p14:nvPr/>
              </p14:nvContentPartPr>
              <p14:xfrm>
                <a:off x="8283898" y="4913172"/>
                <a:ext cx="140040" cy="21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6067087-7BAE-8B4F-BEE8-C4E0BD21BB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4898" y="4904532"/>
                  <a:ext cx="157680" cy="227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AE528FD-7B43-D840-9F1E-522E3DC63107}"/>
              </a:ext>
            </a:extLst>
          </p:cNvPr>
          <p:cNvSpPr txBox="1"/>
          <p:nvPr/>
        </p:nvSpPr>
        <p:spPr>
          <a:xfrm>
            <a:off x="2963917" y="3836471"/>
            <a:ext cx="2154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All projects created will be listed here. If none this area is empty.</a:t>
            </a:r>
          </a:p>
        </p:txBody>
      </p:sp>
    </p:spTree>
    <p:extLst>
      <p:ext uri="{BB962C8B-B14F-4D97-AF65-F5344CB8AC3E}">
        <p14:creationId xmlns:p14="http://schemas.microsoft.com/office/powerpoint/2010/main" val="59773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CC90F-8E6C-E44C-8A51-D47B2013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Creating Kotlin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CE60-E4C4-6A46-9BDB-9CEDB5BBD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/>
              <a:t>For practicing Kotlin programming we use Kotlin/JVM option</a:t>
            </a:r>
          </a:p>
          <a:p>
            <a:r>
              <a:rPr lang="en-US" sz="2000"/>
              <a:t>Give name of your project and follow onscreen instructions to create the project.</a:t>
            </a:r>
          </a:p>
          <a:p>
            <a:r>
              <a:rPr lang="en-US" sz="2000"/>
              <a:t>Similar to Java use </a:t>
            </a:r>
            <a:r>
              <a:rPr lang="en-US" sz="2000" b="1"/>
              <a:t>src</a:t>
            </a:r>
            <a:r>
              <a:rPr lang="en-US" sz="2000"/>
              <a:t> folder to store your source files.</a:t>
            </a:r>
          </a:p>
          <a:p>
            <a:r>
              <a:rPr lang="en-US" sz="2000"/>
              <a:t>Create a Kotlin file and store it under </a:t>
            </a:r>
            <a:r>
              <a:rPr lang="en-US" sz="2000" b="1"/>
              <a:t>src</a:t>
            </a:r>
            <a:r>
              <a:rPr lang="en-US" sz="2000"/>
              <a:t> folder</a:t>
            </a:r>
          </a:p>
          <a:p>
            <a:r>
              <a:rPr lang="en-US" sz="2000"/>
              <a:t>File extension is </a:t>
            </a:r>
            <a:r>
              <a:rPr lang="en-US" sz="2000" b="1"/>
              <a:t>.kt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72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9ED5A6-7A81-2D4C-AE61-B16791E1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Hello Kotlin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7E4E6-E537-A743-8153-64D2A2E4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Program entry point</a:t>
            </a:r>
          </a:p>
          <a:p>
            <a:r>
              <a:rPr lang="en-US" sz="2000" dirty="0"/>
              <a:t>fun is a keyword used to denote function</a:t>
            </a:r>
          </a:p>
          <a:p>
            <a:r>
              <a:rPr lang="en-US" sz="2000" b="1" dirty="0"/>
              <a:t>main</a:t>
            </a:r>
            <a:r>
              <a:rPr lang="en-US" sz="2000" dirty="0"/>
              <a:t> is name of function</a:t>
            </a:r>
          </a:p>
          <a:p>
            <a:endParaRPr lang="en-US" sz="2000" dirty="0"/>
          </a:p>
          <a:p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/>
              <a:t>Function accepts array of strings and name of array is </a:t>
            </a:r>
            <a:r>
              <a:rPr lang="en-US" sz="2000" b="1" dirty="0" err="1"/>
              <a:t>args</a:t>
            </a:r>
            <a:endParaRPr lang="en-US" sz="2000" b="1" dirty="0"/>
          </a:p>
          <a:p>
            <a:r>
              <a:rPr lang="en-US" sz="2000" b="1" i="1" dirty="0" err="1"/>
              <a:t>println</a:t>
            </a:r>
            <a:r>
              <a:rPr lang="en-US" sz="2000" b="1" dirty="0"/>
              <a:t> -&gt; </a:t>
            </a:r>
            <a:r>
              <a:rPr lang="en-US" sz="2000" dirty="0"/>
              <a:t>command to print new line</a:t>
            </a:r>
          </a:p>
          <a:p>
            <a:r>
              <a:rPr lang="en-US" sz="2000" dirty="0"/>
              <a:t>Semi-colons not required</a:t>
            </a:r>
          </a:p>
          <a:p>
            <a:pPr lvl="1"/>
            <a:r>
              <a:rPr lang="en-US" sz="1600" dirty="0"/>
              <a:t>Needed if you have multiple statements in same line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30C637-6228-8A4F-A04D-E7A081F92439}"/>
              </a:ext>
            </a:extLst>
          </p:cNvPr>
          <p:cNvSpPr/>
          <p:nvPr/>
        </p:nvSpPr>
        <p:spPr>
          <a:xfrm>
            <a:off x="4505335" y="3978293"/>
            <a:ext cx="34407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C7832"/>
                </a:solidFill>
                <a:effectLst/>
              </a:rPr>
              <a:t>fun </a:t>
            </a:r>
            <a:r>
              <a:rPr lang="en-US" dirty="0">
                <a:solidFill>
                  <a:srgbClr val="FFC66D"/>
                </a:solidFill>
                <a:effectLst/>
              </a:rPr>
              <a:t>main</a:t>
            </a:r>
            <a:r>
              <a:rPr lang="en-US" dirty="0"/>
              <a:t>(</a:t>
            </a:r>
            <a:r>
              <a:rPr lang="en-US" dirty="0" err="1"/>
              <a:t>args</a:t>
            </a:r>
            <a:r>
              <a:rPr lang="en-US" dirty="0"/>
              <a:t>: Array&lt;String&gt; ) {</a:t>
            </a:r>
            <a:br>
              <a:rPr lang="en-US" dirty="0"/>
            </a:br>
            <a:r>
              <a:rPr lang="en-US" dirty="0"/>
              <a:t>    </a:t>
            </a:r>
            <a:r>
              <a:rPr lang="en-US" i="1" dirty="0" err="1">
                <a:effectLst/>
              </a:rPr>
              <a:t>println</a:t>
            </a:r>
            <a:r>
              <a:rPr lang="en-US" dirty="0"/>
              <a:t>(</a:t>
            </a:r>
            <a:r>
              <a:rPr lang="en-US" dirty="0">
                <a:solidFill>
                  <a:srgbClr val="6A8759"/>
                </a:solidFill>
                <a:effectLst/>
              </a:rPr>
              <a:t>"Hello Kotlin"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BA8B7-1259-8448-B9FC-8E770137DB62}"/>
              </a:ext>
            </a:extLst>
          </p:cNvPr>
          <p:cNvSpPr txBox="1"/>
          <p:nvPr/>
        </p:nvSpPr>
        <p:spPr>
          <a:xfrm>
            <a:off x="6095848" y="3547760"/>
            <a:ext cx="3848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Parameters goes inside the parenthesis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808F12-8143-0046-8E64-CA0A5E8AEB72}"/>
              </a:ext>
            </a:extLst>
          </p:cNvPr>
          <p:cNvGrpSpPr/>
          <p:nvPr/>
        </p:nvGrpSpPr>
        <p:grpSpPr>
          <a:xfrm>
            <a:off x="5674534" y="3713750"/>
            <a:ext cx="551160" cy="388800"/>
            <a:chOff x="5674534" y="3713750"/>
            <a:chExt cx="55116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4CB5FA-E88F-D046-BF41-B7A0DCC8F106}"/>
                    </a:ext>
                  </a:extLst>
                </p14:cNvPr>
                <p14:cNvContentPartPr/>
                <p14:nvPr/>
              </p14:nvContentPartPr>
              <p14:xfrm>
                <a:off x="5718094" y="3713750"/>
                <a:ext cx="507600" cy="308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4CB5FA-E88F-D046-BF41-B7A0DCC8F1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09094" y="3704750"/>
                  <a:ext cx="5252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42CB7B-CFC2-464B-BE98-103779F29B19}"/>
                    </a:ext>
                  </a:extLst>
                </p14:cNvPr>
                <p14:cNvContentPartPr/>
                <p14:nvPr/>
              </p14:nvContentPartPr>
              <p14:xfrm>
                <a:off x="5674534" y="3989510"/>
                <a:ext cx="162360" cy="11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42CB7B-CFC2-464B-BE98-103779F29B1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65534" y="3980510"/>
                  <a:ext cx="180000" cy="130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2BF34D8-CABA-654D-A18A-4679B43F0EFB}"/>
              </a:ext>
            </a:extLst>
          </p:cNvPr>
          <p:cNvSpPr/>
          <p:nvPr/>
        </p:nvSpPr>
        <p:spPr>
          <a:xfrm>
            <a:off x="7505242" y="4119040"/>
            <a:ext cx="296563" cy="6671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779A8E-3A27-A74B-A64E-6518CB641E93}"/>
              </a:ext>
            </a:extLst>
          </p:cNvPr>
          <p:cNvSpPr txBox="1"/>
          <p:nvPr/>
        </p:nvSpPr>
        <p:spPr>
          <a:xfrm>
            <a:off x="7739449" y="4268706"/>
            <a:ext cx="361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body (</a:t>
            </a:r>
            <a:r>
              <a:rPr lang="en-US" i="1" dirty="0"/>
              <a:t>Your code goes here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263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DC85C-2BD0-0345-A194-8607EBFC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Running Kotlin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E5884-DA3F-EE41-9080-05FA61194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/>
              <a:t>Use Run command in Run menu</a:t>
            </a:r>
          </a:p>
          <a:p>
            <a:r>
              <a:rPr lang="en-US" sz="2000"/>
              <a:t>IDE compiles the code into JVM byte code</a:t>
            </a:r>
          </a:p>
          <a:p>
            <a:pPr lvl="1"/>
            <a:r>
              <a:rPr lang="en-US" sz="2000"/>
              <a:t>Creates class file </a:t>
            </a:r>
          </a:p>
          <a:p>
            <a:r>
              <a:rPr lang="en-US" sz="2000"/>
              <a:t>IDE starts the JVM and executes the .class file or files</a:t>
            </a:r>
          </a:p>
          <a:p>
            <a:r>
              <a:rPr lang="en-US" sz="2000" b="1"/>
              <a:t>REPL</a:t>
            </a:r>
            <a:r>
              <a:rPr lang="en-US" sz="2000"/>
              <a:t> stands for Read-Eval-Print Loop </a:t>
            </a:r>
          </a:p>
          <a:p>
            <a:pPr lvl="1"/>
            <a:r>
              <a:rPr lang="en-US" sz="2000"/>
              <a:t>It allows you to quickly run some code without main</a:t>
            </a:r>
          </a:p>
          <a:p>
            <a:pPr lvl="1"/>
            <a:r>
              <a:rPr lang="en-US" sz="2000"/>
              <a:t>Available under the Tools menu</a:t>
            </a:r>
          </a:p>
          <a:p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9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F1461-42C8-6148-B5ED-439782360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683A-3C57-C54D-AF92-8797DD90E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Keyword </a:t>
            </a:r>
            <a:r>
              <a:rPr lang="en-US" sz="2000" b="1" dirty="0"/>
              <a:t>var</a:t>
            </a:r>
            <a:r>
              <a:rPr lang="en-US" sz="2000" dirty="0"/>
              <a:t> or </a:t>
            </a:r>
            <a:r>
              <a:rPr lang="en-US" sz="2000" b="1" dirty="0" err="1"/>
              <a:t>val</a:t>
            </a:r>
            <a:r>
              <a:rPr lang="en-US" sz="2000" dirty="0"/>
              <a:t> is used to create variable (mutable and immutable)</a:t>
            </a:r>
          </a:p>
          <a:p>
            <a:r>
              <a:rPr lang="en-US" sz="2000" dirty="0"/>
              <a:t>In </a:t>
            </a:r>
            <a:r>
              <a:rPr lang="en-US" sz="2000" dirty="0" err="1"/>
              <a:t>kotlin</a:t>
            </a:r>
            <a:r>
              <a:rPr lang="en-US" sz="2000" dirty="0"/>
              <a:t> variable holds the reference to the object</a:t>
            </a:r>
          </a:p>
          <a:p>
            <a:r>
              <a:rPr lang="en-US" sz="2000" dirty="0"/>
              <a:t>Cannot be changed if variable is created using </a:t>
            </a:r>
            <a:r>
              <a:rPr lang="en-US" sz="2000" b="1" dirty="0" err="1"/>
              <a:t>val</a:t>
            </a:r>
            <a:endParaRPr lang="en-US" sz="2000" b="1" dirty="0"/>
          </a:p>
          <a:p>
            <a:r>
              <a:rPr lang="en-US" sz="2000" b="1" dirty="0"/>
              <a:t>Data types - objects</a:t>
            </a:r>
          </a:p>
          <a:p>
            <a:pPr lvl="1"/>
            <a:r>
              <a:rPr lang="en-US" sz="2000" b="1" dirty="0"/>
              <a:t>Byte, Int, Float, Double, Booleans, Characters and String</a:t>
            </a:r>
          </a:p>
          <a:p>
            <a:pPr lvl="1"/>
            <a:r>
              <a:rPr lang="en-US" sz="2000" b="1" dirty="0"/>
              <a:t>long value requires the suffix L and a float, the suffix F </a:t>
            </a:r>
          </a:p>
          <a:p>
            <a:r>
              <a:rPr lang="en-US" sz="2000" dirty="0"/>
              <a:t>If you don’t specify data type compiler decides the variable type</a:t>
            </a:r>
          </a:p>
          <a:p>
            <a:pPr lvl="1"/>
            <a:r>
              <a:rPr lang="en-US" sz="2000" dirty="0"/>
              <a:t>var x = 5 (Type inference)</a:t>
            </a:r>
          </a:p>
          <a:p>
            <a:pPr lvl="1"/>
            <a:r>
              <a:rPr lang="en-US" sz="2000" dirty="0"/>
              <a:t>var num : Int (Type annotation)</a:t>
            </a:r>
          </a:p>
          <a:p>
            <a:r>
              <a:rPr lang="en-US" sz="2000" dirty="0"/>
              <a:t>If wrong value is assigned to a variable code will not be compiled</a:t>
            </a:r>
          </a:p>
          <a:p>
            <a:r>
              <a:rPr lang="en-US" sz="2000" dirty="0"/>
              <a:t>Statically typed language</a:t>
            </a:r>
          </a:p>
          <a:p>
            <a:r>
              <a:rPr lang="en-US" sz="2000" dirty="0"/>
              <a:t>You cannot assign one type variable to other type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4050B-9533-1845-9731-F20835CD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715B2-BF32-2F44-94AA-3B0F79E0A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Data types are objects</a:t>
            </a:r>
          </a:p>
          <a:p>
            <a:r>
              <a:rPr lang="en-US" sz="2000" dirty="0"/>
              <a:t>Each of data types have special functionality</a:t>
            </a:r>
          </a:p>
          <a:p>
            <a:pPr lvl="1"/>
            <a:r>
              <a:rPr lang="en-US" sz="2000" dirty="0"/>
              <a:t>Accessed using dot operator</a:t>
            </a:r>
          </a:p>
          <a:p>
            <a:pPr marL="914400" lvl="2" indent="0">
              <a:buNone/>
            </a:pPr>
            <a:r>
              <a:rPr lang="en-US" sz="1600" i="1" dirty="0" err="1"/>
              <a:t>val</a:t>
            </a:r>
            <a:r>
              <a:rPr lang="en-US" sz="1600" i="1" dirty="0"/>
              <a:t> </a:t>
            </a:r>
            <a:r>
              <a:rPr lang="en-US" sz="1600" i="1" dirty="0" err="1"/>
              <a:t>myString</a:t>
            </a:r>
            <a:r>
              <a:rPr lang="en-US" sz="1600" i="1" dirty="0"/>
              <a:t> = "The quick brown fox"</a:t>
            </a:r>
          </a:p>
          <a:p>
            <a:pPr marL="914400" lvl="2" indent="0">
              <a:buNone/>
            </a:pPr>
            <a:r>
              <a:rPr lang="en-US" sz="1600" i="1" dirty="0" err="1"/>
              <a:t>val</a:t>
            </a:r>
            <a:r>
              <a:rPr lang="en-US" sz="1600" i="1" dirty="0"/>
              <a:t> uppercase = </a:t>
            </a:r>
            <a:r>
              <a:rPr lang="en-US" sz="1600" i="1" dirty="0" err="1"/>
              <a:t>myString.toUpperCase</a:t>
            </a:r>
            <a:r>
              <a:rPr lang="en-US" sz="1600" i="1" dirty="0"/>
              <a:t>()</a:t>
            </a:r>
            <a:endParaRPr lang="en-US" sz="2000" dirty="0"/>
          </a:p>
          <a:p>
            <a:r>
              <a:rPr lang="en-US" sz="2000" dirty="0"/>
              <a:t>To convert variable to other types use dot operator</a:t>
            </a:r>
          </a:p>
          <a:p>
            <a:r>
              <a:rPr lang="en-US" sz="2000" dirty="0"/>
              <a:t>var z : Long = </a:t>
            </a:r>
            <a:r>
              <a:rPr lang="en-US" sz="2000" dirty="0" err="1"/>
              <a:t>x.toLong</a:t>
            </a:r>
            <a:r>
              <a:rPr lang="en-US" sz="2000" dirty="0"/>
              <a:t>()</a:t>
            </a:r>
          </a:p>
          <a:p>
            <a:r>
              <a:rPr lang="en-US" sz="2000" dirty="0"/>
              <a:t>Make sure when you try to force conversion of variable to other type it fits</a:t>
            </a:r>
          </a:p>
          <a:p>
            <a:r>
              <a:rPr lang="en-US" sz="2000" dirty="0"/>
              <a:t>Values cannot be null</a:t>
            </a:r>
          </a:p>
          <a:p>
            <a:pPr lvl="1"/>
            <a:r>
              <a:rPr lang="en-US" sz="2000" dirty="0"/>
              <a:t>Val name: String</a:t>
            </a:r>
            <a:r>
              <a:rPr lang="en-US" sz="2000" b="1" dirty="0"/>
              <a:t>?</a:t>
            </a:r>
            <a:r>
              <a:rPr lang="en-US" sz="2000" dirty="0"/>
              <a:t> = null</a:t>
            </a:r>
          </a:p>
          <a:p>
            <a:r>
              <a:rPr lang="en-US" sz="2000" dirty="0"/>
              <a:t>Late Initialization </a:t>
            </a:r>
          </a:p>
          <a:p>
            <a:pPr marL="685800" lvl="2">
              <a:spcBef>
                <a:spcPts val="1000"/>
              </a:spcBef>
            </a:pPr>
            <a:r>
              <a:rPr lang="en-US" sz="1600" dirty="0"/>
              <a:t>non-null types need to be initialized when they are declared</a:t>
            </a:r>
          </a:p>
          <a:p>
            <a:pPr marL="685800" lvl="2">
              <a:spcBef>
                <a:spcPts val="1000"/>
              </a:spcBef>
            </a:pPr>
            <a:r>
              <a:rPr lang="en-US" sz="1600" dirty="0" err="1"/>
              <a:t>lateinit</a:t>
            </a:r>
            <a:r>
              <a:rPr lang="en-US" sz="1600" dirty="0"/>
              <a:t> modifier</a:t>
            </a:r>
          </a:p>
          <a:p>
            <a:pPr marL="914400" lvl="3" indent="0">
              <a:spcBef>
                <a:spcPts val="1000"/>
              </a:spcBef>
              <a:buNone/>
            </a:pPr>
            <a:r>
              <a:rPr lang="en-US" sz="1600" dirty="0" err="1"/>
              <a:t>lateinit</a:t>
            </a:r>
            <a:r>
              <a:rPr lang="en-US" sz="1600" dirty="0"/>
              <a:t> var </a:t>
            </a:r>
            <a:r>
              <a:rPr lang="en-US" sz="1600" dirty="0" err="1"/>
              <a:t>myName</a:t>
            </a:r>
            <a:r>
              <a:rPr lang="en-US" sz="1600" dirty="0"/>
              <a:t>: String</a:t>
            </a:r>
          </a:p>
          <a:p>
            <a:pPr marL="914400" lvl="3" indent="0">
              <a:spcBef>
                <a:spcPts val="1000"/>
              </a:spcBef>
              <a:buNone/>
            </a:pPr>
            <a:r>
              <a:rPr lang="en-US" sz="1600" dirty="0" err="1"/>
              <a:t>myName</a:t>
            </a:r>
            <a:r>
              <a:rPr lang="en-US" sz="1600" dirty="0"/>
              <a:t> = “Jane”</a:t>
            </a:r>
          </a:p>
          <a:p>
            <a:pPr marL="457200" lvl="1" indent="0">
              <a:buNone/>
            </a:pPr>
            <a:endParaRPr lang="en-US" i="1" dirty="0"/>
          </a:p>
          <a:p>
            <a:pPr lvl="1"/>
            <a:endParaRPr lang="en-US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6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 dirty="0"/>
              <a:t>Strings</a:t>
            </a:r>
          </a:p>
          <a:p>
            <a:pPr lvl="1"/>
            <a:r>
              <a:rPr lang="en-US" sz="2000" dirty="0" err="1"/>
              <a:t>val</a:t>
            </a:r>
            <a:r>
              <a:rPr lang="en-US" sz="2000" dirty="0"/>
              <a:t> name=“Jenny”</a:t>
            </a:r>
          </a:p>
          <a:p>
            <a:pPr lvl="1"/>
            <a:r>
              <a:rPr lang="en-US" sz="2000" dirty="0" err="1"/>
              <a:t>val</a:t>
            </a:r>
            <a:r>
              <a:rPr lang="en-US" sz="2000" dirty="0"/>
              <a:t> string = “my name is $(name)”</a:t>
            </a:r>
          </a:p>
          <a:p>
            <a:pPr lvl="1"/>
            <a:r>
              <a:rPr lang="en-US" sz="2000" dirty="0"/>
              <a:t>Use “”” to create a raw string</a:t>
            </a:r>
          </a:p>
          <a:p>
            <a:pPr lvl="2"/>
            <a:r>
              <a:rPr lang="en-US" dirty="0"/>
              <a:t>No escape characters needed</a:t>
            </a:r>
          </a:p>
          <a:p>
            <a:r>
              <a:rPr lang="en-US" sz="2000" dirty="0" err="1"/>
              <a:t>val</a:t>
            </a:r>
            <a:r>
              <a:rPr lang="en-US" sz="2000" dirty="0"/>
              <a:t> message = """You have 10 new messages,</a:t>
            </a:r>
          </a:p>
          <a:p>
            <a:pPr marL="0" indent="0">
              <a:buNone/>
            </a:pPr>
            <a:r>
              <a:rPr lang="en-US" sz="2000" dirty="0"/>
              <a:t>	5 old messages</a:t>
            </a:r>
          </a:p>
          <a:p>
            <a:pPr marL="0" indent="0">
              <a:buNone/>
            </a:pPr>
            <a:r>
              <a:rPr lang="en-US" sz="2000" dirty="0"/>
              <a:t>		and 6 spam messages.""".</a:t>
            </a:r>
            <a:r>
              <a:rPr lang="en-US" sz="2000" dirty="0" err="1"/>
              <a:t>trimMargin</a:t>
            </a:r>
            <a:r>
              <a:rPr lang="en-US" sz="2000" dirty="0"/>
              <a:t>()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toUpperCase</a:t>
            </a:r>
            <a:r>
              <a:rPr lang="en-US" sz="2000" dirty="0"/>
              <a:t>()</a:t>
            </a:r>
          </a:p>
          <a:p>
            <a:pPr>
              <a:lnSpc>
                <a:spcPct val="100000"/>
              </a:lnSpc>
            </a:pPr>
            <a:r>
              <a:rPr lang="en-US" sz="2000" dirty="0" err="1"/>
              <a:t>myString.length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 err="1"/>
              <a:t>myString.contains</a:t>
            </a:r>
            <a:r>
              <a:rPr lang="en-US" sz="2000" dirty="0"/>
              <a:t>(”test")</a:t>
            </a:r>
          </a:p>
          <a:p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814FA-7B59-764F-9BA2-C450BA02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A8964-D907-4544-ABE8-4DD81C940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Nullable type</a:t>
            </a:r>
          </a:p>
          <a:p>
            <a:pPr lvl="1"/>
            <a:r>
              <a:rPr lang="en-US" sz="1800" dirty="0"/>
              <a:t>provide a safe and consistent approach to handling situations where a variable may have a null value assigned to it.</a:t>
            </a:r>
          </a:p>
          <a:p>
            <a:pPr marL="685800" lvl="2">
              <a:spcBef>
                <a:spcPts val="1000"/>
              </a:spcBef>
            </a:pPr>
            <a:r>
              <a:rPr lang="en-US" sz="1800" dirty="0" err="1"/>
              <a:t>val</a:t>
            </a:r>
            <a:r>
              <a:rPr lang="en-US" sz="1800" dirty="0"/>
              <a:t> username: String? = null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if (username != null) {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 err="1"/>
              <a:t>val</a:t>
            </a:r>
            <a:r>
              <a:rPr lang="en-US" dirty="0"/>
              <a:t> uppercase = </a:t>
            </a:r>
            <a:r>
              <a:rPr lang="en-US" dirty="0" err="1"/>
              <a:t>username.toUpperCase</a:t>
            </a:r>
            <a:r>
              <a:rPr lang="en-US" dirty="0"/>
              <a:t>()</a:t>
            </a:r>
          </a:p>
          <a:p>
            <a:pPr marL="457200" lvl="1" indent="0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  <a:p>
            <a:r>
              <a:rPr lang="en-US" sz="2400" dirty="0"/>
              <a:t>safe call operator (represented by ?.):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val</a:t>
            </a:r>
            <a:r>
              <a:rPr lang="en-US" sz="2400" dirty="0"/>
              <a:t> uppercase = username?.</a:t>
            </a:r>
            <a:r>
              <a:rPr lang="en-US" sz="2400" dirty="0" err="1"/>
              <a:t>toUpperCase</a:t>
            </a:r>
            <a:r>
              <a:rPr lang="en-US" sz="2400" dirty="0"/>
              <a:t>()</a:t>
            </a:r>
          </a:p>
          <a:p>
            <a:r>
              <a:rPr lang="en-US" sz="2400" dirty="0"/>
              <a:t>Comments</a:t>
            </a:r>
          </a:p>
          <a:p>
            <a:pPr lvl="1"/>
            <a:r>
              <a:rPr lang="en-US" dirty="0"/>
              <a:t>Same as java -&gt; single line // and block /*  */</a:t>
            </a:r>
          </a:p>
          <a:p>
            <a:r>
              <a:rPr lang="en-US" sz="2400" dirty="0"/>
              <a:t>Packages and import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com.packt.myProject.main</a:t>
            </a:r>
            <a:endParaRPr lang="en-US" dirty="0"/>
          </a:p>
          <a:p>
            <a:r>
              <a:rPr lang="en-US" sz="2400" dirty="0"/>
              <a:t>Renaming import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com.packt.yourProject.main</a:t>
            </a:r>
            <a:r>
              <a:rPr lang="en-US" dirty="0"/>
              <a:t> as </a:t>
            </a:r>
            <a:r>
              <a:rPr lang="en-US" dirty="0" err="1"/>
              <a:t>yourMain</a:t>
            </a:r>
            <a:endParaRPr lang="en-US" dirty="0"/>
          </a:p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5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4EDB-1BBE-E94A-8C64-87FE7943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3589E-FEB9-8143-9F2F-C982BDC5A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  <a:p>
            <a:r>
              <a:rPr lang="en-US" dirty="0" err="1"/>
              <a:t>Arithmetics</a:t>
            </a:r>
            <a:r>
              <a:rPr lang="en-US" dirty="0"/>
              <a:t> operators</a:t>
            </a:r>
          </a:p>
          <a:p>
            <a:r>
              <a:rPr lang="en-US" dirty="0"/>
              <a:t>Augmented assignment operators	</a:t>
            </a:r>
          </a:p>
          <a:p>
            <a:pPr lvl="1"/>
            <a:r>
              <a:rPr lang="en-US" dirty="0"/>
              <a:t>X+=y, x*=y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Increment and decrement operators</a:t>
            </a:r>
          </a:p>
          <a:p>
            <a:r>
              <a:rPr lang="en-US" dirty="0"/>
              <a:t>Equality operators</a:t>
            </a:r>
          </a:p>
          <a:p>
            <a:r>
              <a:rPr lang="en-US" dirty="0"/>
              <a:t>Logical operators</a:t>
            </a:r>
          </a:p>
          <a:p>
            <a:r>
              <a:rPr lang="en-US" dirty="0"/>
              <a:t>Range operators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181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082F-8170-F84D-B7D0-76A3C913C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B4623-4E25-DD4D-A5E6-688B827E8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Bitwise operators</a:t>
            </a:r>
          </a:p>
          <a:p>
            <a:pPr marL="457200" lvl="1" indent="0">
              <a:buNone/>
            </a:pPr>
            <a:r>
              <a:rPr lang="en-US" sz="1600" dirty="0" err="1"/>
              <a:t>BitwiseAND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 err="1"/>
              <a:t>BitwiseOR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 err="1"/>
              <a:t>BitwiseXOR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 err="1"/>
              <a:t>BitwiseInversion</a:t>
            </a:r>
            <a:endParaRPr lang="en-US" sz="1600" dirty="0"/>
          </a:p>
          <a:p>
            <a:pPr marL="457200" lvl="1" indent="0">
              <a:buNone/>
            </a:pPr>
            <a:r>
              <a:rPr lang="en-US" sz="1600" dirty="0"/>
              <a:t>Bitwise </a:t>
            </a:r>
            <a:r>
              <a:rPr lang="en-US" sz="1600" dirty="0" err="1"/>
              <a:t>Leftshift</a:t>
            </a:r>
            <a:r>
              <a:rPr lang="en-US" sz="1600" dirty="0"/>
              <a:t> and Bitwise </a:t>
            </a:r>
            <a:r>
              <a:rPr lang="en-US" sz="1600" dirty="0" err="1"/>
              <a:t>Rightshift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Arrays:</a:t>
            </a:r>
          </a:p>
          <a:p>
            <a:r>
              <a:rPr lang="en-US" sz="2000" dirty="0"/>
              <a:t>To group multiple data of same type</a:t>
            </a:r>
          </a:p>
          <a:p>
            <a:pPr lvl="1"/>
            <a:r>
              <a:rPr lang="en-US" sz="2000" dirty="0"/>
              <a:t>var scores = </a:t>
            </a:r>
            <a:r>
              <a:rPr lang="en-US" sz="2000" dirty="0" err="1"/>
              <a:t>arrayof</a:t>
            </a:r>
            <a:r>
              <a:rPr lang="en-US" sz="2000" dirty="0"/>
              <a:t>(23,45,50)</a:t>
            </a:r>
          </a:p>
          <a:p>
            <a:pPr lvl="1"/>
            <a:r>
              <a:rPr lang="en-US" sz="2000" dirty="0"/>
              <a:t>(1..10).</a:t>
            </a:r>
            <a:r>
              <a:rPr lang="en-US" sz="2000" dirty="0" err="1"/>
              <a:t>toList</a:t>
            </a:r>
            <a:r>
              <a:rPr lang="en-US" sz="2000" dirty="0"/>
              <a:t>().</a:t>
            </a:r>
            <a:r>
              <a:rPr lang="en-US" sz="2000" dirty="0" err="1"/>
              <a:t>toTypedArray</a:t>
            </a:r>
            <a:r>
              <a:rPr lang="en-US" sz="2000" dirty="0"/>
              <a:t>()</a:t>
            </a:r>
          </a:p>
          <a:p>
            <a:pPr lvl="1"/>
            <a:r>
              <a:rPr lang="en-US" sz="2000" dirty="0" err="1"/>
              <a:t>IntArray</a:t>
            </a:r>
            <a:r>
              <a:rPr lang="en-US" sz="2000" dirty="0"/>
              <a:t>(5, { </a:t>
            </a:r>
            <a:r>
              <a:rPr lang="en-US" sz="2000" dirty="0" err="1"/>
              <a:t>i</a:t>
            </a:r>
            <a:r>
              <a:rPr lang="en-US" sz="2000" dirty="0"/>
              <a:t> -&gt; </a:t>
            </a:r>
            <a:r>
              <a:rPr lang="en-US" sz="2000" dirty="0" err="1"/>
              <a:t>i</a:t>
            </a:r>
            <a:r>
              <a:rPr lang="en-US" sz="2000"/>
              <a:t> * 2 + 3})</a:t>
            </a:r>
            <a:endParaRPr lang="en-US" sz="2000" dirty="0"/>
          </a:p>
          <a:p>
            <a:r>
              <a:rPr lang="en-US" sz="2000" dirty="0"/>
              <a:t>To create array you use </a:t>
            </a:r>
            <a:r>
              <a:rPr lang="en-US" sz="2000" b="1" dirty="0" err="1"/>
              <a:t>arrayof</a:t>
            </a:r>
            <a:r>
              <a:rPr lang="en-US" sz="2000" dirty="0"/>
              <a:t>() function</a:t>
            </a:r>
          </a:p>
          <a:p>
            <a:r>
              <a:rPr lang="en-US" sz="2000" dirty="0"/>
              <a:t>Index starts with 0</a:t>
            </a:r>
          </a:p>
          <a:p>
            <a:r>
              <a:rPr lang="en-US" sz="2000" dirty="0"/>
              <a:t>Use .size property to get size of an array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91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Basics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/>
              <a:t>Ranges</a:t>
            </a:r>
          </a:p>
          <a:p>
            <a:pPr lvl="1"/>
            <a:r>
              <a:rPr lang="en-US" sz="2000"/>
              <a:t>Use .. Operator</a:t>
            </a:r>
          </a:p>
          <a:p>
            <a:pPr lvl="1"/>
            <a:r>
              <a:rPr lang="en-US" sz="2000"/>
              <a:t>val alphabets = “a”..”z”</a:t>
            </a:r>
          </a:p>
          <a:p>
            <a:pPr lvl="1"/>
            <a:r>
              <a:rPr lang="en-US" sz="2000"/>
              <a:t>Use in operator to test if a value is in the range</a:t>
            </a:r>
          </a:p>
          <a:p>
            <a:pPr lvl="1"/>
            <a:r>
              <a:rPr lang="en-US" sz="2000"/>
              <a:t>val isC = “c” in alphabets</a:t>
            </a:r>
          </a:p>
          <a:p>
            <a:pPr lvl="1"/>
            <a:r>
              <a:rPr lang="en-US" sz="2000"/>
              <a:t>downTo() creates range counting down</a:t>
            </a:r>
          </a:p>
          <a:p>
            <a:pPr lvl="1"/>
            <a:r>
              <a:rPr lang="en-US" sz="2000"/>
              <a:t>rangeTo() will create a range up to a value</a:t>
            </a:r>
          </a:p>
          <a:p>
            <a:pPr lvl="1"/>
            <a:r>
              <a:rPr lang="en-US" sz="2000"/>
              <a:t>To modify delta between successive terms in range we can use step()</a:t>
            </a:r>
          </a:p>
          <a:p>
            <a:pPr lvl="1"/>
            <a:r>
              <a:rPr lang="en-US" sz="2000"/>
              <a:t>val tenToOne = 10.downTo(1)</a:t>
            </a:r>
          </a:p>
          <a:p>
            <a:pPr lvl="1"/>
            <a:r>
              <a:rPr lang="en-US" sz="2000"/>
              <a:t>val oneToTen = 1.rangeTo(10)</a:t>
            </a:r>
          </a:p>
          <a:p>
            <a:pPr lvl="1"/>
            <a:r>
              <a:rPr lang="en-US" sz="2000"/>
              <a:t>val odd = oneToTen .step(2)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93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3FDDB-9D5E-8E4B-B30D-4B203DD5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D0A23-4827-0146-8704-6BE9AE0CF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1700" dirty="0"/>
              <a:t>Control flow</a:t>
            </a:r>
          </a:p>
          <a:p>
            <a:pPr lvl="1"/>
            <a:r>
              <a:rPr lang="en-US" sz="1700" dirty="0"/>
              <a:t>If .. else</a:t>
            </a:r>
          </a:p>
          <a:p>
            <a:pPr lvl="1"/>
            <a:r>
              <a:rPr lang="en-US" sz="1700" dirty="0"/>
              <a:t>In Kotlin if else can be used as part of expression</a:t>
            </a:r>
          </a:p>
          <a:p>
            <a:pPr marL="914400" lvl="2" indent="0">
              <a:buNone/>
            </a:pPr>
            <a:r>
              <a:rPr lang="en-US" sz="1700" dirty="0" err="1"/>
              <a:t>val</a:t>
            </a:r>
            <a:r>
              <a:rPr lang="en-US" sz="1700" dirty="0"/>
              <a:t> date = Date()</a:t>
            </a:r>
          </a:p>
          <a:p>
            <a:pPr marL="914400" lvl="2" indent="0">
              <a:buNone/>
            </a:pPr>
            <a:r>
              <a:rPr lang="en-US" dirty="0">
                <a:highlight>
                  <a:srgbClr val="FFFF00"/>
                </a:highlight>
              </a:rPr>
              <a:t>variable = if (condition) return_val_1 else return_val_2</a:t>
            </a:r>
            <a:br>
              <a:rPr lang="en-US" sz="1700" dirty="0"/>
            </a:br>
            <a:r>
              <a:rPr lang="en-US" sz="1700" dirty="0" err="1"/>
              <a:t>val</a:t>
            </a:r>
            <a:r>
              <a:rPr lang="en-US" sz="1700" dirty="0"/>
              <a:t> today = if (</a:t>
            </a:r>
            <a:r>
              <a:rPr lang="en-US" sz="1700" dirty="0" err="1"/>
              <a:t>date.year</a:t>
            </a:r>
            <a:r>
              <a:rPr lang="en-US" sz="1700" dirty="0"/>
              <a:t> == 2016) true else false </a:t>
            </a:r>
          </a:p>
          <a:p>
            <a:pPr marL="914400" lvl="2" indent="0">
              <a:buNone/>
            </a:pPr>
            <a:r>
              <a:rPr lang="en-US" dirty="0"/>
              <a:t>if (x == 10) </a:t>
            </a:r>
            <a:r>
              <a:rPr lang="en-US" dirty="0" err="1"/>
              <a:t>println</a:t>
            </a:r>
            <a:r>
              <a:rPr lang="en-US" dirty="0"/>
              <a:t>("x is 10")</a:t>
            </a:r>
          </a:p>
          <a:p>
            <a:pPr marL="914400" lvl="2" indent="0">
              <a:buNone/>
            </a:pPr>
            <a:r>
              <a:rPr lang="en-US" dirty="0"/>
              <a:t>	else if (x == 9) </a:t>
            </a:r>
            <a:r>
              <a:rPr lang="en-US" dirty="0" err="1"/>
              <a:t>println</a:t>
            </a:r>
            <a:r>
              <a:rPr lang="en-US" dirty="0"/>
              <a:t>("x is 9")</a:t>
            </a:r>
          </a:p>
          <a:p>
            <a:pPr marL="914400" lvl="2" indent="0">
              <a:buNone/>
            </a:pPr>
            <a:r>
              <a:rPr lang="en-US" dirty="0"/>
              <a:t>		else if (x == 8) </a:t>
            </a:r>
            <a:r>
              <a:rPr lang="en-US" dirty="0" err="1"/>
              <a:t>println</a:t>
            </a:r>
            <a:r>
              <a:rPr lang="en-US" dirty="0"/>
              <a:t>("x is 8")</a:t>
            </a:r>
          </a:p>
          <a:p>
            <a:pPr marL="914400" lvl="2" indent="0">
              <a:buNone/>
            </a:pPr>
            <a:r>
              <a:rPr lang="en-US" dirty="0"/>
              <a:t>			else </a:t>
            </a:r>
            <a:r>
              <a:rPr lang="en-US" dirty="0" err="1"/>
              <a:t>println</a:t>
            </a:r>
            <a:r>
              <a:rPr lang="en-US" dirty="0"/>
              <a:t>("x is less than 8")</a:t>
            </a:r>
          </a:p>
          <a:p>
            <a:pPr marL="1828800" lvl="4" indent="0">
              <a:buNone/>
            </a:pPr>
            <a:endParaRPr lang="en-US" sz="1500" dirty="0"/>
          </a:p>
          <a:p>
            <a:pPr marL="914400" lvl="2" indent="0">
              <a:buNone/>
            </a:pPr>
            <a:endParaRPr lang="en-US" sz="1700" dirty="0"/>
          </a:p>
          <a:p>
            <a:pPr lvl="2"/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43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B52C2-6FEF-C548-AB5F-CCFD98C6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B62A9-B99A-4C46-A5F6-28F9F538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100" dirty="0"/>
              <a:t>When can also be used as expression similar to if else above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when (value) {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match1 -&gt; // code to be executed on match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match2 -&gt; // code to be executed on match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else -&gt; // default code to executed if no match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</a:t>
            </a:r>
            <a:endParaRPr lang="en-US" sz="2100" dirty="0"/>
          </a:p>
          <a:p>
            <a:pPr marL="457200" lvl="1" indent="0">
              <a:buNone/>
            </a:pPr>
            <a:r>
              <a:rPr lang="en-US" sz="2100" dirty="0"/>
              <a:t>fun </a:t>
            </a:r>
            <a:r>
              <a:rPr lang="en-US" sz="2100" dirty="0" err="1"/>
              <a:t>whatNumber</a:t>
            </a:r>
            <a:r>
              <a:rPr lang="en-US" sz="2100" dirty="0"/>
              <a:t>(x: Int) { </a:t>
            </a:r>
          </a:p>
          <a:p>
            <a:pPr marL="457200" lvl="1" indent="0">
              <a:buNone/>
            </a:pPr>
            <a:r>
              <a:rPr lang="en-US" sz="2100" dirty="0"/>
              <a:t>when (x) { </a:t>
            </a:r>
          </a:p>
          <a:p>
            <a:pPr marL="457200" lvl="1" indent="0">
              <a:buNone/>
            </a:pPr>
            <a:r>
              <a:rPr lang="en-US" sz="2100" dirty="0"/>
              <a:t>  0 -&gt; </a:t>
            </a:r>
            <a:r>
              <a:rPr lang="en-US" sz="2100" dirty="0" err="1"/>
              <a:t>println</a:t>
            </a:r>
            <a:r>
              <a:rPr lang="en-US" sz="2100" dirty="0"/>
              <a:t>("x is zero")</a:t>
            </a:r>
            <a:br>
              <a:rPr lang="en-US" sz="2100" dirty="0"/>
            </a:br>
            <a:r>
              <a:rPr lang="en-US" sz="2100" dirty="0"/>
              <a:t>  1 -&gt; </a:t>
            </a:r>
            <a:r>
              <a:rPr lang="en-US" sz="2100" dirty="0" err="1"/>
              <a:t>println</a:t>
            </a:r>
            <a:r>
              <a:rPr lang="en-US" sz="2100" dirty="0"/>
              <a:t>("x is 1")</a:t>
            </a:r>
          </a:p>
          <a:p>
            <a:pPr marL="457200" lvl="1" indent="0">
              <a:buNone/>
            </a:pPr>
            <a:r>
              <a:rPr lang="en-US" sz="2100" dirty="0"/>
              <a:t>  2,3,4,5,6,7,8,9 -&gt;(”x is digit”)</a:t>
            </a:r>
            <a:br>
              <a:rPr lang="en-US" sz="2100" dirty="0"/>
            </a:br>
            <a:r>
              <a:rPr lang="en-US" sz="2100" dirty="0"/>
              <a:t>  else -&gt; </a:t>
            </a:r>
            <a:r>
              <a:rPr lang="en-US" sz="2100" dirty="0" err="1"/>
              <a:t>println</a:t>
            </a:r>
            <a:r>
              <a:rPr lang="en-US" sz="2100" dirty="0"/>
              <a:t>("X is neither 0 or 1 or digit") </a:t>
            </a:r>
          </a:p>
          <a:p>
            <a:pPr marL="457200" lvl="1" indent="0">
              <a:buNone/>
            </a:pPr>
            <a:r>
              <a:rPr lang="en-US" sz="2100" dirty="0"/>
              <a:t> } </a:t>
            </a:r>
          </a:p>
          <a:p>
            <a:pPr marL="457200" lvl="1" indent="0">
              <a:buNone/>
            </a:pPr>
            <a:r>
              <a:rPr lang="en-US" sz="2100" dirty="0"/>
              <a:t>} </a:t>
            </a:r>
          </a:p>
          <a:p>
            <a:r>
              <a:rPr lang="en-US" sz="2100" dirty="0"/>
              <a:t>Constants  can be combined if the branch code is the same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693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C647-0E82-2246-AC25-6059D33C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1E9D5-DA10-0545-86AF-C66D51607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For..in</a:t>
            </a:r>
            <a:r>
              <a:rPr lang="en-US" dirty="0"/>
              <a:t> statement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for variable name in collection or range {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// code to be executed</a:t>
            </a:r>
          </a:p>
          <a:p>
            <a:pPr marL="457200" lvl="1" indent="0">
              <a:buNone/>
            </a:pPr>
            <a:r>
              <a:rPr lang="en-US" dirty="0">
                <a:highlight>
                  <a:srgbClr val="FFFF00"/>
                </a:highlight>
              </a:rPr>
              <a:t>}</a:t>
            </a:r>
          </a:p>
          <a:p>
            <a:pPr marL="457200" lvl="1" indent="0">
              <a:buNone/>
            </a:pPr>
            <a:r>
              <a:rPr lang="en-US" dirty="0"/>
              <a:t>for (index in 1..5)</a:t>
            </a:r>
          </a:p>
          <a:p>
            <a:pPr marL="457200" lvl="1" indent="0">
              <a:buNone/>
            </a:pPr>
            <a:r>
              <a:rPr lang="en-US" dirty="0"/>
              <a:t>for (index in "Hello") </a:t>
            </a:r>
          </a:p>
          <a:p>
            <a:pPr marL="457200" lvl="1" indent="0">
              <a:buNone/>
            </a:pPr>
            <a:r>
              <a:rPr lang="en-US" dirty="0"/>
              <a:t>for (index in 100 </a:t>
            </a:r>
            <a:r>
              <a:rPr lang="en-US" dirty="0" err="1"/>
              <a:t>downTo</a:t>
            </a:r>
            <a:r>
              <a:rPr lang="en-US" dirty="0"/>
              <a:t> 90)</a:t>
            </a:r>
          </a:p>
          <a:p>
            <a:pPr marL="457200" lvl="1" indent="0">
              <a:buNone/>
            </a:pPr>
            <a:r>
              <a:rPr lang="en-US" dirty="0"/>
              <a:t>for (index in 1 until 10)</a:t>
            </a:r>
          </a:p>
          <a:p>
            <a:pPr marL="457200" lvl="1" indent="0">
              <a:buNone/>
            </a:pPr>
            <a:r>
              <a:rPr lang="en-US" dirty="0"/>
              <a:t>for (index in 0 until 100 step 10)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//Do something with $index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710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Basics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226" y="3092970"/>
            <a:ext cx="4916774" cy="2693976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Loops</a:t>
            </a:r>
          </a:p>
          <a:p>
            <a:pPr marL="457200" lvl="1" indent="0">
              <a:buNone/>
            </a:pPr>
            <a:r>
              <a:rPr lang="en-US" sz="1700" dirty="0"/>
              <a:t>while (true) { </a:t>
            </a:r>
          </a:p>
          <a:p>
            <a:pPr marL="457200" lvl="1" indent="0">
              <a:buNone/>
            </a:pPr>
            <a:r>
              <a:rPr lang="en-US" sz="1700" dirty="0" err="1"/>
              <a:t>println</a:t>
            </a:r>
            <a:r>
              <a:rPr lang="en-US" sz="1700" dirty="0"/>
              <a:t>("This will print out for a long time!") </a:t>
            </a:r>
          </a:p>
          <a:p>
            <a:pPr marL="457200" lvl="1" indent="0">
              <a:buNone/>
            </a:pPr>
            <a:r>
              <a:rPr lang="en-US" sz="1700" dirty="0"/>
              <a:t>}</a:t>
            </a:r>
            <a:br>
              <a:rPr lang="en-US" sz="1700" dirty="0"/>
            </a:br>
            <a:endParaRPr lang="en-US" sz="1700" dirty="0"/>
          </a:p>
          <a:p>
            <a:pPr marL="457200" lvl="1" indent="0">
              <a:buNone/>
            </a:pPr>
            <a:r>
              <a:rPr lang="en-US" sz="1700" dirty="0" err="1"/>
              <a:t>val</a:t>
            </a:r>
            <a:r>
              <a:rPr lang="en-US" sz="1700" dirty="0"/>
              <a:t> list = </a:t>
            </a:r>
            <a:r>
              <a:rPr lang="en-US" sz="1700" dirty="0" err="1"/>
              <a:t>listOf</a:t>
            </a:r>
            <a:r>
              <a:rPr lang="en-US" sz="1700" dirty="0"/>
              <a:t>(1, 2, 3, 4) </a:t>
            </a:r>
          </a:p>
          <a:p>
            <a:pPr marL="457200" lvl="1" indent="0">
              <a:buNone/>
            </a:pPr>
            <a:r>
              <a:rPr lang="en-US" sz="1700" dirty="0"/>
              <a:t>for (k in list) { </a:t>
            </a:r>
          </a:p>
          <a:p>
            <a:pPr marL="457200" lvl="1" indent="0">
              <a:buNone/>
            </a:pPr>
            <a:r>
              <a:rPr lang="en-US" sz="1700" dirty="0" err="1"/>
              <a:t>println</a:t>
            </a:r>
            <a:r>
              <a:rPr lang="en-US" sz="1700" dirty="0"/>
              <a:t>(k) </a:t>
            </a:r>
          </a:p>
          <a:p>
            <a:pPr marL="457200" lvl="1" indent="0">
              <a:buNone/>
            </a:pPr>
            <a:r>
              <a:rPr lang="en-US" sz="1700" dirty="0"/>
              <a:t>} </a:t>
            </a:r>
          </a:p>
          <a:p>
            <a:pPr marL="457200" lvl="1" indent="0">
              <a:buNone/>
            </a:pPr>
            <a:r>
              <a:rPr lang="en-US" sz="1700" dirty="0" err="1"/>
              <a:t>val</a:t>
            </a:r>
            <a:r>
              <a:rPr lang="en-US" sz="1700" dirty="0"/>
              <a:t> set = </a:t>
            </a:r>
            <a:r>
              <a:rPr lang="en-US" sz="1700" dirty="0" err="1"/>
              <a:t>setOf</a:t>
            </a:r>
            <a:r>
              <a:rPr lang="en-US" sz="1700" dirty="0"/>
              <a:t>(1, 2, 3, 4) </a:t>
            </a:r>
          </a:p>
          <a:p>
            <a:pPr marL="457200" lvl="1" indent="0">
              <a:buNone/>
            </a:pPr>
            <a:r>
              <a:rPr lang="en-US" sz="1700" dirty="0"/>
              <a:t>for (k in set) { </a:t>
            </a:r>
          </a:p>
          <a:p>
            <a:pPr marL="457200" lvl="1" indent="0">
              <a:buNone/>
            </a:pPr>
            <a:r>
              <a:rPr lang="en-US" sz="1700" dirty="0" err="1"/>
              <a:t>println</a:t>
            </a:r>
            <a:r>
              <a:rPr lang="en-US" sz="1700" dirty="0"/>
              <a:t>(k) </a:t>
            </a:r>
          </a:p>
          <a:p>
            <a:pPr marL="457200" lvl="1" indent="0">
              <a:buNone/>
            </a:pPr>
            <a:r>
              <a:rPr lang="en-US" sz="1700" dirty="0"/>
              <a:t>} 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C41C158-1210-DA4B-9F61-61113C1447D7}"/>
              </a:ext>
            </a:extLst>
          </p:cNvPr>
          <p:cNvSpPr txBox="1">
            <a:spLocks/>
          </p:cNvSpPr>
          <p:nvPr/>
        </p:nvSpPr>
        <p:spPr>
          <a:xfrm>
            <a:off x="6096000" y="3094536"/>
            <a:ext cx="4916774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</a:rPr>
              <a:t>Loops</a:t>
            </a:r>
          </a:p>
          <a:p>
            <a:pPr marL="457200" lvl="1" indent="0">
              <a:buNone/>
            </a:pPr>
            <a:r>
              <a:rPr lang="en-US" sz="1300" dirty="0" err="1"/>
              <a:t>val</a:t>
            </a:r>
            <a:r>
              <a:rPr lang="en-US" sz="1300" dirty="0"/>
              <a:t> </a:t>
            </a:r>
            <a:r>
              <a:rPr lang="en-US" sz="1300" dirty="0" err="1"/>
              <a:t>oneToTen</a:t>
            </a:r>
            <a:r>
              <a:rPr lang="en-US" sz="1300" dirty="0"/>
              <a:t> = 1..10 </a:t>
            </a:r>
          </a:p>
          <a:p>
            <a:pPr marL="457200" lvl="1" indent="0">
              <a:buNone/>
            </a:pPr>
            <a:r>
              <a:rPr lang="en-US" sz="1300" dirty="0"/>
              <a:t>for (k in </a:t>
            </a:r>
            <a:r>
              <a:rPr lang="en-US" sz="1300" dirty="0" err="1"/>
              <a:t>oneToTen</a:t>
            </a:r>
            <a:r>
              <a:rPr lang="en-US" sz="1300" dirty="0"/>
              <a:t>) { </a:t>
            </a:r>
          </a:p>
          <a:p>
            <a:pPr marL="457200" lvl="1" indent="0">
              <a:buNone/>
            </a:pPr>
            <a:r>
              <a:rPr lang="en-US" sz="1300" dirty="0"/>
              <a:t>  for (j in 1..5) { </a:t>
            </a:r>
          </a:p>
          <a:p>
            <a:pPr marL="457200" lvl="1" indent="0">
              <a:buNone/>
            </a:pPr>
            <a:r>
              <a:rPr lang="en-US" sz="1300" dirty="0"/>
              <a:t>      </a:t>
            </a:r>
            <a:r>
              <a:rPr lang="en-US" sz="1300" dirty="0" err="1"/>
              <a:t>println</a:t>
            </a:r>
            <a:r>
              <a:rPr lang="en-US" sz="1300" dirty="0"/>
              <a:t>(k * j) </a:t>
            </a:r>
          </a:p>
          <a:p>
            <a:pPr marL="457200" lvl="1" indent="0">
              <a:buNone/>
            </a:pPr>
            <a:r>
              <a:rPr lang="en-US" sz="1300" dirty="0"/>
              <a:t>      } </a:t>
            </a:r>
          </a:p>
          <a:p>
            <a:pPr marL="457200" lvl="1" indent="0">
              <a:buNone/>
            </a:pPr>
            <a:r>
              <a:rPr lang="en-US" sz="1300" dirty="0"/>
              <a:t>} </a:t>
            </a:r>
          </a:p>
          <a:p>
            <a:pPr marL="457200" lvl="1" indent="0">
              <a:buNone/>
            </a:pPr>
            <a:r>
              <a:rPr lang="en-US" sz="1300" dirty="0"/>
              <a:t>for (index in </a:t>
            </a:r>
            <a:r>
              <a:rPr lang="en-US" sz="1300" dirty="0" err="1"/>
              <a:t>array.indices</a:t>
            </a:r>
            <a:r>
              <a:rPr lang="en-US" sz="1300" dirty="0"/>
              <a:t>) { </a:t>
            </a:r>
          </a:p>
          <a:p>
            <a:pPr marL="457200" lvl="1" indent="0">
              <a:buNone/>
            </a:pPr>
            <a:r>
              <a:rPr lang="en-US" sz="1300" dirty="0"/>
              <a:t>   </a:t>
            </a:r>
            <a:r>
              <a:rPr lang="en-US" sz="1300" dirty="0" err="1"/>
              <a:t>println</a:t>
            </a:r>
            <a:r>
              <a:rPr lang="en-US" sz="1300" dirty="0"/>
              <a:t>("Element $index is ${array[index]}") </a:t>
            </a:r>
          </a:p>
          <a:p>
            <a:pPr marL="457200" lvl="1" indent="0">
              <a:buNone/>
            </a:pPr>
            <a:r>
              <a:rPr lang="en-US" sz="1300" dirty="0"/>
              <a:t>} 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207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6D38-F300-D24F-8516-A6F180ED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5706-52A6-034D-A0D9-08FA3144C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Break</a:t>
            </a:r>
          </a:p>
          <a:p>
            <a:r>
              <a:rPr lang="en-US" dirty="0"/>
              <a:t>Continue</a:t>
            </a:r>
          </a:p>
          <a:p>
            <a:r>
              <a:rPr lang="en-US" dirty="0"/>
              <a:t>Break and Continue Labels</a:t>
            </a:r>
          </a:p>
          <a:p>
            <a:pPr marL="457200" lvl="1" indent="0">
              <a:buNone/>
            </a:pPr>
            <a:r>
              <a:rPr lang="en-US" dirty="0" err="1"/>
              <a:t>outerloop</a:t>
            </a:r>
            <a:r>
              <a:rPr lang="en-US" dirty="0"/>
              <a:t>@ for (</a:t>
            </a:r>
            <a:r>
              <a:rPr lang="en-US" dirty="0" err="1"/>
              <a:t>i</a:t>
            </a:r>
            <a:r>
              <a:rPr lang="en-US" dirty="0"/>
              <a:t> in 1..100) 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println</a:t>
            </a:r>
            <a:r>
              <a:rPr lang="en-US" dirty="0"/>
              <a:t>("Outer loop </a:t>
            </a:r>
            <a:r>
              <a:rPr lang="en-US" dirty="0" err="1"/>
              <a:t>i</a:t>
            </a:r>
            <a:r>
              <a:rPr lang="en-US" dirty="0"/>
              <a:t> = $</a:t>
            </a:r>
            <a:r>
              <a:rPr lang="en-US" dirty="0" err="1"/>
              <a:t>i</a:t>
            </a:r>
            <a:r>
              <a:rPr lang="en-US" dirty="0"/>
              <a:t>")</a:t>
            </a:r>
          </a:p>
          <a:p>
            <a:pPr marL="457200" lvl="1" indent="0">
              <a:buNone/>
            </a:pPr>
            <a:r>
              <a:rPr lang="en-US" dirty="0"/>
              <a:t>	for (j in 1..100) {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dirty="0" err="1"/>
              <a:t>println</a:t>
            </a:r>
            <a:r>
              <a:rPr lang="en-US" dirty="0"/>
              <a:t>("Inner loop j = $j")</a:t>
            </a:r>
          </a:p>
          <a:p>
            <a:pPr marL="457200" lvl="1" indent="0">
              <a:buNone/>
            </a:pPr>
            <a:r>
              <a:rPr lang="en-US" dirty="0"/>
              <a:t>		if (j == 10) </a:t>
            </a:r>
            <a:r>
              <a:rPr lang="en-US" dirty="0" err="1"/>
              <a:t>break@outerloop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}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77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B26245-05B1-7341-9B85-E286347FD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5D5A6-2410-294B-8A6A-09FFBEAD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236" y="2753936"/>
            <a:ext cx="9833548" cy="349248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400" dirty="0">
                <a:highlight>
                  <a:srgbClr val="FFFF00"/>
                </a:highlight>
              </a:rPr>
              <a:t>fun &lt;function name&gt; (&lt;para name&gt;: &lt;para type&gt;, &lt;para name&gt;: &lt;para type&gt;, ... ):</a:t>
            </a:r>
          </a:p>
          <a:p>
            <a:pPr marL="0" indent="0">
              <a:buNone/>
            </a:pPr>
            <a:r>
              <a:rPr lang="en-US" sz="3400" dirty="0">
                <a:highlight>
                  <a:srgbClr val="FFFF00"/>
                </a:highlight>
              </a:rPr>
              <a:t>&lt;return type&gt; {</a:t>
            </a:r>
          </a:p>
          <a:p>
            <a:pPr marL="0" indent="0">
              <a:buNone/>
            </a:pPr>
            <a:r>
              <a:rPr lang="en-US" sz="3400" dirty="0">
                <a:highlight>
                  <a:srgbClr val="FFFF00"/>
                </a:highlight>
              </a:rPr>
              <a:t>// Function code</a:t>
            </a:r>
          </a:p>
          <a:p>
            <a:pPr marL="0" indent="0">
              <a:buNone/>
            </a:pPr>
            <a:r>
              <a:rPr lang="en-US" sz="3400" dirty="0">
                <a:highlight>
                  <a:srgbClr val="FFFF00"/>
                </a:highlight>
              </a:rPr>
              <a:t>}</a:t>
            </a:r>
            <a:endParaRPr lang="en-US" sz="23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r>
              <a:rPr lang="en-US" sz="2900" b="1" dirty="0">
                <a:solidFill>
                  <a:srgbClr val="000000"/>
                </a:solidFill>
              </a:rPr>
              <a:t>Keyword fun</a:t>
            </a:r>
          </a:p>
          <a:p>
            <a:pPr marL="1828800" lvl="4" indent="0">
              <a:buNone/>
            </a:pPr>
            <a:r>
              <a:rPr lang="en-US" sz="3400" dirty="0">
                <a:solidFill>
                  <a:srgbClr val="FF0000"/>
                </a:solidFill>
              </a:rPr>
              <a:t>fun</a:t>
            </a:r>
            <a:r>
              <a:rPr lang="en-US" sz="3400" dirty="0">
                <a:solidFill>
                  <a:srgbClr val="000000"/>
                </a:solidFill>
              </a:rPr>
              <a:t> </a:t>
            </a:r>
            <a:r>
              <a:rPr lang="en-US" sz="3400" dirty="0" err="1">
                <a:solidFill>
                  <a:srgbClr val="000000"/>
                </a:solidFill>
              </a:rPr>
              <a:t>sayHello</a:t>
            </a:r>
            <a:r>
              <a:rPr lang="en-US" sz="3400" dirty="0">
                <a:solidFill>
                  <a:srgbClr val="000000"/>
                </a:solidFill>
              </a:rPr>
              <a:t>() : String{</a:t>
            </a:r>
          </a:p>
          <a:p>
            <a:pPr marL="1828800" lvl="4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    </a:t>
            </a:r>
            <a:r>
              <a:rPr lang="en-US" sz="3400" dirty="0">
                <a:solidFill>
                  <a:srgbClr val="FF0000"/>
                </a:solidFill>
              </a:rPr>
              <a:t>return</a:t>
            </a:r>
            <a:r>
              <a:rPr lang="en-US" sz="3400" dirty="0">
                <a:solidFill>
                  <a:srgbClr val="000000"/>
                </a:solidFill>
              </a:rPr>
              <a:t> “Hello”</a:t>
            </a:r>
          </a:p>
          <a:p>
            <a:pPr marL="1828800" lvl="4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}</a:t>
            </a:r>
          </a:p>
          <a:p>
            <a:pPr marL="457200" lvl="1" indent="0">
              <a:buNone/>
            </a:pPr>
            <a:r>
              <a:rPr lang="en-US" sz="2900" dirty="0"/>
              <a:t>fun </a:t>
            </a:r>
            <a:r>
              <a:rPr lang="en-US" sz="2900" dirty="0" err="1"/>
              <a:t>buildMessageFor</a:t>
            </a:r>
            <a:r>
              <a:rPr lang="en-US" sz="2900" dirty="0"/>
              <a:t>(name: String, count: Int): String {</a:t>
            </a:r>
          </a:p>
          <a:p>
            <a:pPr marL="457200" lvl="1" indent="0">
              <a:buNone/>
            </a:pPr>
            <a:r>
              <a:rPr lang="en-US" sz="2900" dirty="0"/>
              <a:t>return("$name, you are customer number $count")</a:t>
            </a:r>
          </a:p>
          <a:p>
            <a:pPr marL="457200" lvl="1" indent="0">
              <a:buNone/>
            </a:pPr>
            <a:r>
              <a:rPr lang="en-US" sz="2900" dirty="0"/>
              <a:t>}</a:t>
            </a:r>
          </a:p>
          <a:p>
            <a:pPr marL="3200400" lvl="7" indent="0">
              <a:buNone/>
            </a:pPr>
            <a:endParaRPr lang="en-US" sz="1900" dirty="0">
              <a:solidFill>
                <a:srgbClr val="000000"/>
              </a:solidFill>
            </a:endParaRPr>
          </a:p>
          <a:p>
            <a:r>
              <a:rPr lang="en-US" sz="4000" dirty="0">
                <a:solidFill>
                  <a:srgbClr val="000000"/>
                </a:solidFill>
              </a:rPr>
              <a:t>Function that does not return anything useful </a:t>
            </a:r>
            <a:r>
              <a:rPr lang="en-US" sz="4000" dirty="0">
                <a:solidFill>
                  <a:srgbClr val="FF0000"/>
                </a:solidFill>
              </a:rPr>
              <a:t>Unit</a:t>
            </a:r>
          </a:p>
          <a:p>
            <a:r>
              <a:rPr lang="en-US" sz="4000" dirty="0"/>
              <a:t>Single expression function and type inference</a:t>
            </a:r>
          </a:p>
          <a:p>
            <a:pPr lvl="1"/>
            <a:r>
              <a:rPr lang="en-US" sz="3000" dirty="0">
                <a:solidFill>
                  <a:srgbClr val="FF0000"/>
                </a:solidFill>
              </a:rPr>
              <a:t>fun</a:t>
            </a:r>
            <a:r>
              <a:rPr lang="en-US" sz="3000" dirty="0">
                <a:solidFill>
                  <a:srgbClr val="000000"/>
                </a:solidFill>
              </a:rPr>
              <a:t> </a:t>
            </a:r>
            <a:r>
              <a:rPr lang="en-US" sz="3000" dirty="0" err="1">
                <a:solidFill>
                  <a:srgbClr val="000000"/>
                </a:solidFill>
              </a:rPr>
              <a:t>sayHello</a:t>
            </a:r>
            <a:r>
              <a:rPr lang="en-US" sz="3000" dirty="0">
                <a:solidFill>
                  <a:srgbClr val="000000"/>
                </a:solidFill>
              </a:rPr>
              <a:t>() = “Hello Kotlin”</a:t>
            </a:r>
            <a:endParaRPr lang="en-US" sz="3000" dirty="0"/>
          </a:p>
          <a:p>
            <a:pPr lvl="1"/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46BB2DF-CB7F-2846-889B-87749CAE46AD}"/>
              </a:ext>
            </a:extLst>
          </p:cNvPr>
          <p:cNvSpPr/>
          <p:nvPr/>
        </p:nvSpPr>
        <p:spPr>
          <a:xfrm>
            <a:off x="3717851" y="3707166"/>
            <a:ext cx="716692" cy="2903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E93063-98B5-3048-9314-1127EBD86F8C}"/>
              </a:ext>
            </a:extLst>
          </p:cNvPr>
          <p:cNvSpPr/>
          <p:nvPr/>
        </p:nvSpPr>
        <p:spPr>
          <a:xfrm>
            <a:off x="4489598" y="3589522"/>
            <a:ext cx="716692" cy="4500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Return type</a:t>
            </a:r>
          </a:p>
        </p:txBody>
      </p:sp>
    </p:spTree>
    <p:extLst>
      <p:ext uri="{BB962C8B-B14F-4D97-AF65-F5344CB8AC3E}">
        <p14:creationId xmlns:p14="http://schemas.microsoft.com/office/powerpoint/2010/main" val="2369129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F17CA-6D70-714C-A810-D29F8304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C5A29-F374-B348-AB02-6FADC70B9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sz="2000" dirty="0"/>
              <a:t>fun </a:t>
            </a:r>
            <a:r>
              <a:rPr lang="en-US" sz="2000" dirty="0" err="1"/>
              <a:t>addTwoNumbers</a:t>
            </a:r>
            <a:r>
              <a:rPr lang="en-US" sz="2000" dirty="0"/>
              <a:t>(a: Int, b: Int): Int { </a:t>
            </a:r>
          </a:p>
          <a:p>
            <a:pPr marL="457200" lvl="1" indent="0">
              <a:buNone/>
            </a:pPr>
            <a:r>
              <a:rPr lang="en-US" sz="2000" dirty="0"/>
              <a:t>	return a + b </a:t>
            </a:r>
          </a:p>
          <a:p>
            <a:pPr marL="457200" lvl="1" indent="0">
              <a:buNone/>
            </a:pPr>
            <a:r>
              <a:rPr lang="en-US" sz="2000" dirty="0"/>
              <a:t>        } </a:t>
            </a:r>
          </a:p>
          <a:p>
            <a:pPr marL="457200" lvl="1" indent="0">
              <a:buNone/>
            </a:pPr>
            <a:r>
              <a:rPr lang="en-US" sz="2000" dirty="0"/>
              <a:t>		</a:t>
            </a:r>
            <a:r>
              <a:rPr lang="en-US" sz="2000" dirty="0">
                <a:highlight>
                  <a:srgbClr val="FFFF00"/>
                </a:highlight>
              </a:rPr>
              <a:t>OR</a:t>
            </a:r>
          </a:p>
          <a:p>
            <a:pPr marL="457200" lvl="1" indent="0">
              <a:buNone/>
            </a:pPr>
            <a:r>
              <a:rPr lang="en-US" sz="2000" dirty="0"/>
              <a:t>fun </a:t>
            </a:r>
            <a:r>
              <a:rPr lang="en-US" sz="2000" dirty="0" err="1"/>
              <a:t>addTwoNumbers</a:t>
            </a:r>
            <a:r>
              <a:rPr lang="en-US" sz="2000" dirty="0"/>
              <a:t>(a: Int, b: Int): Int = </a:t>
            </a:r>
            <a:r>
              <a:rPr lang="en-US" sz="2000" dirty="0" err="1"/>
              <a:t>a+b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fun </a:t>
            </a:r>
            <a:r>
              <a:rPr lang="en-US" sz="2000" dirty="0" err="1"/>
              <a:t>sayHelloTo</a:t>
            </a:r>
            <a:r>
              <a:rPr lang="en-US" sz="2000" dirty="0"/>
              <a:t>(</a:t>
            </a:r>
            <a:r>
              <a:rPr lang="en-US" sz="2000" dirty="0" err="1"/>
              <a:t>name:String</a:t>
            </a:r>
            <a:r>
              <a:rPr lang="en-US" sz="2000" dirty="0"/>
              <a:t>) : String{</a:t>
            </a:r>
          </a:p>
          <a:p>
            <a:pPr marL="457200" lvl="1" indent="0">
              <a:buNone/>
            </a:pPr>
            <a:r>
              <a:rPr lang="en-US" sz="2000" dirty="0"/>
              <a:t>    return “Hello $name”</a:t>
            </a:r>
          </a:p>
          <a:p>
            <a:pPr marL="457200" lvl="1" indent="0">
              <a:buNone/>
            </a:pPr>
            <a:r>
              <a:rPr lang="en-US" sz="2000" dirty="0"/>
              <a:t>}</a:t>
            </a:r>
          </a:p>
          <a:p>
            <a:pPr marL="457200" lvl="1" indent="0">
              <a:buNone/>
            </a:pPr>
            <a:r>
              <a:rPr lang="en-US" sz="2000" dirty="0"/>
              <a:t>		</a:t>
            </a:r>
            <a:r>
              <a:rPr lang="en-US" sz="2000" dirty="0">
                <a:highlight>
                  <a:srgbClr val="FFFF00"/>
                </a:highlight>
              </a:rPr>
              <a:t>OR</a:t>
            </a:r>
          </a:p>
          <a:p>
            <a:pPr marL="457200" lvl="1" indent="0">
              <a:buNone/>
            </a:pPr>
            <a:r>
              <a:rPr lang="en-US" sz="2000" dirty="0"/>
              <a:t>fun </a:t>
            </a:r>
            <a:r>
              <a:rPr lang="en-US" sz="2000" dirty="0" err="1"/>
              <a:t>sayHelloTo</a:t>
            </a:r>
            <a:r>
              <a:rPr lang="en-US" sz="2000" dirty="0"/>
              <a:t>(</a:t>
            </a:r>
            <a:r>
              <a:rPr lang="en-US" sz="2000" dirty="0" err="1"/>
              <a:t>name:String</a:t>
            </a:r>
            <a:r>
              <a:rPr lang="en-US" sz="2000" dirty="0"/>
              <a:t>) = “Hello $name”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 err="1"/>
              <a:t>sayHelloTo</a:t>
            </a:r>
            <a:r>
              <a:rPr lang="en-US" sz="2000" dirty="0"/>
              <a:t>(</a:t>
            </a:r>
            <a:r>
              <a:rPr lang="en-US" sz="2000" dirty="0" err="1"/>
              <a:t>name:”Jenny</a:t>
            </a:r>
            <a:r>
              <a:rPr lang="en-US" sz="2000" dirty="0"/>
              <a:t>”)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84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D963-6B85-B542-B28E-A76C1658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57466-62FA-EB42-91AD-83E9B2975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Local functions: a function that is embedded within another function</a:t>
            </a:r>
          </a:p>
          <a:p>
            <a:pPr marL="0" indent="0">
              <a:buNone/>
            </a:pPr>
            <a:r>
              <a:rPr lang="en-US" dirty="0"/>
              <a:t>fun main(</a:t>
            </a:r>
            <a:r>
              <a:rPr lang="en-US" dirty="0" err="1"/>
              <a:t>args</a:t>
            </a:r>
            <a:r>
              <a:rPr lang="en-US" dirty="0"/>
              <a:t>: Array&lt;String&gt;)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val</a:t>
            </a:r>
            <a:r>
              <a:rPr lang="en-US" dirty="0"/>
              <a:t> name = "John"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val</a:t>
            </a:r>
            <a:r>
              <a:rPr lang="en-US" dirty="0"/>
              <a:t> count = 5</a:t>
            </a:r>
          </a:p>
          <a:p>
            <a:pPr marL="0" indent="0">
              <a:buNone/>
            </a:pPr>
            <a:r>
              <a:rPr lang="en-US" dirty="0"/>
              <a:t>	fun </a:t>
            </a:r>
            <a:r>
              <a:rPr lang="en-US" dirty="0" err="1"/>
              <a:t>displayString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		for (index in 0..count) 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println</a:t>
            </a:r>
            <a:r>
              <a:rPr lang="en-US" dirty="0"/>
              <a:t>(name)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displayString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27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6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D3659-51DB-3C4F-865B-AD478826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7ED58-5EBD-6742-B5A4-27B7D8152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/>
              <a:t>Examples of functions returning nothing</a:t>
            </a:r>
          </a:p>
        </p:txBody>
      </p:sp>
      <p:grpSp>
        <p:nvGrpSpPr>
          <p:cNvPr id="2052" name="Group 7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3" name="Rectangle 7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49" name="Picture 1" descr="page113image49870240">
            <a:extLst>
              <a:ext uri="{FF2B5EF4-FFF2-40B4-BE49-F238E27FC236}">
                <a16:creationId xmlns:a16="http://schemas.microsoft.com/office/drawing/2014/main" id="{F90E5150-74E7-6449-A964-6C6F4F8E5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70AD4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5268" y="2553175"/>
            <a:ext cx="6168546" cy="285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4" name="Group 7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2485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1" name="Picture 1" descr="page113image49870656">
            <a:extLst>
              <a:ext uri="{FF2B5EF4-FFF2-40B4-BE49-F238E27FC236}">
                <a16:creationId xmlns:a16="http://schemas.microsoft.com/office/drawing/2014/main" id="{FD2B424A-27FB-C844-B443-0C56B30BA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1844675"/>
            <a:ext cx="9915525" cy="1492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page114image49844704">
            <a:extLst>
              <a:ext uri="{FF2B5EF4-FFF2-40B4-BE49-F238E27FC236}">
                <a16:creationId xmlns:a16="http://schemas.microsoft.com/office/drawing/2014/main" id="{29BE8626-73F1-114E-B3CD-828AA64EF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3405188"/>
            <a:ext cx="9915525" cy="12668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page114image49844912">
            <a:extLst>
              <a:ext uri="{FF2B5EF4-FFF2-40B4-BE49-F238E27FC236}">
                <a16:creationId xmlns:a16="http://schemas.microsoft.com/office/drawing/2014/main" id="{6BEB4AEA-D752-7644-B3FF-7787DF103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4738688"/>
            <a:ext cx="9915525" cy="15541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6E32BD-5271-9947-B43F-FEEAE2A5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Funnctions </a:t>
            </a:r>
          </a:p>
        </p:txBody>
      </p:sp>
    </p:spTree>
    <p:extLst>
      <p:ext uri="{BB962C8B-B14F-4D97-AF65-F5344CB8AC3E}">
        <p14:creationId xmlns:p14="http://schemas.microsoft.com/office/powerpoint/2010/main" val="1869461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046F-0FFD-6248-B063-2B5961DC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1CDBB-BCB8-F54B-AB7B-D941088D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values	</a:t>
            </a:r>
          </a:p>
          <a:p>
            <a:pPr marL="457200" lvl="1" indent="0">
              <a:buNone/>
            </a:pPr>
            <a:r>
              <a:rPr lang="en-US" dirty="0"/>
              <a:t>fun </a:t>
            </a:r>
            <a:r>
              <a:rPr lang="en-US" dirty="0" err="1"/>
              <a:t>buildMessageFor</a:t>
            </a:r>
            <a:r>
              <a:rPr lang="en-US" dirty="0"/>
              <a:t>(name: String = "Customer", count: Int = 0): String {</a:t>
            </a:r>
          </a:p>
          <a:p>
            <a:pPr marL="457200" lvl="1" indent="0">
              <a:buNone/>
            </a:pPr>
            <a:r>
              <a:rPr lang="en-US" dirty="0"/>
              <a:t>return("$name, you are customer number $count")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000" dirty="0" err="1"/>
              <a:t>val</a:t>
            </a:r>
            <a:r>
              <a:rPr lang="en-US" sz="2000" dirty="0"/>
              <a:t> message = </a:t>
            </a:r>
            <a:r>
              <a:rPr lang="en-US" sz="2000" dirty="0" err="1"/>
              <a:t>buildMessageFor</a:t>
            </a:r>
            <a:r>
              <a:rPr lang="en-US" sz="2000" dirty="0"/>
              <a:t>(count = 10)</a:t>
            </a:r>
          </a:p>
          <a:p>
            <a:r>
              <a:rPr lang="en-US" dirty="0"/>
              <a:t>If parameter names are not used, only the trailing arguments may be omitted:</a:t>
            </a:r>
          </a:p>
          <a:p>
            <a:pPr marL="914400" lvl="2" indent="0">
              <a:buNone/>
            </a:pPr>
            <a:r>
              <a:rPr lang="en-US" dirty="0" err="1"/>
              <a:t>val</a:t>
            </a:r>
            <a:r>
              <a:rPr lang="en-US" dirty="0"/>
              <a:t> message = </a:t>
            </a:r>
            <a:r>
              <a:rPr lang="en-US" dirty="0" err="1"/>
              <a:t>buildMessageFor</a:t>
            </a:r>
            <a:r>
              <a:rPr lang="en-US" dirty="0"/>
              <a:t>("John") // Valid</a:t>
            </a:r>
          </a:p>
          <a:p>
            <a:pPr marL="914400" lvl="2" indent="0">
              <a:buNone/>
            </a:pPr>
            <a:r>
              <a:rPr lang="en-US" dirty="0" err="1"/>
              <a:t>val</a:t>
            </a:r>
            <a:r>
              <a:rPr lang="en-US" dirty="0"/>
              <a:t> message = </a:t>
            </a:r>
            <a:r>
              <a:rPr lang="en-US" dirty="0" err="1"/>
              <a:t>buildMessageFor</a:t>
            </a:r>
            <a:r>
              <a:rPr lang="en-US" dirty="0"/>
              <a:t>(10) // Invalid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52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A34E-1B1C-344C-80D1-3228A829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1F66-366C-DF4B-AB20-52CC17CD8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fun </a:t>
            </a:r>
            <a:r>
              <a:rPr lang="en-US" dirty="0" err="1"/>
              <a:t>displayStrings</a:t>
            </a:r>
            <a:r>
              <a:rPr lang="en-US" dirty="0"/>
              <a:t>(</a:t>
            </a:r>
            <a:r>
              <a:rPr lang="en-US" dirty="0" err="1"/>
              <a:t>vararg</a:t>
            </a:r>
            <a:r>
              <a:rPr lang="en-US" dirty="0"/>
              <a:t> strings: String)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914400" lvl="2" indent="0">
              <a:buNone/>
            </a:pPr>
            <a:r>
              <a:rPr lang="en-US" dirty="0"/>
              <a:t>for (string in strings) {</a:t>
            </a:r>
          </a:p>
          <a:p>
            <a:pPr marL="914400" lvl="2" indent="0">
              <a:buNone/>
            </a:pPr>
            <a:r>
              <a:rPr lang="en-US" dirty="0" err="1"/>
              <a:t>println</a:t>
            </a:r>
            <a:r>
              <a:rPr lang="en-US" dirty="0"/>
              <a:t>(string)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 err="1"/>
              <a:t>displayStrings</a:t>
            </a:r>
            <a:r>
              <a:rPr lang="en-US" dirty="0"/>
              <a:t>("one", "two", "three", "four")</a:t>
            </a:r>
          </a:p>
          <a:p>
            <a:r>
              <a:rPr lang="en-US" dirty="0"/>
              <a:t>Kotlin does not permit multiple </a:t>
            </a:r>
            <a:r>
              <a:rPr lang="en-US" dirty="0" err="1"/>
              <a:t>vararg</a:t>
            </a:r>
            <a:r>
              <a:rPr lang="en-US" dirty="0"/>
              <a:t> parameters within a function</a:t>
            </a:r>
          </a:p>
          <a:p>
            <a:r>
              <a:rPr lang="en-US" dirty="0"/>
              <a:t>All single parameters supported by the function must be declared before the </a:t>
            </a:r>
            <a:r>
              <a:rPr lang="en-US" dirty="0" err="1"/>
              <a:t>vararg</a:t>
            </a:r>
            <a:r>
              <a:rPr lang="en-US" dirty="0"/>
              <a:t> declaration: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29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2C25-B96C-A444-9F0B-C17B0946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39EF9-B3EB-8D46-BAAA-A0C44CF5F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Lambda expressions</a:t>
            </a:r>
          </a:p>
          <a:p>
            <a:pPr lvl="1"/>
            <a:r>
              <a:rPr lang="en-US" dirty="0"/>
              <a:t>lambdas are self-contained blocks of code</a:t>
            </a:r>
          </a:p>
          <a:p>
            <a:pPr marL="914400" lvl="2" indent="0">
              <a:buNone/>
            </a:pPr>
            <a:r>
              <a:rPr lang="en-US" dirty="0" err="1"/>
              <a:t>val</a:t>
            </a:r>
            <a:r>
              <a:rPr lang="en-US" dirty="0"/>
              <a:t> multiply = { val1: Int, val2: Int -&gt; val1 * val2 }</a:t>
            </a:r>
          </a:p>
          <a:p>
            <a:pPr marL="914400" lvl="2" indent="0">
              <a:buNone/>
            </a:pPr>
            <a:r>
              <a:rPr lang="en-US" dirty="0" err="1"/>
              <a:t>val</a:t>
            </a:r>
            <a:r>
              <a:rPr lang="en-US" dirty="0"/>
              <a:t> result = multiply(10, 20)</a:t>
            </a:r>
          </a:p>
          <a:p>
            <a:r>
              <a:rPr lang="en-US" dirty="0"/>
              <a:t>To assign a function reference to a variable</a:t>
            </a:r>
          </a:p>
          <a:p>
            <a:pPr marL="914400" lvl="2" indent="0">
              <a:buNone/>
            </a:pP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mavar</a:t>
            </a:r>
            <a:r>
              <a:rPr lang="en-US" dirty="0"/>
              <a:t> = ::</a:t>
            </a:r>
            <a:r>
              <a:rPr lang="en-US" dirty="0" err="1"/>
              <a:t>myfunction</a:t>
            </a:r>
            <a:endParaRPr lang="en-US" dirty="0"/>
          </a:p>
          <a:p>
            <a:pPr marL="914400" lvl="2" indent="0">
              <a:buNone/>
            </a:pPr>
            <a:r>
              <a:rPr lang="en-US" dirty="0" err="1"/>
              <a:t>myvar</a:t>
            </a:r>
            <a:r>
              <a:rPr lang="en-US" dirty="0"/>
              <a:t>()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 err="1"/>
              <a:t>val</a:t>
            </a:r>
            <a:r>
              <a:rPr lang="en-US" dirty="0"/>
              <a:t> result = { val1: Int, val2: Int -&gt; val1 * val2 }(10, 20)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730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7F108A-1B17-B14C-A2DA-FD02A65B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Get input from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9BC5D-95DC-7D4C-92A6-B18148D34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905066" cy="4393982"/>
          </a:xfrm>
        </p:spPr>
        <p:txBody>
          <a:bodyPr>
            <a:normAutofit/>
          </a:bodyPr>
          <a:lstStyle/>
          <a:p>
            <a:r>
              <a:rPr lang="en-US" sz="2000"/>
              <a:t>readline()</a:t>
            </a:r>
          </a:p>
          <a:p>
            <a:pPr lvl="1"/>
            <a:r>
              <a:rPr lang="en-US" sz="2000"/>
              <a:t>val</a:t>
            </a:r>
            <a:r>
              <a:rPr lang="en-US" sz="2000" dirty="0"/>
              <a:t> </a:t>
            </a:r>
            <a:r>
              <a:rPr lang="en-US" sz="2000"/>
              <a:t>userInput</a:t>
            </a:r>
            <a:r>
              <a:rPr lang="en-US" sz="2000" dirty="0"/>
              <a:t> = </a:t>
            </a:r>
            <a:r>
              <a:rPr lang="en-US" sz="2000"/>
              <a:t>readLine</a:t>
            </a:r>
            <a:r>
              <a:rPr lang="en-US" sz="2000" dirty="0"/>
              <a:t>() </a:t>
            </a:r>
            <a:endParaRPr lang="en-US" sz="2000"/>
          </a:p>
          <a:p>
            <a:r>
              <a:rPr lang="en-US" sz="2000"/>
              <a:t>Gets a line – String</a:t>
            </a:r>
          </a:p>
          <a:p>
            <a:r>
              <a:rPr lang="en-US" sz="2000"/>
              <a:t>If other input types are needed change the type</a:t>
            </a:r>
          </a:p>
          <a:p>
            <a:r>
              <a:rPr lang="en-US" sz="2000"/>
              <a:t>Random numbers</a:t>
            </a:r>
          </a:p>
          <a:p>
            <a:pPr lvl="1"/>
            <a:r>
              <a:rPr lang="en-US" sz="2000"/>
              <a:t>kotlin.random.Random.nextInt() -&gt; returns and integer</a:t>
            </a:r>
          </a:p>
          <a:p>
            <a:pPr lvl="1"/>
            <a:r>
              <a:rPr lang="en-US" sz="2000"/>
              <a:t>Math.random() -&gt; 0 and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72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B3A41-2A97-4444-B5FB-AF710332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Classes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C8B37-5A2A-E449-B24D-ABCBAFC2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 b="1"/>
              <a:t>Class</a:t>
            </a:r>
            <a:r>
              <a:rPr lang="en-US" sz="2000"/>
              <a:t> is a template that defines what properties and functions are associated with objects of that type.</a:t>
            </a:r>
          </a:p>
          <a:p>
            <a:r>
              <a:rPr lang="en-US" sz="2000" i="1"/>
              <a:t>The things an object knows about itself are its </a:t>
            </a:r>
            <a:r>
              <a:rPr lang="en-US" sz="2000" b="1" i="1"/>
              <a:t>properties</a:t>
            </a:r>
            <a:r>
              <a:rPr lang="en-US" sz="2000" i="1"/>
              <a:t>. </a:t>
            </a:r>
          </a:p>
          <a:p>
            <a:r>
              <a:rPr lang="en-US" sz="2000" i="1"/>
              <a:t>The things an object can do are its </a:t>
            </a:r>
            <a:r>
              <a:rPr lang="en-US" sz="2000" b="1" i="1"/>
              <a:t>functions</a:t>
            </a:r>
            <a:r>
              <a:rPr lang="en-US" sz="2000" i="1"/>
              <a:t>. </a:t>
            </a:r>
            <a:endParaRPr lang="en-US" sz="2000"/>
          </a:p>
          <a:p>
            <a:endParaRPr lang="en-US" sz="2000" dirty="0"/>
          </a:p>
          <a:p>
            <a:endParaRPr lang="en-US" sz="2000" dirty="0"/>
          </a:p>
          <a:p>
            <a:endParaRPr lang="en-US" sz="200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145" name="Picture 1" descr="page148image50228608">
            <a:extLst>
              <a:ext uri="{FF2B5EF4-FFF2-40B4-BE49-F238E27FC236}">
                <a16:creationId xmlns:a16="http://schemas.microsoft.com/office/drawing/2014/main" id="{5B705B3C-3E64-9B4E-A694-A09CE3CBE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1318" y="1782982"/>
            <a:ext cx="4601213" cy="211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46" name="Picture 2" descr="page148image50225072">
            <a:extLst>
              <a:ext uri="{FF2B5EF4-FFF2-40B4-BE49-F238E27FC236}">
                <a16:creationId xmlns:a16="http://schemas.microsoft.com/office/drawing/2014/main" id="{D064F896-BFC3-FC4D-9C17-EA4EE7D4A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40"/>
          <a:stretch/>
        </p:blipFill>
        <p:spPr bwMode="auto">
          <a:xfrm>
            <a:off x="5295320" y="4124062"/>
            <a:ext cx="6253212" cy="19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559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2B24C2-CE6F-4A47-AEBA-D7632BFC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Create an object and access properties</a:t>
            </a:r>
          </a:p>
        </p:txBody>
      </p:sp>
      <p:pic>
        <p:nvPicPr>
          <p:cNvPr id="7170" name="Picture 2" descr="page149image49855728">
            <a:extLst>
              <a:ext uri="{FF2B5EF4-FFF2-40B4-BE49-F238E27FC236}">
                <a16:creationId xmlns:a16="http://schemas.microsoft.com/office/drawing/2014/main" id="{794BB8DB-2FD1-B043-BC10-6C0CEBD92E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226" y="2678916"/>
            <a:ext cx="6477000" cy="18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page150image49850944">
            <a:extLst>
              <a:ext uri="{FF2B5EF4-FFF2-40B4-BE49-F238E27FC236}">
                <a16:creationId xmlns:a16="http://schemas.microsoft.com/office/drawing/2014/main" id="{ACA77BCD-0C4E-5244-AE5D-5C3A79D1C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226" y="4499084"/>
            <a:ext cx="5397500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age150image49853440">
            <a:extLst>
              <a:ext uri="{FF2B5EF4-FFF2-40B4-BE49-F238E27FC236}">
                <a16:creationId xmlns:a16="http://schemas.microsoft.com/office/drawing/2014/main" id="{57120E6B-CDC0-1B40-8354-443E06E6B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226" y="4972159"/>
            <a:ext cx="48768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page151image49820672">
            <a:extLst>
              <a:ext uri="{FF2B5EF4-FFF2-40B4-BE49-F238E27FC236}">
                <a16:creationId xmlns:a16="http://schemas.microsoft.com/office/drawing/2014/main" id="{B6F5082B-B3C6-A041-ADCA-62759BA29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016"/>
          <a:stretch/>
        </p:blipFill>
        <p:spPr bwMode="auto">
          <a:xfrm>
            <a:off x="1179227" y="5369617"/>
            <a:ext cx="6913289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age151image49810480">
            <a:extLst>
              <a:ext uri="{FF2B5EF4-FFF2-40B4-BE49-F238E27FC236}">
                <a16:creationId xmlns:a16="http://schemas.microsoft.com/office/drawing/2014/main" id="{AE610D72-D756-3448-93FB-455F4734E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226" y="5549832"/>
            <a:ext cx="6477000" cy="72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DBFAD7-F0CC-3A4D-BCF2-F4C21C53CE5A}"/>
                  </a:ext>
                </a:extLst>
              </p14:cNvPr>
              <p14:cNvContentPartPr/>
              <p14:nvPr/>
            </p14:nvContentPartPr>
            <p14:xfrm>
              <a:off x="947872" y="5236686"/>
              <a:ext cx="385920" cy="278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DBFAD7-F0CC-3A4D-BCF2-F4C21C53CE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8872" y="5228046"/>
                <a:ext cx="4035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3F50F8-3DDD-654C-A329-706B8B6658C4}"/>
                  </a:ext>
                </a:extLst>
              </p14:cNvPr>
              <p14:cNvContentPartPr/>
              <p14:nvPr/>
            </p14:nvContentPartPr>
            <p14:xfrm>
              <a:off x="3030832" y="5470686"/>
              <a:ext cx="2118240" cy="11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3F50F8-3DDD-654C-A329-706B8B6658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22192" y="5462046"/>
                <a:ext cx="213588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B41E806-8987-AA45-8A73-4690F980F948}"/>
                  </a:ext>
                </a:extLst>
              </p14:cNvPr>
              <p14:cNvContentPartPr/>
              <p14:nvPr/>
            </p14:nvContentPartPr>
            <p14:xfrm>
              <a:off x="5496472" y="5554206"/>
              <a:ext cx="2487240" cy="182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B41E806-8987-AA45-8A73-4690F980F94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87832" y="5545206"/>
                <a:ext cx="25048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B1603C-D550-0A4D-B16A-202CE23191C0}"/>
                  </a:ext>
                </a:extLst>
              </p14:cNvPr>
              <p14:cNvContentPartPr/>
              <p14:nvPr/>
            </p14:nvContentPartPr>
            <p14:xfrm>
              <a:off x="1522072" y="5282766"/>
              <a:ext cx="505800" cy="361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B1603C-D550-0A4D-B16A-202CE23191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3432" y="5274126"/>
                <a:ext cx="523440" cy="37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07DDA22-7148-8142-89B5-C95C04F2288F}"/>
              </a:ext>
            </a:extLst>
          </p:cNvPr>
          <p:cNvGrpSpPr/>
          <p:nvPr/>
        </p:nvGrpSpPr>
        <p:grpSpPr>
          <a:xfrm>
            <a:off x="1256392" y="5507046"/>
            <a:ext cx="1691280" cy="71280"/>
            <a:chOff x="1256392" y="5507046"/>
            <a:chExt cx="1691280" cy="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B81EFD-6099-6D4D-9A6E-014574D779D4}"/>
                    </a:ext>
                  </a:extLst>
                </p14:cNvPr>
                <p14:cNvContentPartPr/>
                <p14:nvPr/>
              </p14:nvContentPartPr>
              <p14:xfrm>
                <a:off x="1256392" y="5562126"/>
                <a:ext cx="283680" cy="16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B81EFD-6099-6D4D-9A6E-014574D779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47392" y="5553126"/>
                  <a:ext cx="301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4CFF26-E266-E84C-AE90-DF87B50B6FB5}"/>
                    </a:ext>
                  </a:extLst>
                </p14:cNvPr>
                <p14:cNvContentPartPr/>
                <p14:nvPr/>
              </p14:nvContentPartPr>
              <p14:xfrm>
                <a:off x="1575712" y="5547726"/>
                <a:ext cx="35352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4CFF26-E266-E84C-AE90-DF87B50B6F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67072" y="5538726"/>
                  <a:ext cx="371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DA9ED24-0E0A-5D41-B69E-12CED477D0B8}"/>
                    </a:ext>
                  </a:extLst>
                </p14:cNvPr>
                <p14:cNvContentPartPr/>
                <p14:nvPr/>
              </p14:nvContentPartPr>
              <p14:xfrm>
                <a:off x="2255032" y="5507046"/>
                <a:ext cx="692640" cy="15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DA9ED24-0E0A-5D41-B69E-12CED477D0B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46392" y="5498406"/>
                  <a:ext cx="71028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FFA62A6-5F26-C74A-A9F0-403A052F4973}"/>
                  </a:ext>
                </a:extLst>
              </p14:cNvPr>
              <p14:cNvContentPartPr/>
              <p14:nvPr/>
            </p14:nvContentPartPr>
            <p14:xfrm>
              <a:off x="2303272" y="4021686"/>
              <a:ext cx="286200" cy="51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FFA62A6-5F26-C74A-A9F0-403A052F497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94272" y="4013046"/>
                <a:ext cx="3038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2384A69-312F-0447-8AB7-82F3A2D0B96E}"/>
                  </a:ext>
                </a:extLst>
              </p14:cNvPr>
              <p14:cNvContentPartPr/>
              <p14:nvPr/>
            </p14:nvContentPartPr>
            <p14:xfrm>
              <a:off x="2118592" y="2890926"/>
              <a:ext cx="452520" cy="22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2384A69-312F-0447-8AB7-82F3A2D0B96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09952" y="2881926"/>
                <a:ext cx="470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5153AF-AB55-484B-9D3D-1B7DD4E15C00}"/>
                  </a:ext>
                </a:extLst>
              </p14:cNvPr>
              <p14:cNvContentPartPr/>
              <p14:nvPr/>
            </p14:nvContentPartPr>
            <p14:xfrm>
              <a:off x="2848312" y="2879046"/>
              <a:ext cx="247680" cy="11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5153AF-AB55-484B-9D3D-1B7DD4E15C0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39672" y="2870406"/>
                <a:ext cx="26532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C736034-3087-A345-A2F6-62FF7A3F44F0}"/>
                  </a:ext>
                </a:extLst>
              </p14:cNvPr>
              <p14:cNvContentPartPr/>
              <p14:nvPr/>
            </p14:nvContentPartPr>
            <p14:xfrm>
              <a:off x="1188352" y="4755366"/>
              <a:ext cx="576720" cy="80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C736034-3087-A345-A2F6-62FF7A3F44F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79352" y="4746366"/>
                <a:ext cx="594360" cy="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0022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648942-E1D7-8E4D-9C54-83405E82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1623-FEB9-954E-993A-7A0A5A03F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4" y="2535922"/>
            <a:ext cx="9833548" cy="2693976"/>
          </a:xfrm>
        </p:spPr>
        <p:txBody>
          <a:bodyPr>
            <a:normAutofit/>
          </a:bodyPr>
          <a:lstStyle/>
          <a:p>
            <a:r>
              <a:rPr lang="en-US" sz="1600" i="1" dirty="0"/>
              <a:t>A </a:t>
            </a:r>
            <a:r>
              <a:rPr lang="en-US" sz="1600" b="1" i="1" dirty="0"/>
              <a:t>constructor</a:t>
            </a:r>
            <a:r>
              <a:rPr lang="en-US" sz="1600" i="1" dirty="0"/>
              <a:t> runs when you instantiate an object. It’s used to define properties and initialize them. </a:t>
            </a:r>
          </a:p>
          <a:p>
            <a:endParaRPr lang="en-US" sz="1600" i="1" dirty="0"/>
          </a:p>
          <a:p>
            <a:endParaRPr lang="en-US" sz="1600" i="1" dirty="0"/>
          </a:p>
          <a:p>
            <a:endParaRPr lang="en-US" sz="1600" i="1" dirty="0"/>
          </a:p>
          <a:p>
            <a:r>
              <a:rPr lang="en-US" sz="1600" dirty="0"/>
              <a:t>If you need to initialize a property to something more complex than a simple expression, or if there’s extra code you want to run when each object is created, you can use one or more </a:t>
            </a:r>
            <a:r>
              <a:rPr lang="en-US" sz="1600" b="1" dirty="0"/>
              <a:t>initializer blocks</a:t>
            </a:r>
            <a:r>
              <a:rPr lang="en-US" sz="1600" dirty="0"/>
              <a:t>. </a:t>
            </a:r>
          </a:p>
          <a:p>
            <a:r>
              <a:rPr lang="en-US" sz="1600" dirty="0"/>
              <a:t>You must initialize properties before you use them</a:t>
            </a:r>
          </a:p>
          <a:p>
            <a:r>
              <a:rPr lang="en-US" sz="1600" b="1" dirty="0" err="1"/>
              <a:t>lateinit</a:t>
            </a:r>
            <a:r>
              <a:rPr lang="en-US" sz="1600" dirty="0"/>
              <a:t> var temperament: String </a:t>
            </a:r>
          </a:p>
          <a:p>
            <a:endParaRPr lang="en-US" sz="1800" dirty="0"/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8193" name="Picture 1" descr="page154image50240000">
            <a:extLst>
              <a:ext uri="{FF2B5EF4-FFF2-40B4-BE49-F238E27FC236}">
                <a16:creationId xmlns:a16="http://schemas.microsoft.com/office/drawing/2014/main" id="{CB8830EC-73CC-B54A-9C68-8825D48AA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503" y="2844800"/>
            <a:ext cx="6477000" cy="116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page163image49902592">
            <a:extLst>
              <a:ext uri="{FF2B5EF4-FFF2-40B4-BE49-F238E27FC236}">
                <a16:creationId xmlns:a16="http://schemas.microsoft.com/office/drawing/2014/main" id="{BF808C6F-769B-0743-A279-655EF3623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0212"/>
          <a:stretch/>
        </p:blipFill>
        <p:spPr bwMode="auto">
          <a:xfrm>
            <a:off x="5898860" y="4455536"/>
            <a:ext cx="6019871" cy="237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8DDE05-E696-2E48-A0EA-0C82F22E3BB8}"/>
              </a:ext>
            </a:extLst>
          </p:cNvPr>
          <p:cNvSpPr txBox="1"/>
          <p:nvPr/>
        </p:nvSpPr>
        <p:spPr>
          <a:xfrm>
            <a:off x="1292772" y="5495717"/>
            <a:ext cx="2385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radley Hand" pitchFamily="2" charset="77"/>
              </a:rPr>
              <a:t>If you want to initialize a variable later use </a:t>
            </a:r>
            <a:r>
              <a:rPr lang="en-US" sz="1400" dirty="0" err="1">
                <a:latin typeface="Bradley Hand" pitchFamily="2" charset="77"/>
              </a:rPr>
              <a:t>lateinit</a:t>
            </a:r>
            <a:endParaRPr lang="en-US" sz="1400" dirty="0">
              <a:latin typeface="Bradley Hand" pitchFamily="2" charset="77"/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53EE6F4E-5B5E-B645-95B8-F91B66434C48}"/>
              </a:ext>
            </a:extLst>
          </p:cNvPr>
          <p:cNvCxnSpPr/>
          <p:nvPr/>
        </p:nvCxnSpPr>
        <p:spPr>
          <a:xfrm rot="10800000">
            <a:off x="1891862" y="5108028"/>
            <a:ext cx="536028" cy="367862"/>
          </a:xfrm>
          <a:prstGeom prst="curvedConnector3">
            <a:avLst>
              <a:gd name="adj1" fmla="val 1088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CA24C7-B5AC-2740-BAA2-67D176104B2D}"/>
                  </a:ext>
                </a:extLst>
              </p14:cNvPr>
              <p14:cNvContentPartPr/>
              <p14:nvPr/>
            </p14:nvContentPartPr>
            <p14:xfrm>
              <a:off x="6180832" y="5026086"/>
              <a:ext cx="298440" cy="18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CA24C7-B5AC-2740-BAA2-67D176104B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72192" y="5017446"/>
                <a:ext cx="316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28AC503-7F51-BD47-A968-5411F04920F7}"/>
                  </a:ext>
                </a:extLst>
              </p14:cNvPr>
              <p14:cNvContentPartPr/>
              <p14:nvPr/>
            </p14:nvContentPartPr>
            <p14:xfrm>
              <a:off x="1512352" y="5106006"/>
              <a:ext cx="592200" cy="4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28AC503-7F51-BD47-A968-5411F04920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3352" y="5097006"/>
                <a:ext cx="609840" cy="6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0018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1328D-9150-4F43-8662-52269FF97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Classes and object's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5D181-2A94-B34E-8C4C-ADC115F4B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/>
              <a:t>You can only use </a:t>
            </a:r>
            <a:r>
              <a:rPr lang="en-US" sz="2000" b="1"/>
              <a:t>lateinit</a:t>
            </a:r>
            <a:r>
              <a:rPr lang="en-US" sz="2000"/>
              <a:t> with properties defined using </a:t>
            </a:r>
            <a:r>
              <a:rPr lang="en-US" sz="2000" b="1"/>
              <a:t>var</a:t>
            </a:r>
            <a:r>
              <a:rPr lang="en-US" sz="2000"/>
              <a:t>, and you can’t use it with any of the following types: </a:t>
            </a:r>
            <a:r>
              <a:rPr lang="en-US" sz="2000" b="1"/>
              <a:t>Byte, Short, Int, Long, Double, Float, Char or Boolean</a:t>
            </a:r>
            <a:r>
              <a:rPr lang="en-US" sz="2000"/>
              <a:t>. </a:t>
            </a:r>
          </a:p>
          <a:p>
            <a:endParaRPr lang="en-US" sz="20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var myDuck = Duck() ✓</a:t>
            </a:r>
          </a:p>
          <a:p>
            <a:r>
              <a:rPr lang="en-US" sz="2000"/>
              <a:t>var myDuck = Duck ✗</a:t>
            </a:r>
          </a:p>
          <a:p>
            <a:endParaRPr lang="en-US" sz="2000"/>
          </a:p>
          <a:p>
            <a:endParaRPr lang="en-US" sz="200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217" name="Picture 1" descr="page165image50230064">
            <a:extLst>
              <a:ext uri="{FF2B5EF4-FFF2-40B4-BE49-F238E27FC236}">
                <a16:creationId xmlns:a16="http://schemas.microsoft.com/office/drawing/2014/main" id="{E7D68887-FF73-8648-91A7-976D9C47B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5320" y="3174459"/>
            <a:ext cx="6253212" cy="157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1244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0BC537-B4BF-0246-8FDD-CEB33751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Superclass and subclass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F5DF-D318-EC44-9E28-E54B95CA3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i="1" dirty="0"/>
              <a:t>A superclass contains common properties and functions that are inherited by one or more subclasses. </a:t>
            </a:r>
          </a:p>
          <a:p>
            <a:r>
              <a:rPr lang="en-US" sz="1800" i="1" dirty="0"/>
              <a:t>A subclass can include extra properties and functions and can override the things that it inherits. </a:t>
            </a:r>
          </a:p>
          <a:p>
            <a:r>
              <a:rPr lang="en-US" sz="1800" dirty="0"/>
              <a:t>If your inheritance tree is well-designed, the IS-A test should make sense when you ask </a:t>
            </a:r>
            <a:r>
              <a:rPr lang="en-US" sz="1800" i="1" dirty="0"/>
              <a:t>any </a:t>
            </a:r>
            <a:r>
              <a:rPr lang="en-US" sz="1800" dirty="0"/>
              <a:t>subclass if it IS-A any of its supertypes. </a:t>
            </a:r>
          </a:p>
          <a:p>
            <a:endParaRPr lang="en-US" sz="1800" dirty="0"/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10241" name="Picture 1" descr="page197image35586048">
            <a:extLst>
              <a:ext uri="{FF2B5EF4-FFF2-40B4-BE49-F238E27FC236}">
                <a16:creationId xmlns:a16="http://schemas.microsoft.com/office/drawing/2014/main" id="{E4CB0C08-E821-6044-A8FB-1D1BE4F17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11400" cy="10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page197image35592192">
            <a:extLst>
              <a:ext uri="{FF2B5EF4-FFF2-40B4-BE49-F238E27FC236}">
                <a16:creationId xmlns:a16="http://schemas.microsoft.com/office/drawing/2014/main" id="{647705E4-91DE-F44B-9BA6-93931BA58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81700" cy="44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page197image35592384">
            <a:extLst>
              <a:ext uri="{FF2B5EF4-FFF2-40B4-BE49-F238E27FC236}">
                <a16:creationId xmlns:a16="http://schemas.microsoft.com/office/drawing/2014/main" id="{D2B1B463-E981-CF4A-A21E-7D6CD700A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0" cy="10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page197image35592576">
            <a:extLst>
              <a:ext uri="{FF2B5EF4-FFF2-40B4-BE49-F238E27FC236}">
                <a16:creationId xmlns:a16="http://schemas.microsoft.com/office/drawing/2014/main" id="{A387371C-B102-2848-A90B-179017178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01800" cy="10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235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5" name="Picture 1" descr="page198image49320624">
            <a:extLst>
              <a:ext uri="{FF2B5EF4-FFF2-40B4-BE49-F238E27FC236}">
                <a16:creationId xmlns:a16="http://schemas.microsoft.com/office/drawing/2014/main" id="{59504275-C8FA-4E4B-99CF-9297135B8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9020" y="643467"/>
            <a:ext cx="5013959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42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E16EC-D42D-0F43-9E9D-CCAB9ED9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Superclass 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289" name="Picture 1" descr="page201image49489664">
            <a:extLst>
              <a:ext uri="{FF2B5EF4-FFF2-40B4-BE49-F238E27FC236}">
                <a16:creationId xmlns:a16="http://schemas.microsoft.com/office/drawing/2014/main" id="{2F90CF46-6A7B-2648-95FB-A88C156F3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69394" y="1881344"/>
            <a:ext cx="6253212" cy="406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0517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1844</TotalTime>
  <Words>2080</Words>
  <Application>Microsoft Office PowerPoint</Application>
  <PresentationFormat>Widescreen</PresentationFormat>
  <Paragraphs>326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Kotlin Programming</vt:lpstr>
      <vt:lpstr>Overview</vt:lpstr>
      <vt:lpstr>First Kotlin application</vt:lpstr>
      <vt:lpstr>Creating Kotlin app</vt:lpstr>
      <vt:lpstr>Hello Kotlin code</vt:lpstr>
      <vt:lpstr>Running Kotlin app</vt:lpstr>
      <vt:lpstr>Basics</vt:lpstr>
      <vt:lpstr>Basics</vt:lpstr>
      <vt:lpstr>Basics</vt:lpstr>
      <vt:lpstr>Basics</vt:lpstr>
      <vt:lpstr>Basics</vt:lpstr>
      <vt:lpstr>Basics</vt:lpstr>
      <vt:lpstr>Basics </vt:lpstr>
      <vt:lpstr>Basics</vt:lpstr>
      <vt:lpstr>Basics </vt:lpstr>
      <vt:lpstr>Basics </vt:lpstr>
      <vt:lpstr>Basics </vt:lpstr>
      <vt:lpstr>Basics </vt:lpstr>
      <vt:lpstr>Functions </vt:lpstr>
      <vt:lpstr>Functions </vt:lpstr>
      <vt:lpstr>Functions </vt:lpstr>
      <vt:lpstr>Functions</vt:lpstr>
      <vt:lpstr>Funnctions </vt:lpstr>
      <vt:lpstr>Functions </vt:lpstr>
      <vt:lpstr>Functions</vt:lpstr>
      <vt:lpstr>Functions</vt:lpstr>
      <vt:lpstr>Get input from user</vt:lpstr>
      <vt:lpstr>Classes and objects</vt:lpstr>
      <vt:lpstr>Create an object and access properties</vt:lpstr>
      <vt:lpstr>Constructor </vt:lpstr>
      <vt:lpstr>Classes and object's</vt:lpstr>
      <vt:lpstr>Superclass and subclass</vt:lpstr>
      <vt:lpstr>PowerPoint Presentation</vt:lpstr>
      <vt:lpstr>Superclass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Kotlin Programming</dc:title>
  <dc:creator>Praveenkumar.Khethavath78</dc:creator>
  <cp:lastModifiedBy>User11601</cp:lastModifiedBy>
  <cp:revision>24</cp:revision>
  <cp:lastPrinted>2021-03-18T15:15:01Z</cp:lastPrinted>
  <dcterms:created xsi:type="dcterms:W3CDTF">2020-03-09T15:44:30Z</dcterms:created>
  <dcterms:modified xsi:type="dcterms:W3CDTF">2026-03-08T17:58:10Z</dcterms:modified>
</cp:coreProperties>
</file>